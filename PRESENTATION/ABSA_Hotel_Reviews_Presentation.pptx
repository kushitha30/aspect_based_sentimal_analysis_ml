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D421257C-31FA-AE64-FEB5-7064D800D5AA}">
          <p14:sldIdLst>
            <p14:sldId id="256"/>
            <p14:sldId id="257"/>
            <p14:sldId id="258"/>
            <p14:sldId id="259"/>
          </p14:sldIdLst>
        </p14:section>
        <p14:section name="Data &amp; Method" id="{E90A17A1-0155-356D-2D8B-21310DBA7527}">
          <p14:sldIdLst>
            <p14:sldId id="260"/>
            <p14:sldId id="261"/>
            <p14:sldId id="262"/>
            <p14:sldId id="263"/>
            <p14:sldId id="264"/>
            <p14:sldId id="265"/>
          </p14:sldIdLst>
        </p14:section>
        <p14:section name="Results" id="{9E54426C-8DB8-0238-6EC7-42A8F5758204}">
          <p14:sldIdLst>
            <p14:sldId id="266"/>
            <p14:sldId id="267"/>
            <p14:sldId id="268"/>
            <p14:sldId id="269"/>
          </p14:sldIdLst>
        </p14:section>
        <p14:section name="Backup" id="{904FF3F5-A3D9-4502-0B73-B1D8189A0FA7}">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F1 (%)</c:v>
                </c:pt>
              </c:strCache>
            </c:strRef>
          </c:tx>
          <c:spPr>
            <a:solidFill>
              <a:srgbClr val="0B7A75"/>
            </a:solidFill>
            <a:effectLst/>
          </c:spPr>
          <c:invertIfNegative val="0"/>
          <c:dPt>
            <c:idx val="0"/>
            <c:invertIfNegative val="0"/>
            <c:bubble3D val="0"/>
            <c:extLst>
              <c:ext xmlns:c16="http://schemas.microsoft.com/office/drawing/2014/chart" uri="{C3380CC4-5D6E-409C-BE32-E72D297353CC}">
                <c16:uniqueId val="{00000001-A58A-404C-BBF4-D94A21E26BC1}"/>
              </c:ext>
            </c:extLst>
          </c:dPt>
          <c:dPt>
            <c:idx val="1"/>
            <c:invertIfNegative val="0"/>
            <c:bubble3D val="0"/>
            <c:extLst>
              <c:ext xmlns:c16="http://schemas.microsoft.com/office/drawing/2014/chart" uri="{C3380CC4-5D6E-409C-BE32-E72D297353CC}">
                <c16:uniqueId val="{00000003-A58A-404C-BBF4-D94A21E26BC1}"/>
              </c:ext>
            </c:extLst>
          </c:dPt>
          <c:dPt>
            <c:idx val="2"/>
            <c:invertIfNegative val="0"/>
            <c:bubble3D val="0"/>
            <c:extLst>
              <c:ext xmlns:c16="http://schemas.microsoft.com/office/drawing/2014/chart" uri="{C3380CC4-5D6E-409C-BE32-E72D297353CC}">
                <c16:uniqueId val="{00000005-A58A-404C-BBF4-D94A21E26BC1}"/>
              </c:ext>
            </c:extLst>
          </c:dPt>
          <c:dPt>
            <c:idx val="3"/>
            <c:invertIfNegative val="0"/>
            <c:bubble3D val="0"/>
            <c:extLst>
              <c:ext xmlns:c16="http://schemas.microsoft.com/office/drawing/2014/chart" uri="{C3380CC4-5D6E-409C-BE32-E72D297353CC}">
                <c16:uniqueId val="{00000007-A58A-404C-BBF4-D94A21E26BC1}"/>
              </c:ext>
            </c:extLst>
          </c:dPt>
          <c:dPt>
            <c:idx val="4"/>
            <c:invertIfNegative val="0"/>
            <c:bubble3D val="0"/>
            <c:extLst>
              <c:ext xmlns:c16="http://schemas.microsoft.com/office/drawing/2014/chart" uri="{C3380CC4-5D6E-409C-BE32-E72D297353CC}">
                <c16:uniqueId val="{00000009-A58A-404C-BBF4-D94A21E26BC1}"/>
              </c:ext>
            </c:extLst>
          </c:dPt>
          <c:dPt>
            <c:idx val="5"/>
            <c:invertIfNegative val="0"/>
            <c:bubble3D val="0"/>
            <c:spPr>
              <a:solidFill>
                <a:srgbClr val="F2A33A"/>
              </a:solidFill>
              <a:effectLst/>
            </c:spPr>
            <c:extLst>
              <c:ext xmlns:c16="http://schemas.microsoft.com/office/drawing/2014/chart" uri="{C3380CC4-5D6E-409C-BE32-E72D297353CC}">
                <c16:uniqueId val="{0000000B-A58A-404C-BBF4-D94A21E26BC1}"/>
              </c:ext>
            </c:extLst>
          </c:dPt>
          <c:dPt>
            <c:idx val="6"/>
            <c:invertIfNegative val="0"/>
            <c:bubble3D val="0"/>
            <c:spPr>
              <a:solidFill>
                <a:srgbClr val="F2A33A"/>
              </a:solidFill>
              <a:effectLst/>
            </c:spPr>
            <c:extLst>
              <c:ext xmlns:c16="http://schemas.microsoft.com/office/drawing/2014/chart" uri="{C3380CC4-5D6E-409C-BE32-E72D297353CC}">
                <c16:uniqueId val="{0000000D-A58A-404C-BBF4-D94A21E26BC1}"/>
              </c:ext>
            </c:extLst>
          </c:dPt>
          <c:dPt>
            <c:idx val="7"/>
            <c:invertIfNegative val="0"/>
            <c:bubble3D val="0"/>
            <c:spPr>
              <a:solidFill>
                <a:srgbClr val="F2A33A"/>
              </a:solidFill>
              <a:effectLst/>
            </c:spPr>
            <c:extLst>
              <c:ext xmlns:c16="http://schemas.microsoft.com/office/drawing/2014/chart" uri="{C3380CC4-5D6E-409C-BE32-E72D297353CC}">
                <c16:uniqueId val="{0000000F-A58A-404C-BBF4-D94A21E26BC1}"/>
              </c:ext>
            </c:extLst>
          </c:dPt>
          <c:dLbls>
            <c:numFmt formatCode="0.00" sourceLinked="0"/>
            <c:spPr>
              <a:noFill/>
              <a:ln>
                <a:noFill/>
              </a:ln>
              <a:effectLst/>
            </c:spPr>
            <c:txPr>
              <a:bodyPr/>
              <a:lstStyle/>
              <a:p>
                <a:pPr>
                  <a:defRPr sz="1100" b="0" i="0" u="none" strike="noStrike">
                    <a:solidFill>
                      <a:srgbClr val="1B2A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Pool</c:v>
                </c:pt>
                <c:pt idx="1">
                  <c:v>Parking</c:v>
                </c:pt>
                <c:pt idx="2">
                  <c:v>Wi-Fi</c:v>
                </c:pt>
                <c:pt idx="3">
                  <c:v>Breakfast</c:v>
                </c:pt>
                <c:pt idx="4">
                  <c:v>Location</c:v>
                </c:pt>
                <c:pt idx="5">
                  <c:v>Value for money</c:v>
                </c:pt>
                <c:pt idx="6">
                  <c:v>Restaurant (dinner)</c:v>
                </c:pt>
                <c:pt idx="7">
                  <c:v>Generic</c:v>
                </c:pt>
              </c:strCache>
            </c:strRef>
          </c:cat>
          <c:val>
            <c:numRef>
              <c:f>Sheet1!$B$2:$B$9</c:f>
              <c:numCache>
                <c:formatCode>General</c:formatCode>
                <c:ptCount val="8"/>
                <c:pt idx="0">
                  <c:v>97.71</c:v>
                </c:pt>
                <c:pt idx="1">
                  <c:v>95.95</c:v>
                </c:pt>
                <c:pt idx="2">
                  <c:v>95.35</c:v>
                </c:pt>
                <c:pt idx="3">
                  <c:v>94.88</c:v>
                </c:pt>
                <c:pt idx="4">
                  <c:v>94.46</c:v>
                </c:pt>
                <c:pt idx="5">
                  <c:v>70.55</c:v>
                </c:pt>
                <c:pt idx="6">
                  <c:v>65.260000000000005</c:v>
                </c:pt>
                <c:pt idx="7">
                  <c:v>58.26</c:v>
                </c:pt>
              </c:numCache>
            </c:numRef>
          </c:val>
          <c:extLst>
            <c:ext xmlns:c16="http://schemas.microsoft.com/office/drawing/2014/chart" uri="{C3380CC4-5D6E-409C-BE32-E72D297353CC}">
              <c16:uniqueId val="{00000010-A58A-404C-BBF4-D94A21E26BC1}"/>
            </c:ext>
          </c:extLst>
        </c:ser>
        <c:dLbls>
          <c:showLegendKey val="0"/>
          <c:showVal val="1"/>
          <c:showCatName val="0"/>
          <c:showSerName val="0"/>
          <c:showPercent val="0"/>
          <c:showBubbleSize val="0"/>
        </c:dLbls>
        <c:gapWidth val="3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2A33"/>
                </a:solidFill>
                <a:latin typeface="+mn-lt"/>
              </a:defRPr>
            </a:pPr>
            <a:endParaRPr lang="en-US"/>
          </a:p>
        </c:txPr>
        <c:crossAx val="2094734552"/>
        <c:crosses val="autoZero"/>
        <c:auto val="1"/>
        <c:lblAlgn val="ctr"/>
        <c:lblOffset val="100"/>
        <c:noMultiLvlLbl val="1"/>
      </c:catAx>
      <c:valAx>
        <c:axId val="2094734552"/>
        <c:scaling>
          <c:orientation val="minMax"/>
          <c:max val="100"/>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26729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and team. One-line summary: our system finds which hotel aspects a review mentions and what sentiment is attached to each.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Reviews are unstructured. A single overall label hides which aspect the opinion is about. ABSA fixes this by working per aspect.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example sentence. An overall classifier gives one label. We need Room positive and Staff negative.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core objectives: preprocessing and EDA, TF-IDF, aspect detection, sentiment classification (with Neutral threshold tuning), aspect-level inference, and evaluation.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aspects include Clean, Comfort, Staff, Room, Location, Breakfast, Wi-Fi, Pool and Generic. 41.84% of reviews contain multiple aspects, so aspect detection must be multi-label. Neutral is only 3.44%, which becomes important later.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pipeline left to right on the top row, then right to left on the bottom row. After TF-IDF the same features feed two models: aspect detection and sentiment classification. Then context extraction produces aspect-level sentiment and the final output.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Preprocessing is deliberately light so negation words survive. TF-IDF uses 10,000 features, unigrams plus bigrams, min document frequency 2, sublinear TF. Fitted only on training data to avoid leakage.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aspect has its own binary SVM, so one review can have several aspects active. Final test: Micro F1 85.25, Macro F1 84.51, precision 83.54, recall 87.03. Pool, Parking, Wi-Fi, Breakfast, Location are strongest; Generic, Restaurant (dinner) and Value for money are weakest.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Compared Logistic Regression, balanced and unbalanced Linear SVM. SVM had higher accuracy, but LR had the best Macro F1 and best Neutral performance on validation, so LR is the final sentiment model. Test: accuracy 89.04, macro F1 69.43, weighted F1 89.81. 23,101 samples were used; 4 ambiguous reviews were excluded.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Neutral is rare, so the plain argmax rule rarely predicts it. We tuned a Neutral probability threshold on validation: 0.44. Then the key honesty point: labels are sentence-level, so aspect sentiment is inferred from local context.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sentence. The system detects Clean, Comfort, Room and Staff, extracts each aspect's local context, and runs the sentiment classifier on it: Clean, Comfort, Room positive; Staff negative.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Aspect detection performs strongly overall; Positive and Negative sentiment are strong. Neutral F1 is only 24.20%, mainly due to severe class imbalance: Neutral is 3.44% of the data. The chart shows precision, recall and F1 per class from our Colab run; the confusion matrices are in the backup slides.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limitation: dataset sentiment is sentence-level, so aspect sentiment is inferred. Future work: transformers, aspect-specific annotation, imbalance techniques (class weights, focal loss, oversampling), context-aware and explainable models, and a dashboard.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what we built, aspect and sentiment results, honest note on Neutral, and the practical value.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EDA: the co-occurrence matrix shows which aspects appear together (supports the multi-label formulation); reviews are short; the most frequent words match the main aspects.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Positive and Negative are mostly on the diagonal. Neutral rows spread across Negative and Positive because Neutral is rare and linguistically close to both.</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headline test metrics in one view. Macro F1 for sentiment is lower because of the Neutral class.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19088"/>
            <a:ext cx="7315200" cy="274320"/>
          </a:xfrm>
          <a:prstGeom prst="rect">
            <a:avLst/>
          </a:prstGeom>
          <a:noFill/>
          <a:ln/>
        </p:spPr>
        <p:txBody>
          <a:bodyPr wrap="square" lIns="0" tIns="0" rIns="0" bIns="0" rtlCol="0" anchor="ctr"/>
          <a:lstStyle/>
          <a:p>
            <a:pPr marL="0" indent="0">
              <a:buNone/>
            </a:pPr>
            <a:r>
              <a:rPr lang="en-US" sz="1000" dirty="0">
                <a:solidFill>
                  <a:schemeClr val="accent5"/>
                </a:solidFill>
              </a:rPr>
              <a:t>Aspect Based Sentiment Analysis on Hotel Reviews</a:t>
            </a:r>
            <a:endParaRPr lang="en-US" sz="1000" dirty="0"/>
          </a:p>
        </p:txBody>
      </p:sp>
      <p:sp>
        <p:nvSpPr>
          <p:cNvPr id="3" name="Text 1"/>
          <p:cNvSpPr>
            <a:spLocks noGrp="1"/>
          </p:cNvSpPr>
          <p:nvPr>
            <p:ph type="title" idx="101" hasCustomPrompt="1"/>
          </p:nvPr>
        </p:nvSpPr>
        <p:spPr>
          <a:xfrm>
            <a:off x="548640" y="320040"/>
            <a:ext cx="11064240" cy="868680"/>
          </a:xfrm>
          <a:prstGeom prst="rect">
            <a:avLst/>
          </a:prstGeom>
          <a:noFill/>
          <a:ln/>
        </p:spPr>
        <p:txBody>
          <a:bodyPr wrap="square" rtlCol="0"/>
          <a:lstStyle>
            <a:lvl1pPr marL="0" indent="0" algn="l">
              <a:buNone/>
              <a:defRPr lang="en-US" sz="3400" b="1" dirty="0">
                <a:solidFill>
                  <a:schemeClr val="tx2"/>
                </a:solidFill>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7480"/>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3C49"/>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rtlCol="0"/>
          <a:lstStyle>
            <a:lvl1pPr marL="0" indent="0" algn="l">
              <a:buNone/>
              <a:defRPr lang="en-US" sz="3400" b="1" dirty="0">
                <a:solidFill>
                  <a:schemeClr val="bg1"/>
                </a:solidFill>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FC1C0"/>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bg>
      <p:bgPr>
        <a:solidFill>
          <a:srgbClr val="0B3C49"/>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234440"/>
            <a:ext cx="6949440" cy="210312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3" name="Text 0"/>
          <p:cNvSpPr>
            <a:spLocks noGrp="1"/>
          </p:cNvSpPr>
          <p:nvPr>
            <p:ph type="body" idx="101" hasCustomPrompt="1"/>
          </p:nvPr>
        </p:nvSpPr>
        <p:spPr>
          <a:xfrm>
            <a:off x="731520" y="3429000"/>
            <a:ext cx="6766560" cy="822960"/>
          </a:xfrm>
          <a:prstGeom prst="rect">
            <a:avLst/>
          </a:prstGeom>
          <a:noFill/>
          <a:ln/>
        </p:spPr>
        <p:txBody>
          <a:bodyPr wrap="square" rtlCol="0"/>
          <a:lstStyle>
            <a:lvl1pPr marL="0" indent="0" algn="l">
              <a:buNone/>
              <a:defRPr lang="en-US" sz="1800" dirty="0">
                <a:solidFill>
                  <a:schemeClr val="accent6"/>
                </a:solidFill>
              </a:defRPr>
            </a:lvl1pPr>
          </a:lstStyle>
          <a:p>
            <a:pPr marL="0" indent="0" algn="l">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7480"/>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234440"/>
            <a:ext cx="6949440" cy="2103120"/>
          </a:xfrm>
          <a:prstGeom prst="rect">
            <a:avLst/>
          </a:prstGeom>
          <a:noFill/>
          <a:ln/>
        </p:spPr>
        <p:txBody>
          <a:bodyPr wrap="square" lIns="0" tIns="0" rIns="0" bIns="0" rtlCol="0" anchor="t"/>
          <a:lstStyle/>
          <a:p>
            <a:pPr marL="0" indent="0" algn="l">
              <a:buNone/>
            </a:pPr>
            <a:r>
              <a:rPr lang="en-US" sz="4000" b="1" dirty="0">
                <a:solidFill>
                  <a:schemeClr val="bg1"/>
                </a:solidFill>
              </a:rPr>
              <a:t>Aspect Based Sentiment Analysis on Hotel Reviews</a:t>
            </a:r>
            <a:endParaRPr lang="en-US" sz="4000" dirty="0"/>
          </a:p>
        </p:txBody>
      </p:sp>
      <p:sp>
        <p:nvSpPr>
          <p:cNvPr id="3" name="Text 0"/>
          <p:cNvSpPr>
            <a:spLocks noGrp="1"/>
          </p:cNvSpPr>
          <p:nvPr>
            <p:ph type="body" idx="101" hasCustomPrompt="1"/>
          </p:nvPr>
        </p:nvSpPr>
        <p:spPr>
          <a:xfrm>
            <a:off x="731520" y="3429000"/>
            <a:ext cx="6766560" cy="822960"/>
          </a:xfrm>
          <a:prstGeom prst="rect">
            <a:avLst/>
          </a:prstGeom>
          <a:noFill/>
          <a:ln/>
        </p:spPr>
        <p:txBody>
          <a:bodyPr wrap="square" lIns="0" tIns="0" rIns="0" bIns="0" rtlCol="0" anchor="t"/>
          <a:lstStyle/>
          <a:p>
            <a:pPr marL="0" indent="0" algn="l">
              <a:buNone/>
            </a:pPr>
            <a:r>
              <a:rPr lang="en-US" sz="1800" dirty="0">
                <a:solidFill>
                  <a:schemeClr val="accent6"/>
                </a:solidFill>
              </a:rPr>
              <a:t>Multi-label aspect detection and sentiment classification using TF-IDF, One-vs-Rest Linear SVM and Logistic Regression</a:t>
            </a:r>
            <a:endParaRPr lang="en-US" sz="1800" dirty="0"/>
          </a:p>
        </p:txBody>
      </p:sp>
      <p:sp>
        <p:nvSpPr>
          <p:cNvPr id="4" name="Text 2"/>
          <p:cNvSpPr txBox="1"/>
          <p:nvPr/>
        </p:nvSpPr>
        <p:spPr>
          <a:xfrm>
            <a:off x="731520" y="4572000"/>
            <a:ext cx="6766560" cy="822960"/>
          </a:xfrm>
          <a:prstGeom prst="rect">
            <a:avLst/>
          </a:prstGeom>
          <a:noFill/>
          <a:ln/>
        </p:spPr>
        <p:txBody>
          <a:bodyPr wrap="square" lIns="0" tIns="0" rIns="0" bIns="0" rtlCol="0" anchor="t"/>
          <a:lstStyle/>
          <a:p>
            <a:pPr marL="0" indent="0">
              <a:spcAft>
                <a:spcPts val="600"/>
              </a:spcAft>
              <a:buNone/>
            </a:pPr>
            <a:r>
              <a:rPr lang="en-US" sz="1800" b="1" dirty="0">
                <a:solidFill>
                  <a:schemeClr val="bg1"/>
                </a:solidFill>
              </a:rPr>
              <a:t>Kushita K</a:t>
            </a:r>
            <a:r>
              <a:rPr lang="en-US" sz="1800" dirty="0">
                <a:solidFill>
                  <a:schemeClr val="bg1"/>
                </a:solidFill>
              </a:rPr>
              <a:t>   PES1UG24CS247</a:t>
            </a:r>
            <a:endParaRPr lang="en-US" sz="1800" dirty="0"/>
          </a:p>
          <a:p>
            <a:pPr marL="0" indent="0">
              <a:spcAft>
                <a:spcPts val="600"/>
              </a:spcAft>
              <a:buNone/>
            </a:pPr>
            <a:r>
              <a:rPr lang="en-US" sz="1800" b="1" dirty="0">
                <a:solidFill>
                  <a:schemeClr val="bg1"/>
                </a:solidFill>
              </a:rPr>
              <a:t>Anagha</a:t>
            </a:r>
            <a:r>
              <a:rPr lang="en-US" sz="1800" dirty="0">
                <a:solidFill>
                  <a:schemeClr val="bg1"/>
                </a:solidFill>
              </a:rPr>
              <a:t>   PES1UG24CS058</a:t>
            </a:r>
            <a:endParaRPr lang="en-US" sz="1800" dirty="0"/>
          </a:p>
        </p:txBody>
      </p:sp>
      <p:sp>
        <p:nvSpPr>
          <p:cNvPr id="6" name="Shape 4"/>
          <p:cNvSpPr/>
          <p:nvPr/>
        </p:nvSpPr>
        <p:spPr>
          <a:xfrm>
            <a:off x="8138160" y="1554480"/>
            <a:ext cx="3383280" cy="4023360"/>
          </a:xfrm>
          <a:prstGeom prst="roundRect">
            <a:avLst>
              <a:gd name="adj" fmla="val 2162"/>
            </a:avLst>
          </a:prstGeom>
          <a:solidFill>
            <a:srgbClr val="134F5E"/>
          </a:solidFill>
          <a:ln w="12700">
            <a:solidFill>
              <a:srgbClr val="134F5E"/>
            </a:solidFill>
            <a:prstDash val="solid"/>
          </a:ln>
        </p:spPr>
      </p:sp>
      <p:sp>
        <p:nvSpPr>
          <p:cNvPr id="7" name="Text 5"/>
          <p:cNvSpPr txBox="1"/>
          <p:nvPr/>
        </p:nvSpPr>
        <p:spPr>
          <a:xfrm>
            <a:off x="8412480" y="1783080"/>
            <a:ext cx="2834640" cy="365760"/>
          </a:xfrm>
          <a:prstGeom prst="rect">
            <a:avLst/>
          </a:prstGeom>
          <a:noFill/>
          <a:ln/>
        </p:spPr>
        <p:txBody>
          <a:bodyPr wrap="square" lIns="0" tIns="0" rIns="0" bIns="0" rtlCol="0" anchor="t"/>
          <a:lstStyle/>
          <a:p>
            <a:pPr marL="0" indent="0">
              <a:buNone/>
            </a:pPr>
            <a:r>
              <a:rPr lang="en-US" sz="1500" b="1" dirty="0">
                <a:solidFill>
                  <a:schemeClr val="accent6"/>
                </a:solidFill>
              </a:rPr>
              <a:t>One review, many opinions</a:t>
            </a:r>
            <a:endParaRPr lang="en-US" sz="1500" dirty="0"/>
          </a:p>
        </p:txBody>
      </p:sp>
      <p:sp>
        <p:nvSpPr>
          <p:cNvPr id="8" name="Shape 6"/>
          <p:cNvSpPr/>
          <p:nvPr/>
        </p:nvSpPr>
        <p:spPr>
          <a:xfrm>
            <a:off x="8412480" y="2377440"/>
            <a:ext cx="2834640" cy="594360"/>
          </a:xfrm>
          <a:prstGeom prst="roundRect">
            <a:avLst>
              <a:gd name="adj" fmla="val 12308"/>
            </a:avLst>
          </a:prstGeom>
          <a:solidFill>
            <a:srgbClr val="0B3C49"/>
          </a:solidFill>
          <a:ln w="12700">
            <a:solidFill>
              <a:srgbClr val="0B3C49"/>
            </a:solidFill>
            <a:prstDash val="solid"/>
          </a:ln>
        </p:spPr>
      </p:sp>
      <p:sp>
        <p:nvSpPr>
          <p:cNvPr id="9" name="Text 7"/>
          <p:cNvSpPr txBox="1"/>
          <p:nvPr/>
        </p:nvSpPr>
        <p:spPr>
          <a:xfrm>
            <a:off x="8595360" y="2377440"/>
            <a:ext cx="1188720" cy="594360"/>
          </a:xfrm>
          <a:prstGeom prst="rect">
            <a:avLst/>
          </a:prstGeom>
          <a:noFill/>
          <a:ln/>
        </p:spPr>
        <p:txBody>
          <a:bodyPr wrap="square" lIns="0" tIns="0" rIns="0" bIns="0" rtlCol="0" anchor="ctr"/>
          <a:lstStyle/>
          <a:p>
            <a:pPr marL="0" indent="0">
              <a:buNone/>
            </a:pPr>
            <a:r>
              <a:rPr lang="en-US" sz="1600" b="1" dirty="0">
                <a:solidFill>
                  <a:schemeClr val="bg1"/>
                </a:solidFill>
              </a:rPr>
              <a:t>Room</a:t>
            </a:r>
            <a:endParaRPr lang="en-US" sz="1600" dirty="0"/>
          </a:p>
        </p:txBody>
      </p:sp>
      <p:sp>
        <p:nvSpPr>
          <p:cNvPr id="10" name="Shape 8"/>
          <p:cNvSpPr/>
          <p:nvPr/>
        </p:nvSpPr>
        <p:spPr>
          <a:xfrm>
            <a:off x="9875520" y="2514600"/>
            <a:ext cx="1188720" cy="329184"/>
          </a:xfrm>
          <a:prstGeom prst="roundRect">
            <a:avLst>
              <a:gd name="adj" fmla="val 138889"/>
            </a:avLst>
          </a:prstGeom>
          <a:solidFill>
            <a:schemeClr val="accent3"/>
          </a:solidFill>
          <a:ln w="12700">
            <a:solidFill>
              <a:schemeClr val="accent3"/>
            </a:solidFill>
            <a:prstDash val="solid"/>
          </a:ln>
        </p:spPr>
      </p:sp>
      <p:sp>
        <p:nvSpPr>
          <p:cNvPr id="11" name="Text 9"/>
          <p:cNvSpPr txBox="1"/>
          <p:nvPr/>
        </p:nvSpPr>
        <p:spPr>
          <a:xfrm>
            <a:off x="9875520" y="2514600"/>
            <a:ext cx="1188720" cy="329184"/>
          </a:xfrm>
          <a:prstGeom prst="rect">
            <a:avLst/>
          </a:prstGeom>
          <a:noFill/>
          <a:ln/>
        </p:spPr>
        <p:txBody>
          <a:bodyPr wrap="square" lIns="0" tIns="0" rIns="0" bIns="0" rtlCol="0" anchor="ctr"/>
          <a:lstStyle/>
          <a:p>
            <a:pPr marL="0" indent="0" algn="ctr">
              <a:buNone/>
            </a:pPr>
            <a:r>
              <a:rPr lang="en-US" sz="1200" b="1" dirty="0">
                <a:solidFill>
                  <a:schemeClr val="bg1"/>
                </a:solidFill>
              </a:rPr>
              <a:t>Positive</a:t>
            </a:r>
            <a:endParaRPr lang="en-US" sz="1200" dirty="0"/>
          </a:p>
        </p:txBody>
      </p:sp>
      <p:sp>
        <p:nvSpPr>
          <p:cNvPr id="12" name="Shape 10"/>
          <p:cNvSpPr/>
          <p:nvPr/>
        </p:nvSpPr>
        <p:spPr>
          <a:xfrm>
            <a:off x="8412480" y="3154680"/>
            <a:ext cx="2834640" cy="594360"/>
          </a:xfrm>
          <a:prstGeom prst="roundRect">
            <a:avLst>
              <a:gd name="adj" fmla="val 12308"/>
            </a:avLst>
          </a:prstGeom>
          <a:solidFill>
            <a:srgbClr val="0B3C49"/>
          </a:solidFill>
          <a:ln w="12700">
            <a:solidFill>
              <a:srgbClr val="0B3C49"/>
            </a:solidFill>
            <a:prstDash val="solid"/>
          </a:ln>
        </p:spPr>
      </p:sp>
      <p:sp>
        <p:nvSpPr>
          <p:cNvPr id="13" name="Text 11"/>
          <p:cNvSpPr txBox="1"/>
          <p:nvPr/>
        </p:nvSpPr>
        <p:spPr>
          <a:xfrm>
            <a:off x="8595360" y="3154680"/>
            <a:ext cx="1188720" cy="594360"/>
          </a:xfrm>
          <a:prstGeom prst="rect">
            <a:avLst/>
          </a:prstGeom>
          <a:noFill/>
          <a:ln/>
        </p:spPr>
        <p:txBody>
          <a:bodyPr wrap="square" lIns="0" tIns="0" rIns="0" bIns="0" rtlCol="0" anchor="ctr"/>
          <a:lstStyle/>
          <a:p>
            <a:pPr marL="0" indent="0">
              <a:buNone/>
            </a:pPr>
            <a:r>
              <a:rPr lang="en-US" sz="1600" b="1" dirty="0">
                <a:solidFill>
                  <a:schemeClr val="bg1"/>
                </a:solidFill>
              </a:rPr>
              <a:t>Clean</a:t>
            </a:r>
            <a:endParaRPr lang="en-US" sz="1600" dirty="0"/>
          </a:p>
        </p:txBody>
      </p:sp>
      <p:sp>
        <p:nvSpPr>
          <p:cNvPr id="14" name="Shape 12"/>
          <p:cNvSpPr/>
          <p:nvPr/>
        </p:nvSpPr>
        <p:spPr>
          <a:xfrm>
            <a:off x="9875520" y="3291840"/>
            <a:ext cx="1188720" cy="329184"/>
          </a:xfrm>
          <a:prstGeom prst="roundRect">
            <a:avLst>
              <a:gd name="adj" fmla="val 138889"/>
            </a:avLst>
          </a:prstGeom>
          <a:solidFill>
            <a:schemeClr val="accent3"/>
          </a:solidFill>
          <a:ln w="12700">
            <a:solidFill>
              <a:schemeClr val="accent3"/>
            </a:solidFill>
            <a:prstDash val="solid"/>
          </a:ln>
        </p:spPr>
      </p:sp>
      <p:sp>
        <p:nvSpPr>
          <p:cNvPr id="15" name="Text 13"/>
          <p:cNvSpPr txBox="1"/>
          <p:nvPr/>
        </p:nvSpPr>
        <p:spPr>
          <a:xfrm>
            <a:off x="9875520" y="3291840"/>
            <a:ext cx="1188720" cy="329184"/>
          </a:xfrm>
          <a:prstGeom prst="rect">
            <a:avLst/>
          </a:prstGeom>
          <a:noFill/>
          <a:ln/>
        </p:spPr>
        <p:txBody>
          <a:bodyPr wrap="square" lIns="0" tIns="0" rIns="0" bIns="0" rtlCol="0" anchor="ctr"/>
          <a:lstStyle/>
          <a:p>
            <a:pPr marL="0" indent="0" algn="ctr">
              <a:buNone/>
            </a:pPr>
            <a:r>
              <a:rPr lang="en-US" sz="1200" b="1" dirty="0">
                <a:solidFill>
                  <a:schemeClr val="bg1"/>
                </a:solidFill>
              </a:rPr>
              <a:t>Positive</a:t>
            </a:r>
            <a:endParaRPr lang="en-US" sz="1200" dirty="0"/>
          </a:p>
        </p:txBody>
      </p:sp>
      <p:sp>
        <p:nvSpPr>
          <p:cNvPr id="16" name="Shape 14"/>
          <p:cNvSpPr/>
          <p:nvPr/>
        </p:nvSpPr>
        <p:spPr>
          <a:xfrm>
            <a:off x="8412480" y="3931920"/>
            <a:ext cx="2834640" cy="594360"/>
          </a:xfrm>
          <a:prstGeom prst="roundRect">
            <a:avLst>
              <a:gd name="adj" fmla="val 12308"/>
            </a:avLst>
          </a:prstGeom>
          <a:solidFill>
            <a:srgbClr val="0B3C49"/>
          </a:solidFill>
          <a:ln w="12700">
            <a:solidFill>
              <a:srgbClr val="0B3C49"/>
            </a:solidFill>
            <a:prstDash val="solid"/>
          </a:ln>
        </p:spPr>
      </p:sp>
      <p:sp>
        <p:nvSpPr>
          <p:cNvPr id="17" name="Text 15"/>
          <p:cNvSpPr txBox="1"/>
          <p:nvPr/>
        </p:nvSpPr>
        <p:spPr>
          <a:xfrm>
            <a:off x="8595360" y="3931920"/>
            <a:ext cx="1188720" cy="594360"/>
          </a:xfrm>
          <a:prstGeom prst="rect">
            <a:avLst/>
          </a:prstGeom>
          <a:noFill/>
          <a:ln/>
        </p:spPr>
        <p:txBody>
          <a:bodyPr wrap="square" lIns="0" tIns="0" rIns="0" bIns="0" rtlCol="0" anchor="ctr"/>
          <a:lstStyle/>
          <a:p>
            <a:pPr marL="0" indent="0">
              <a:buNone/>
            </a:pPr>
            <a:r>
              <a:rPr lang="en-US" sz="1600" b="1" dirty="0">
                <a:solidFill>
                  <a:schemeClr val="bg1"/>
                </a:solidFill>
              </a:rPr>
              <a:t>Comfort</a:t>
            </a:r>
            <a:endParaRPr lang="en-US" sz="1600" dirty="0"/>
          </a:p>
        </p:txBody>
      </p:sp>
      <p:sp>
        <p:nvSpPr>
          <p:cNvPr id="18" name="Shape 16"/>
          <p:cNvSpPr/>
          <p:nvPr/>
        </p:nvSpPr>
        <p:spPr>
          <a:xfrm>
            <a:off x="9875520" y="4069080"/>
            <a:ext cx="1188720" cy="329184"/>
          </a:xfrm>
          <a:prstGeom prst="roundRect">
            <a:avLst>
              <a:gd name="adj" fmla="val 138889"/>
            </a:avLst>
          </a:prstGeom>
          <a:solidFill>
            <a:schemeClr val="accent3"/>
          </a:solidFill>
          <a:ln w="12700">
            <a:solidFill>
              <a:schemeClr val="accent3"/>
            </a:solidFill>
            <a:prstDash val="solid"/>
          </a:ln>
        </p:spPr>
      </p:sp>
      <p:sp>
        <p:nvSpPr>
          <p:cNvPr id="19" name="Text 17"/>
          <p:cNvSpPr txBox="1"/>
          <p:nvPr/>
        </p:nvSpPr>
        <p:spPr>
          <a:xfrm>
            <a:off x="9875520" y="4069080"/>
            <a:ext cx="1188720" cy="329184"/>
          </a:xfrm>
          <a:prstGeom prst="rect">
            <a:avLst/>
          </a:prstGeom>
          <a:noFill/>
          <a:ln/>
        </p:spPr>
        <p:txBody>
          <a:bodyPr wrap="square" lIns="0" tIns="0" rIns="0" bIns="0" rtlCol="0" anchor="ctr"/>
          <a:lstStyle/>
          <a:p>
            <a:pPr marL="0" indent="0" algn="ctr">
              <a:buNone/>
            </a:pPr>
            <a:r>
              <a:rPr lang="en-US" sz="1200" b="1" dirty="0">
                <a:solidFill>
                  <a:schemeClr val="bg1"/>
                </a:solidFill>
              </a:rPr>
              <a:t>Positive</a:t>
            </a:r>
            <a:endParaRPr lang="en-US" sz="1200" dirty="0"/>
          </a:p>
        </p:txBody>
      </p:sp>
      <p:sp>
        <p:nvSpPr>
          <p:cNvPr id="20" name="Shape 18"/>
          <p:cNvSpPr/>
          <p:nvPr/>
        </p:nvSpPr>
        <p:spPr>
          <a:xfrm>
            <a:off x="8412480" y="4709160"/>
            <a:ext cx="2834640" cy="594360"/>
          </a:xfrm>
          <a:prstGeom prst="roundRect">
            <a:avLst>
              <a:gd name="adj" fmla="val 12308"/>
            </a:avLst>
          </a:prstGeom>
          <a:solidFill>
            <a:srgbClr val="0B3C49"/>
          </a:solidFill>
          <a:ln w="12700">
            <a:solidFill>
              <a:srgbClr val="0B3C49"/>
            </a:solidFill>
            <a:prstDash val="solid"/>
          </a:ln>
        </p:spPr>
      </p:sp>
      <p:sp>
        <p:nvSpPr>
          <p:cNvPr id="21" name="Text 19"/>
          <p:cNvSpPr txBox="1"/>
          <p:nvPr/>
        </p:nvSpPr>
        <p:spPr>
          <a:xfrm>
            <a:off x="8595360" y="4709160"/>
            <a:ext cx="1188720" cy="594360"/>
          </a:xfrm>
          <a:prstGeom prst="rect">
            <a:avLst/>
          </a:prstGeom>
          <a:noFill/>
          <a:ln/>
        </p:spPr>
        <p:txBody>
          <a:bodyPr wrap="square" lIns="0" tIns="0" rIns="0" bIns="0" rtlCol="0" anchor="ctr"/>
          <a:lstStyle/>
          <a:p>
            <a:pPr marL="0" indent="0">
              <a:buNone/>
            </a:pPr>
            <a:r>
              <a:rPr lang="en-US" sz="1600" b="1" dirty="0">
                <a:solidFill>
                  <a:schemeClr val="bg1"/>
                </a:solidFill>
              </a:rPr>
              <a:t>Staff</a:t>
            </a:r>
            <a:endParaRPr lang="en-US" sz="1600" dirty="0"/>
          </a:p>
        </p:txBody>
      </p:sp>
      <p:sp>
        <p:nvSpPr>
          <p:cNvPr id="22" name="Shape 20"/>
          <p:cNvSpPr/>
          <p:nvPr/>
        </p:nvSpPr>
        <p:spPr>
          <a:xfrm>
            <a:off x="9875520" y="4846320"/>
            <a:ext cx="1188720" cy="329184"/>
          </a:xfrm>
          <a:prstGeom prst="roundRect">
            <a:avLst>
              <a:gd name="adj" fmla="val 138889"/>
            </a:avLst>
          </a:prstGeom>
          <a:solidFill>
            <a:schemeClr val="accent4"/>
          </a:solidFill>
          <a:ln w="12700">
            <a:solidFill>
              <a:schemeClr val="accent4"/>
            </a:solidFill>
            <a:prstDash val="solid"/>
          </a:ln>
        </p:spPr>
      </p:sp>
      <p:sp>
        <p:nvSpPr>
          <p:cNvPr id="23" name="Text 21"/>
          <p:cNvSpPr txBox="1"/>
          <p:nvPr/>
        </p:nvSpPr>
        <p:spPr>
          <a:xfrm>
            <a:off x="9875520" y="4846320"/>
            <a:ext cx="1188720" cy="329184"/>
          </a:xfrm>
          <a:prstGeom prst="rect">
            <a:avLst/>
          </a:prstGeom>
          <a:noFill/>
          <a:ln/>
        </p:spPr>
        <p:txBody>
          <a:bodyPr wrap="square" lIns="0" tIns="0" rIns="0" bIns="0" rtlCol="0" anchor="ctr"/>
          <a:lstStyle/>
          <a:p>
            <a:pPr marL="0" indent="0" algn="ctr">
              <a:buNone/>
            </a:pPr>
            <a:r>
              <a:rPr lang="en-US" sz="1200" b="1" dirty="0">
                <a:solidFill>
                  <a:schemeClr val="bg1"/>
                </a:solidFill>
              </a:rPr>
              <a:t>Negative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Introduction</a:t>
            </a:r>
            <a:endParaRPr lang="en-US" sz="3400" dirty="0"/>
          </a:p>
        </p:txBody>
      </p:sp>
      <p:sp>
        <p:nvSpPr>
          <p:cNvPr id="3" name="Shape 1"/>
          <p:cNvSpPr/>
          <p:nvPr/>
        </p:nvSpPr>
        <p:spPr>
          <a:xfrm>
            <a:off x="548640" y="1463040"/>
            <a:ext cx="731520" cy="731520"/>
          </a:xfrm>
          <a:prstGeom prst="ellipse">
            <a:avLst/>
          </a:prstGeom>
          <a:solidFill>
            <a:srgbClr val="0B7A75"/>
          </a:solidFill>
          <a:ln w="12700">
            <a:solidFill>
              <a:srgbClr val="0B7A75"/>
            </a:solidFill>
            <a:prstDash val="solid"/>
          </a:ln>
        </p:spPr>
      </p:sp>
      <p:pic>
        <p:nvPicPr>
          <p:cNvPr id="4" name="Image 0" descr="FaHotel"/>
          <p:cNvPicPr>
            <a:picLocks noChangeAspect="1"/>
          </p:cNvPicPr>
          <p:nvPr/>
        </p:nvPicPr>
        <p:blipFill>
          <a:blip r:embed="rId3"/>
          <a:stretch>
            <a:fillRect/>
          </a:stretch>
        </p:blipFill>
        <p:spPr>
          <a:xfrm>
            <a:off x="731520" y="1645920"/>
            <a:ext cx="365760" cy="365760"/>
          </a:xfrm>
          <a:prstGeom prst="rect">
            <a:avLst/>
          </a:prstGeom>
        </p:spPr>
      </p:pic>
      <p:sp>
        <p:nvSpPr>
          <p:cNvPr id="5" name="Text 2"/>
          <p:cNvSpPr txBox="1"/>
          <p:nvPr/>
        </p:nvSpPr>
        <p:spPr>
          <a:xfrm>
            <a:off x="1508760" y="1444752"/>
            <a:ext cx="5394960" cy="365760"/>
          </a:xfrm>
          <a:prstGeom prst="rect">
            <a:avLst/>
          </a:prstGeom>
          <a:noFill/>
          <a:ln/>
        </p:spPr>
        <p:txBody>
          <a:bodyPr wrap="square" lIns="0" tIns="0" rIns="0" bIns="0" rtlCol="0" anchor="t"/>
          <a:lstStyle/>
          <a:p>
            <a:pPr marL="0" indent="0">
              <a:buNone/>
            </a:pPr>
            <a:r>
              <a:rPr lang="en-US" sz="1800" b="1" dirty="0">
                <a:solidFill>
                  <a:schemeClr val="tx2"/>
                </a:solidFill>
              </a:rPr>
              <a:t>Hotel reviews are free-form text</a:t>
            </a:r>
            <a:endParaRPr lang="en-US" sz="1800" dirty="0"/>
          </a:p>
        </p:txBody>
      </p:sp>
      <p:sp>
        <p:nvSpPr>
          <p:cNvPr id="6" name="Text 3"/>
          <p:cNvSpPr txBox="1"/>
          <p:nvPr/>
        </p:nvSpPr>
        <p:spPr>
          <a:xfrm>
            <a:off x="1508760" y="1828800"/>
            <a:ext cx="5394960" cy="548640"/>
          </a:xfrm>
          <a:prstGeom prst="rect">
            <a:avLst/>
          </a:prstGeom>
          <a:noFill/>
          <a:ln/>
        </p:spPr>
        <p:txBody>
          <a:bodyPr wrap="square" lIns="0" tIns="0" rIns="0" bIns="0" rtlCol="0" anchor="t"/>
          <a:lstStyle/>
          <a:p>
            <a:pPr marL="0" indent="0">
              <a:buNone/>
            </a:pPr>
            <a:r>
              <a:rPr lang="en-US" sz="1400" dirty="0">
                <a:solidFill>
                  <a:schemeClr val="tx1"/>
                </a:solidFill>
              </a:rPr>
              <a:t>They discuss room, cleanliness, staff, breakfast, location and more.</a:t>
            </a:r>
            <a:endParaRPr lang="en-US" sz="1400" dirty="0"/>
          </a:p>
        </p:txBody>
      </p:sp>
      <p:sp>
        <p:nvSpPr>
          <p:cNvPr id="7" name="Shape 4"/>
          <p:cNvSpPr/>
          <p:nvPr/>
        </p:nvSpPr>
        <p:spPr>
          <a:xfrm>
            <a:off x="548640" y="2651760"/>
            <a:ext cx="731520" cy="731520"/>
          </a:xfrm>
          <a:prstGeom prst="ellipse">
            <a:avLst/>
          </a:prstGeom>
          <a:solidFill>
            <a:srgbClr val="0B7A75"/>
          </a:solidFill>
          <a:ln w="12700">
            <a:solidFill>
              <a:srgbClr val="0B7A75"/>
            </a:solidFill>
            <a:prstDash val="solid"/>
          </a:ln>
        </p:spPr>
      </p:sp>
      <p:pic>
        <p:nvPicPr>
          <p:cNvPr id="8" name="Image 1" descr="FaBalanceScale"/>
          <p:cNvPicPr>
            <a:picLocks noChangeAspect="1"/>
          </p:cNvPicPr>
          <p:nvPr/>
        </p:nvPicPr>
        <p:blipFill>
          <a:blip r:embed="rId4"/>
          <a:stretch>
            <a:fillRect/>
          </a:stretch>
        </p:blipFill>
        <p:spPr>
          <a:xfrm>
            <a:off x="731520" y="2834640"/>
            <a:ext cx="365760" cy="365760"/>
          </a:xfrm>
          <a:prstGeom prst="rect">
            <a:avLst/>
          </a:prstGeom>
        </p:spPr>
      </p:pic>
      <p:sp>
        <p:nvSpPr>
          <p:cNvPr id="9" name="Text 5"/>
          <p:cNvSpPr txBox="1"/>
          <p:nvPr/>
        </p:nvSpPr>
        <p:spPr>
          <a:xfrm>
            <a:off x="1508760" y="2633472"/>
            <a:ext cx="5394960" cy="365760"/>
          </a:xfrm>
          <a:prstGeom prst="rect">
            <a:avLst/>
          </a:prstGeom>
          <a:noFill/>
          <a:ln/>
        </p:spPr>
        <p:txBody>
          <a:bodyPr wrap="square" lIns="0" tIns="0" rIns="0" bIns="0" rtlCol="0" anchor="t"/>
          <a:lstStyle/>
          <a:p>
            <a:pPr marL="0" indent="0">
              <a:buNone/>
            </a:pPr>
            <a:r>
              <a:rPr lang="en-US" sz="1800" b="1" dirty="0">
                <a:solidFill>
                  <a:schemeClr val="tx2"/>
                </a:solidFill>
              </a:rPr>
              <a:t>Traditional sentiment analysis falls short</a:t>
            </a:r>
            <a:endParaRPr lang="en-US" sz="1800" dirty="0"/>
          </a:p>
        </p:txBody>
      </p:sp>
      <p:sp>
        <p:nvSpPr>
          <p:cNvPr id="10" name="Text 6"/>
          <p:cNvSpPr txBox="1"/>
          <p:nvPr/>
        </p:nvSpPr>
        <p:spPr>
          <a:xfrm>
            <a:off x="1508760" y="3017520"/>
            <a:ext cx="5394960" cy="548640"/>
          </a:xfrm>
          <a:prstGeom prst="rect">
            <a:avLst/>
          </a:prstGeom>
          <a:noFill/>
          <a:ln/>
        </p:spPr>
        <p:txBody>
          <a:bodyPr wrap="square" lIns="0" tIns="0" rIns="0" bIns="0" rtlCol="0" anchor="t"/>
          <a:lstStyle/>
          <a:p>
            <a:pPr marL="0" indent="0">
              <a:buNone/>
            </a:pPr>
            <a:r>
              <a:rPr lang="en-US" sz="1400" dirty="0">
                <a:solidFill>
                  <a:schemeClr val="tx1"/>
                </a:solidFill>
              </a:rPr>
              <a:t>It gives one overall sentiment for the whole review.</a:t>
            </a:r>
            <a:endParaRPr lang="en-US" sz="1400" dirty="0"/>
          </a:p>
        </p:txBody>
      </p:sp>
      <p:sp>
        <p:nvSpPr>
          <p:cNvPr id="11" name="Shape 7"/>
          <p:cNvSpPr/>
          <p:nvPr/>
        </p:nvSpPr>
        <p:spPr>
          <a:xfrm>
            <a:off x="548640" y="3840480"/>
            <a:ext cx="731520" cy="731520"/>
          </a:xfrm>
          <a:prstGeom prst="ellipse">
            <a:avLst/>
          </a:prstGeom>
          <a:solidFill>
            <a:srgbClr val="0B7A75"/>
          </a:solidFill>
          <a:ln w="12700">
            <a:solidFill>
              <a:srgbClr val="0B7A75"/>
            </a:solidFill>
            <a:prstDash val="solid"/>
          </a:ln>
        </p:spPr>
      </p:sp>
      <p:pic>
        <p:nvPicPr>
          <p:cNvPr id="12" name="Image 2" descr="FaLayerGroup"/>
          <p:cNvPicPr>
            <a:picLocks noChangeAspect="1"/>
          </p:cNvPicPr>
          <p:nvPr/>
        </p:nvPicPr>
        <p:blipFill>
          <a:blip r:embed="rId5"/>
          <a:stretch>
            <a:fillRect/>
          </a:stretch>
        </p:blipFill>
        <p:spPr>
          <a:xfrm>
            <a:off x="731520" y="4023360"/>
            <a:ext cx="365760" cy="365760"/>
          </a:xfrm>
          <a:prstGeom prst="rect">
            <a:avLst/>
          </a:prstGeom>
        </p:spPr>
      </p:pic>
      <p:sp>
        <p:nvSpPr>
          <p:cNvPr id="13" name="Text 8"/>
          <p:cNvSpPr txBox="1"/>
          <p:nvPr/>
        </p:nvSpPr>
        <p:spPr>
          <a:xfrm>
            <a:off x="1508760" y="3822192"/>
            <a:ext cx="5394960" cy="365760"/>
          </a:xfrm>
          <a:prstGeom prst="rect">
            <a:avLst/>
          </a:prstGeom>
          <a:noFill/>
          <a:ln/>
        </p:spPr>
        <p:txBody>
          <a:bodyPr wrap="square" lIns="0" tIns="0" rIns="0" bIns="0" rtlCol="0" anchor="t"/>
          <a:lstStyle/>
          <a:p>
            <a:pPr marL="0" indent="0">
              <a:buNone/>
            </a:pPr>
            <a:r>
              <a:rPr lang="en-US" sz="1800" b="1" dirty="0">
                <a:solidFill>
                  <a:schemeClr val="tx2"/>
                </a:solidFill>
              </a:rPr>
              <a:t>ABSA gives a finer view</a:t>
            </a:r>
            <a:endParaRPr lang="en-US" sz="1800" dirty="0"/>
          </a:p>
        </p:txBody>
      </p:sp>
      <p:sp>
        <p:nvSpPr>
          <p:cNvPr id="14" name="Text 9"/>
          <p:cNvSpPr txBox="1"/>
          <p:nvPr/>
        </p:nvSpPr>
        <p:spPr>
          <a:xfrm>
            <a:off x="1508760" y="4206240"/>
            <a:ext cx="5394960" cy="548640"/>
          </a:xfrm>
          <a:prstGeom prst="rect">
            <a:avLst/>
          </a:prstGeom>
          <a:noFill/>
          <a:ln/>
        </p:spPr>
        <p:txBody>
          <a:bodyPr wrap="square" lIns="0" tIns="0" rIns="0" bIns="0" rtlCol="0" anchor="t"/>
          <a:lstStyle/>
          <a:p>
            <a:pPr marL="0" indent="0">
              <a:buNone/>
            </a:pPr>
            <a:r>
              <a:rPr lang="en-US" sz="1400" dirty="0">
                <a:solidFill>
                  <a:schemeClr val="tx1"/>
                </a:solidFill>
              </a:rPr>
              <a:t>It finds the aspects mentioned and the sentiment linked to each.</a:t>
            </a:r>
            <a:endParaRPr lang="en-US" sz="1400" dirty="0"/>
          </a:p>
        </p:txBody>
      </p:sp>
      <p:sp>
        <p:nvSpPr>
          <p:cNvPr id="15" name="Shape 10"/>
          <p:cNvSpPr/>
          <p:nvPr/>
        </p:nvSpPr>
        <p:spPr>
          <a:xfrm>
            <a:off x="548640" y="5029200"/>
            <a:ext cx="731520" cy="731520"/>
          </a:xfrm>
          <a:prstGeom prst="ellipse">
            <a:avLst/>
          </a:prstGeom>
          <a:solidFill>
            <a:srgbClr val="F2A33A"/>
          </a:solidFill>
          <a:ln w="12700">
            <a:solidFill>
              <a:srgbClr val="F2A33A"/>
            </a:solidFill>
            <a:prstDash val="solid"/>
          </a:ln>
        </p:spPr>
      </p:sp>
      <p:pic>
        <p:nvPicPr>
          <p:cNvPr id="16" name="Image 3" descr="FaCogs"/>
          <p:cNvPicPr>
            <a:picLocks noChangeAspect="1"/>
          </p:cNvPicPr>
          <p:nvPr/>
        </p:nvPicPr>
        <p:blipFill>
          <a:blip r:embed="rId6"/>
          <a:stretch>
            <a:fillRect/>
          </a:stretch>
        </p:blipFill>
        <p:spPr>
          <a:xfrm>
            <a:off x="731520" y="5212080"/>
            <a:ext cx="365760" cy="365760"/>
          </a:xfrm>
          <a:prstGeom prst="rect">
            <a:avLst/>
          </a:prstGeom>
        </p:spPr>
      </p:pic>
      <p:sp>
        <p:nvSpPr>
          <p:cNvPr id="17" name="Text 11"/>
          <p:cNvSpPr txBox="1"/>
          <p:nvPr/>
        </p:nvSpPr>
        <p:spPr>
          <a:xfrm>
            <a:off x="1508760" y="5010912"/>
            <a:ext cx="5394960" cy="365760"/>
          </a:xfrm>
          <a:prstGeom prst="rect">
            <a:avLst/>
          </a:prstGeom>
          <a:noFill/>
          <a:ln/>
        </p:spPr>
        <p:txBody>
          <a:bodyPr wrap="square" lIns="0" tIns="0" rIns="0" bIns="0" rtlCol="0" anchor="t"/>
          <a:lstStyle/>
          <a:p>
            <a:pPr marL="0" indent="0">
              <a:buNone/>
            </a:pPr>
            <a:r>
              <a:rPr lang="en-US" sz="1800" b="1" dirty="0">
                <a:solidFill>
                  <a:schemeClr val="tx2"/>
                </a:solidFill>
              </a:rPr>
              <a:t>Our project</a:t>
            </a:r>
            <a:endParaRPr lang="en-US" sz="1800" dirty="0"/>
          </a:p>
        </p:txBody>
      </p:sp>
      <p:sp>
        <p:nvSpPr>
          <p:cNvPr id="18" name="Text 12"/>
          <p:cNvSpPr txBox="1"/>
          <p:nvPr/>
        </p:nvSpPr>
        <p:spPr>
          <a:xfrm>
            <a:off x="1508760" y="5394960"/>
            <a:ext cx="5394960" cy="548640"/>
          </a:xfrm>
          <a:prstGeom prst="rect">
            <a:avLst/>
          </a:prstGeom>
          <a:noFill/>
          <a:ln/>
        </p:spPr>
        <p:txBody>
          <a:bodyPr wrap="square" lIns="0" tIns="0" rIns="0" bIns="0" rtlCol="0" anchor="t"/>
          <a:lstStyle/>
          <a:p>
            <a:pPr marL="0" indent="0">
              <a:buNone/>
            </a:pPr>
            <a:r>
              <a:rPr lang="en-US" sz="1400" dirty="0">
                <a:solidFill>
                  <a:schemeClr val="tx1"/>
                </a:solidFill>
              </a:rPr>
              <a:t>ABSA on the HRAST dataset with classical machine learning.</a:t>
            </a:r>
            <a:endParaRPr lang="en-US" sz="1400" dirty="0"/>
          </a:p>
        </p:txBody>
      </p:sp>
      <p:sp>
        <p:nvSpPr>
          <p:cNvPr id="19" name="Shape 13"/>
          <p:cNvSpPr/>
          <p:nvPr/>
        </p:nvSpPr>
        <p:spPr>
          <a:xfrm>
            <a:off x="7315200" y="1463040"/>
            <a:ext cx="4297680" cy="4572000"/>
          </a:xfrm>
          <a:prstGeom prst="roundRect">
            <a:avLst>
              <a:gd name="adj" fmla="val 1702"/>
            </a:avLst>
          </a:prstGeom>
          <a:solidFill>
            <a:schemeClr val="bg2"/>
          </a:solidFill>
          <a:ln w="12700">
            <a:solidFill>
              <a:schemeClr val="bg2"/>
            </a:solidFill>
            <a:prstDash val="solid"/>
          </a:ln>
        </p:spPr>
      </p:sp>
      <p:sp>
        <p:nvSpPr>
          <p:cNvPr id="20" name="Text 14"/>
          <p:cNvSpPr txBox="1"/>
          <p:nvPr/>
        </p:nvSpPr>
        <p:spPr>
          <a:xfrm>
            <a:off x="7589520" y="1691640"/>
            <a:ext cx="3749040" cy="640080"/>
          </a:xfrm>
          <a:prstGeom prst="rect">
            <a:avLst/>
          </a:prstGeom>
          <a:noFill/>
          <a:ln/>
        </p:spPr>
        <p:txBody>
          <a:bodyPr wrap="square" lIns="0" tIns="0" rIns="0" bIns="0" rtlCol="0" anchor="t"/>
          <a:lstStyle/>
          <a:p>
            <a:pPr marL="0" indent="0">
              <a:buNone/>
            </a:pPr>
            <a:r>
              <a:rPr lang="en-US" sz="1800" b="1" dirty="0">
                <a:solidFill>
                  <a:schemeClr val="tx2"/>
                </a:solidFill>
              </a:rPr>
              <a:t>One review can mention many aspects</a:t>
            </a:r>
            <a:endParaRPr lang="en-US" sz="1800" dirty="0"/>
          </a:p>
        </p:txBody>
      </p:sp>
      <p:sp>
        <p:nvSpPr>
          <p:cNvPr id="21" name="Shape 15"/>
          <p:cNvSpPr/>
          <p:nvPr/>
        </p:nvSpPr>
        <p:spPr>
          <a:xfrm>
            <a:off x="7589520" y="2606040"/>
            <a:ext cx="1097280" cy="457200"/>
          </a:xfrm>
          <a:prstGeom prst="roundRect">
            <a:avLst>
              <a:gd name="adj" fmla="val 100000"/>
            </a:avLst>
          </a:prstGeom>
          <a:solidFill>
            <a:srgbClr val="0B3C49"/>
          </a:solidFill>
          <a:ln w="12700">
            <a:solidFill>
              <a:srgbClr val="0B3C49"/>
            </a:solidFill>
            <a:prstDash val="solid"/>
          </a:ln>
        </p:spPr>
      </p:sp>
      <p:sp>
        <p:nvSpPr>
          <p:cNvPr id="22" name="Text 16"/>
          <p:cNvSpPr txBox="1"/>
          <p:nvPr/>
        </p:nvSpPr>
        <p:spPr>
          <a:xfrm>
            <a:off x="7589520" y="2606040"/>
            <a:ext cx="1097280" cy="457200"/>
          </a:xfrm>
          <a:prstGeom prst="rect">
            <a:avLst/>
          </a:prstGeom>
          <a:noFill/>
          <a:ln/>
        </p:spPr>
        <p:txBody>
          <a:bodyPr wrap="square" lIns="0" tIns="0" rIns="0" bIns="0" rtlCol="0" anchor="ctr"/>
          <a:lstStyle/>
          <a:p>
            <a:pPr marL="0" indent="0" algn="ctr">
              <a:buNone/>
            </a:pPr>
            <a:r>
              <a:rPr lang="en-US" sz="1300" b="1" dirty="0">
                <a:solidFill>
                  <a:schemeClr val="bg1"/>
                </a:solidFill>
              </a:rPr>
              <a:t>Room</a:t>
            </a:r>
            <a:endParaRPr lang="en-US" sz="1300" dirty="0"/>
          </a:p>
        </p:txBody>
      </p:sp>
      <p:sp>
        <p:nvSpPr>
          <p:cNvPr id="23" name="Shape 17"/>
          <p:cNvSpPr/>
          <p:nvPr/>
        </p:nvSpPr>
        <p:spPr>
          <a:xfrm>
            <a:off x="8823960" y="2606040"/>
            <a:ext cx="1097280" cy="457200"/>
          </a:xfrm>
          <a:prstGeom prst="roundRect">
            <a:avLst>
              <a:gd name="adj" fmla="val 100000"/>
            </a:avLst>
          </a:prstGeom>
          <a:solidFill>
            <a:srgbClr val="0B7A75"/>
          </a:solidFill>
          <a:ln w="12700">
            <a:solidFill>
              <a:srgbClr val="0B7A75"/>
            </a:solidFill>
            <a:prstDash val="solid"/>
          </a:ln>
        </p:spPr>
      </p:sp>
      <p:sp>
        <p:nvSpPr>
          <p:cNvPr id="24" name="Text 18"/>
          <p:cNvSpPr txBox="1"/>
          <p:nvPr/>
        </p:nvSpPr>
        <p:spPr>
          <a:xfrm>
            <a:off x="8823960" y="2606040"/>
            <a:ext cx="1097280" cy="457200"/>
          </a:xfrm>
          <a:prstGeom prst="rect">
            <a:avLst/>
          </a:prstGeom>
          <a:noFill/>
          <a:ln/>
        </p:spPr>
        <p:txBody>
          <a:bodyPr wrap="square" lIns="0" tIns="0" rIns="0" bIns="0" rtlCol="0" anchor="ctr"/>
          <a:lstStyle/>
          <a:p>
            <a:pPr marL="0" indent="0" algn="ctr">
              <a:buNone/>
            </a:pPr>
            <a:r>
              <a:rPr lang="en-US" sz="1300" b="1" dirty="0">
                <a:solidFill>
                  <a:schemeClr val="bg1"/>
                </a:solidFill>
              </a:rPr>
              <a:t>Clean</a:t>
            </a:r>
            <a:endParaRPr lang="en-US" sz="1300" dirty="0"/>
          </a:p>
        </p:txBody>
      </p:sp>
      <p:sp>
        <p:nvSpPr>
          <p:cNvPr id="25" name="Shape 19"/>
          <p:cNvSpPr/>
          <p:nvPr/>
        </p:nvSpPr>
        <p:spPr>
          <a:xfrm>
            <a:off x="10058400" y="2606040"/>
            <a:ext cx="1280160" cy="457200"/>
          </a:xfrm>
          <a:prstGeom prst="roundRect">
            <a:avLst>
              <a:gd name="adj" fmla="val 100000"/>
            </a:avLst>
          </a:prstGeom>
          <a:solidFill>
            <a:srgbClr val="0B3C49"/>
          </a:solidFill>
          <a:ln w="12700">
            <a:solidFill>
              <a:srgbClr val="0B3C49"/>
            </a:solidFill>
            <a:prstDash val="solid"/>
          </a:ln>
        </p:spPr>
      </p:sp>
      <p:sp>
        <p:nvSpPr>
          <p:cNvPr id="26" name="Text 20"/>
          <p:cNvSpPr txBox="1"/>
          <p:nvPr/>
        </p:nvSpPr>
        <p:spPr>
          <a:xfrm>
            <a:off x="10058400" y="2606040"/>
            <a:ext cx="1280160" cy="457200"/>
          </a:xfrm>
          <a:prstGeom prst="rect">
            <a:avLst/>
          </a:prstGeom>
          <a:noFill/>
          <a:ln/>
        </p:spPr>
        <p:txBody>
          <a:bodyPr wrap="square" lIns="0" tIns="0" rIns="0" bIns="0" rtlCol="0" anchor="ctr"/>
          <a:lstStyle/>
          <a:p>
            <a:pPr marL="0" indent="0" algn="ctr">
              <a:buNone/>
            </a:pPr>
            <a:r>
              <a:rPr lang="en-US" sz="1300" b="1" dirty="0">
                <a:solidFill>
                  <a:schemeClr val="bg1"/>
                </a:solidFill>
              </a:rPr>
              <a:t>Comfort</a:t>
            </a:r>
            <a:endParaRPr lang="en-US" sz="1300" dirty="0"/>
          </a:p>
        </p:txBody>
      </p:sp>
      <p:sp>
        <p:nvSpPr>
          <p:cNvPr id="27" name="Shape 21"/>
          <p:cNvSpPr/>
          <p:nvPr/>
        </p:nvSpPr>
        <p:spPr>
          <a:xfrm>
            <a:off x="7589520" y="3246120"/>
            <a:ext cx="1097280" cy="457200"/>
          </a:xfrm>
          <a:prstGeom prst="roundRect">
            <a:avLst>
              <a:gd name="adj" fmla="val 100000"/>
            </a:avLst>
          </a:prstGeom>
          <a:solidFill>
            <a:srgbClr val="0B7A75"/>
          </a:solidFill>
          <a:ln w="12700">
            <a:solidFill>
              <a:srgbClr val="0B7A75"/>
            </a:solidFill>
            <a:prstDash val="solid"/>
          </a:ln>
        </p:spPr>
      </p:sp>
      <p:sp>
        <p:nvSpPr>
          <p:cNvPr id="28" name="Text 22"/>
          <p:cNvSpPr txBox="1"/>
          <p:nvPr/>
        </p:nvSpPr>
        <p:spPr>
          <a:xfrm>
            <a:off x="7589520" y="3246120"/>
            <a:ext cx="1097280" cy="457200"/>
          </a:xfrm>
          <a:prstGeom prst="rect">
            <a:avLst/>
          </a:prstGeom>
          <a:noFill/>
          <a:ln/>
        </p:spPr>
        <p:txBody>
          <a:bodyPr wrap="square" lIns="0" tIns="0" rIns="0" bIns="0" rtlCol="0" anchor="ctr"/>
          <a:lstStyle/>
          <a:p>
            <a:pPr marL="0" indent="0" algn="ctr">
              <a:buNone/>
            </a:pPr>
            <a:r>
              <a:rPr lang="en-US" sz="1300" b="1" dirty="0">
                <a:solidFill>
                  <a:schemeClr val="bg1"/>
                </a:solidFill>
              </a:rPr>
              <a:t>Staff</a:t>
            </a:r>
            <a:endParaRPr lang="en-US" sz="1300" dirty="0"/>
          </a:p>
        </p:txBody>
      </p:sp>
      <p:sp>
        <p:nvSpPr>
          <p:cNvPr id="29" name="Shape 23"/>
          <p:cNvSpPr/>
          <p:nvPr/>
        </p:nvSpPr>
        <p:spPr>
          <a:xfrm>
            <a:off x="8823960" y="3246120"/>
            <a:ext cx="1463040" cy="457200"/>
          </a:xfrm>
          <a:prstGeom prst="roundRect">
            <a:avLst>
              <a:gd name="adj" fmla="val 100000"/>
            </a:avLst>
          </a:prstGeom>
          <a:solidFill>
            <a:srgbClr val="0B3C49"/>
          </a:solidFill>
          <a:ln w="12700">
            <a:solidFill>
              <a:srgbClr val="0B3C49"/>
            </a:solidFill>
            <a:prstDash val="solid"/>
          </a:ln>
        </p:spPr>
      </p:sp>
      <p:sp>
        <p:nvSpPr>
          <p:cNvPr id="30" name="Text 24"/>
          <p:cNvSpPr txBox="1"/>
          <p:nvPr/>
        </p:nvSpPr>
        <p:spPr>
          <a:xfrm>
            <a:off x="8823960" y="3246120"/>
            <a:ext cx="1463040" cy="457200"/>
          </a:xfrm>
          <a:prstGeom prst="rect">
            <a:avLst/>
          </a:prstGeom>
          <a:noFill/>
          <a:ln/>
        </p:spPr>
        <p:txBody>
          <a:bodyPr wrap="square" lIns="0" tIns="0" rIns="0" bIns="0" rtlCol="0" anchor="ctr"/>
          <a:lstStyle/>
          <a:p>
            <a:pPr marL="0" indent="0" algn="ctr">
              <a:buNone/>
            </a:pPr>
            <a:r>
              <a:rPr lang="en-US" sz="1300" b="1" dirty="0">
                <a:solidFill>
                  <a:schemeClr val="bg1"/>
                </a:solidFill>
              </a:rPr>
              <a:t>Breakfast</a:t>
            </a:r>
            <a:endParaRPr lang="en-US" sz="1300" dirty="0"/>
          </a:p>
        </p:txBody>
      </p:sp>
      <p:sp>
        <p:nvSpPr>
          <p:cNvPr id="31" name="Shape 25"/>
          <p:cNvSpPr/>
          <p:nvPr/>
        </p:nvSpPr>
        <p:spPr>
          <a:xfrm>
            <a:off x="10424160" y="3246120"/>
            <a:ext cx="1005840" cy="457200"/>
          </a:xfrm>
          <a:prstGeom prst="roundRect">
            <a:avLst>
              <a:gd name="adj" fmla="val 100000"/>
            </a:avLst>
          </a:prstGeom>
          <a:solidFill>
            <a:srgbClr val="0B7A75"/>
          </a:solidFill>
          <a:ln w="12700">
            <a:solidFill>
              <a:srgbClr val="0B7A75"/>
            </a:solidFill>
            <a:prstDash val="solid"/>
          </a:ln>
        </p:spPr>
      </p:sp>
      <p:sp>
        <p:nvSpPr>
          <p:cNvPr id="32" name="Text 26"/>
          <p:cNvSpPr txBox="1"/>
          <p:nvPr/>
        </p:nvSpPr>
        <p:spPr>
          <a:xfrm>
            <a:off x="10424160" y="3246120"/>
            <a:ext cx="1005840" cy="457200"/>
          </a:xfrm>
          <a:prstGeom prst="rect">
            <a:avLst/>
          </a:prstGeom>
          <a:noFill/>
          <a:ln/>
        </p:spPr>
        <p:txBody>
          <a:bodyPr wrap="square" lIns="0" tIns="0" rIns="0" bIns="0" rtlCol="0" anchor="ctr"/>
          <a:lstStyle/>
          <a:p>
            <a:pPr marL="0" indent="0" algn="ctr">
              <a:buNone/>
            </a:pPr>
            <a:r>
              <a:rPr lang="en-US" sz="1300" b="1" dirty="0">
                <a:solidFill>
                  <a:schemeClr val="bg1"/>
                </a:solidFill>
              </a:rPr>
              <a:t>Location</a:t>
            </a:r>
            <a:endParaRPr lang="en-US" sz="1300" dirty="0"/>
          </a:p>
        </p:txBody>
      </p:sp>
      <p:sp>
        <p:nvSpPr>
          <p:cNvPr id="33" name="Shape 27"/>
          <p:cNvSpPr/>
          <p:nvPr/>
        </p:nvSpPr>
        <p:spPr>
          <a:xfrm>
            <a:off x="7589520" y="3886200"/>
            <a:ext cx="1097280" cy="457200"/>
          </a:xfrm>
          <a:prstGeom prst="roundRect">
            <a:avLst>
              <a:gd name="adj" fmla="val 100000"/>
            </a:avLst>
          </a:prstGeom>
          <a:solidFill>
            <a:srgbClr val="0B3C49"/>
          </a:solidFill>
          <a:ln w="12700">
            <a:solidFill>
              <a:srgbClr val="0B3C49"/>
            </a:solidFill>
            <a:prstDash val="solid"/>
          </a:ln>
        </p:spPr>
      </p:sp>
      <p:sp>
        <p:nvSpPr>
          <p:cNvPr id="34" name="Text 28"/>
          <p:cNvSpPr txBox="1"/>
          <p:nvPr/>
        </p:nvSpPr>
        <p:spPr>
          <a:xfrm>
            <a:off x="7589520" y="3886200"/>
            <a:ext cx="1097280" cy="457200"/>
          </a:xfrm>
          <a:prstGeom prst="rect">
            <a:avLst/>
          </a:prstGeom>
          <a:noFill/>
          <a:ln/>
        </p:spPr>
        <p:txBody>
          <a:bodyPr wrap="square" lIns="0" tIns="0" rIns="0" bIns="0" rtlCol="0" anchor="ctr"/>
          <a:lstStyle/>
          <a:p>
            <a:pPr marL="0" indent="0" algn="ctr">
              <a:buNone/>
            </a:pPr>
            <a:r>
              <a:rPr lang="en-US" sz="1300" b="1" dirty="0">
                <a:solidFill>
                  <a:schemeClr val="bg1"/>
                </a:solidFill>
              </a:rPr>
              <a:t>Wi-Fi</a:t>
            </a:r>
            <a:endParaRPr lang="en-US" sz="1300" dirty="0"/>
          </a:p>
        </p:txBody>
      </p:sp>
      <p:sp>
        <p:nvSpPr>
          <p:cNvPr id="35" name="Shape 29"/>
          <p:cNvSpPr/>
          <p:nvPr/>
        </p:nvSpPr>
        <p:spPr>
          <a:xfrm>
            <a:off x="8823960" y="3886200"/>
            <a:ext cx="1097280" cy="457200"/>
          </a:xfrm>
          <a:prstGeom prst="roundRect">
            <a:avLst>
              <a:gd name="adj" fmla="val 100000"/>
            </a:avLst>
          </a:prstGeom>
          <a:solidFill>
            <a:srgbClr val="0B7A75"/>
          </a:solidFill>
          <a:ln w="12700">
            <a:solidFill>
              <a:srgbClr val="0B7A75"/>
            </a:solidFill>
            <a:prstDash val="solid"/>
          </a:ln>
        </p:spPr>
      </p:sp>
      <p:sp>
        <p:nvSpPr>
          <p:cNvPr id="36" name="Text 30"/>
          <p:cNvSpPr txBox="1"/>
          <p:nvPr/>
        </p:nvSpPr>
        <p:spPr>
          <a:xfrm>
            <a:off x="8823960" y="3886200"/>
            <a:ext cx="1097280" cy="457200"/>
          </a:xfrm>
          <a:prstGeom prst="rect">
            <a:avLst/>
          </a:prstGeom>
          <a:noFill/>
          <a:ln/>
        </p:spPr>
        <p:txBody>
          <a:bodyPr wrap="square" lIns="0" tIns="0" rIns="0" bIns="0" rtlCol="0" anchor="ctr"/>
          <a:lstStyle/>
          <a:p>
            <a:pPr marL="0" indent="0" algn="ctr">
              <a:buNone/>
            </a:pPr>
            <a:r>
              <a:rPr lang="en-US" sz="1300" b="1" dirty="0">
                <a:solidFill>
                  <a:schemeClr val="bg1"/>
                </a:solidFill>
              </a:rPr>
              <a:t>Pool</a:t>
            </a:r>
            <a:endParaRPr lang="en-US" sz="1300" dirty="0"/>
          </a:p>
        </p:txBody>
      </p:sp>
      <p:sp>
        <p:nvSpPr>
          <p:cNvPr id="37" name="Shape 31"/>
          <p:cNvSpPr/>
          <p:nvPr/>
        </p:nvSpPr>
        <p:spPr>
          <a:xfrm>
            <a:off x="10058400" y="3886200"/>
            <a:ext cx="1371600" cy="457200"/>
          </a:xfrm>
          <a:prstGeom prst="roundRect">
            <a:avLst>
              <a:gd name="adj" fmla="val 100000"/>
            </a:avLst>
          </a:prstGeom>
          <a:solidFill>
            <a:srgbClr val="0B3C49"/>
          </a:solidFill>
          <a:ln w="12700">
            <a:solidFill>
              <a:srgbClr val="0B3C49"/>
            </a:solidFill>
            <a:prstDash val="solid"/>
          </a:ln>
        </p:spPr>
      </p:sp>
      <p:sp>
        <p:nvSpPr>
          <p:cNvPr id="38" name="Text 32"/>
          <p:cNvSpPr txBox="1"/>
          <p:nvPr/>
        </p:nvSpPr>
        <p:spPr>
          <a:xfrm>
            <a:off x="10058400" y="3886200"/>
            <a:ext cx="1371600" cy="457200"/>
          </a:xfrm>
          <a:prstGeom prst="rect">
            <a:avLst/>
          </a:prstGeom>
          <a:noFill/>
          <a:ln/>
        </p:spPr>
        <p:txBody>
          <a:bodyPr wrap="square" lIns="0" tIns="0" rIns="0" bIns="0" rtlCol="0" anchor="ctr"/>
          <a:lstStyle/>
          <a:p>
            <a:pPr marL="0" indent="0" algn="ctr">
              <a:buNone/>
            </a:pPr>
            <a:r>
              <a:rPr lang="en-US" sz="1300" b="1" dirty="0">
                <a:solidFill>
                  <a:schemeClr val="bg1"/>
                </a:solidFill>
              </a:rPr>
              <a:t>Value for money</a:t>
            </a:r>
            <a:endParaRPr lang="en-US" sz="1300" dirty="0"/>
          </a:p>
        </p:txBody>
      </p:sp>
      <p:sp>
        <p:nvSpPr>
          <p:cNvPr id="39" name="Text 33"/>
          <p:cNvSpPr txBox="1"/>
          <p:nvPr/>
        </p:nvSpPr>
        <p:spPr>
          <a:xfrm>
            <a:off x="7589520" y="4754880"/>
            <a:ext cx="3749040" cy="1005840"/>
          </a:xfrm>
          <a:prstGeom prst="rect">
            <a:avLst/>
          </a:prstGeom>
          <a:noFill/>
          <a:ln/>
        </p:spPr>
        <p:txBody>
          <a:bodyPr wrap="square" lIns="0" tIns="0" rIns="0" bIns="0" rtlCol="0" anchor="t"/>
          <a:lstStyle/>
          <a:p>
            <a:pPr marL="0" indent="0">
              <a:spcAft>
                <a:spcPts val="600"/>
              </a:spcAft>
              <a:buNone/>
            </a:pPr>
            <a:r>
              <a:rPr lang="en-US" sz="1500" b="1" dirty="0">
                <a:solidFill>
                  <a:schemeClr val="accent4"/>
                </a:solidFill>
              </a:rPr>
              <a:t>Traditional: </a:t>
            </a:r>
            <a:r>
              <a:rPr lang="en-US" sz="1500" dirty="0">
                <a:solidFill>
                  <a:schemeClr val="tx1"/>
                </a:solidFill>
              </a:rPr>
              <a:t>1 review → 1 sentiment</a:t>
            </a:r>
            <a:endParaRPr lang="en-US" sz="1500" dirty="0"/>
          </a:p>
          <a:p>
            <a:pPr marL="0" indent="0">
              <a:spcAft>
                <a:spcPts val="600"/>
              </a:spcAft>
              <a:buNone/>
            </a:pPr>
            <a:r>
              <a:rPr lang="en-US" sz="1500" b="1" dirty="0">
                <a:solidFill>
                  <a:schemeClr val="accent3"/>
                </a:solidFill>
              </a:rPr>
              <a:t>ABSA: </a:t>
            </a:r>
            <a:r>
              <a:rPr lang="en-US" sz="1500" dirty="0">
                <a:solidFill>
                  <a:schemeClr val="tx1"/>
                </a:solidFill>
              </a:rPr>
              <a:t>1 review → each aspect, its own sentiment</a:t>
            </a:r>
            <a:endParaRPr lang="en-US" sz="1500" dirty="0"/>
          </a:p>
        </p:txBody>
      </p:sp>
      <p:sp>
        <p:nvSpPr>
          <p:cNvPr id="40"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7480"/>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Problem Statement</a:t>
            </a:r>
            <a:endParaRPr lang="en-US" sz="3400" dirty="0"/>
          </a:p>
        </p:txBody>
      </p:sp>
      <p:sp>
        <p:nvSpPr>
          <p:cNvPr id="3" name="Shape 1"/>
          <p:cNvSpPr/>
          <p:nvPr/>
        </p:nvSpPr>
        <p:spPr>
          <a:xfrm>
            <a:off x="548640" y="1371600"/>
            <a:ext cx="11064240" cy="1234440"/>
          </a:xfrm>
          <a:prstGeom prst="roundRect">
            <a:avLst>
              <a:gd name="adj" fmla="val 5926"/>
            </a:avLst>
          </a:prstGeom>
          <a:solidFill>
            <a:srgbClr val="0B3C49"/>
          </a:solidFill>
          <a:ln w="12700">
            <a:solidFill>
              <a:srgbClr val="0B3C49"/>
            </a:solidFill>
            <a:prstDash val="solid"/>
          </a:ln>
        </p:spPr>
      </p:sp>
      <p:sp>
        <p:nvSpPr>
          <p:cNvPr id="4" name="Text 2"/>
          <p:cNvSpPr txBox="1"/>
          <p:nvPr/>
        </p:nvSpPr>
        <p:spPr>
          <a:xfrm>
            <a:off x="822960" y="1371600"/>
            <a:ext cx="10515600" cy="1234440"/>
          </a:xfrm>
          <a:prstGeom prst="rect">
            <a:avLst/>
          </a:prstGeom>
          <a:noFill/>
          <a:ln/>
        </p:spPr>
        <p:txBody>
          <a:bodyPr wrap="square" lIns="0" tIns="0" rIns="0" bIns="0" rtlCol="0" anchor="ctr"/>
          <a:lstStyle/>
          <a:p>
            <a:pPr marL="0" indent="0" algn="ctr">
              <a:buNone/>
            </a:pPr>
            <a:r>
              <a:rPr lang="en-US" sz="2600" i="1" dirty="0">
                <a:solidFill>
                  <a:schemeClr val="bg1"/>
                </a:solidFill>
              </a:rPr>
              <a:t>“The room was clean and comfortable, but the staff were unfriendly.”</a:t>
            </a:r>
            <a:endParaRPr lang="en-US" sz="2600" dirty="0"/>
          </a:p>
        </p:txBody>
      </p:sp>
      <p:sp>
        <p:nvSpPr>
          <p:cNvPr id="5" name="Shape 3"/>
          <p:cNvSpPr/>
          <p:nvPr/>
        </p:nvSpPr>
        <p:spPr>
          <a:xfrm>
            <a:off x="548640" y="2880360"/>
            <a:ext cx="5212080" cy="3337560"/>
          </a:xfrm>
          <a:prstGeom prst="roundRect">
            <a:avLst>
              <a:gd name="adj" fmla="val 2192"/>
            </a:avLst>
          </a:prstGeom>
          <a:solidFill>
            <a:schemeClr val="bg2"/>
          </a:solidFill>
          <a:ln w="12700">
            <a:solidFill>
              <a:schemeClr val="bg2"/>
            </a:solidFill>
            <a:prstDash val="solid"/>
          </a:ln>
        </p:spPr>
      </p:sp>
      <p:sp>
        <p:nvSpPr>
          <p:cNvPr id="6" name="Shape 4"/>
          <p:cNvSpPr/>
          <p:nvPr/>
        </p:nvSpPr>
        <p:spPr>
          <a:xfrm>
            <a:off x="777240" y="3108960"/>
            <a:ext cx="548640" cy="548640"/>
          </a:xfrm>
          <a:prstGeom prst="ellipse">
            <a:avLst/>
          </a:prstGeom>
          <a:solidFill>
            <a:srgbClr val="C23B3B"/>
          </a:solidFill>
          <a:ln w="12700">
            <a:solidFill>
              <a:srgbClr val="C23B3B"/>
            </a:solidFill>
            <a:prstDash val="solid"/>
          </a:ln>
        </p:spPr>
      </p:sp>
      <p:pic>
        <p:nvPicPr>
          <p:cNvPr id="7" name="Image 0" descr="FaQuestionCircle"/>
          <p:cNvPicPr>
            <a:picLocks noChangeAspect="1"/>
          </p:cNvPicPr>
          <p:nvPr/>
        </p:nvPicPr>
        <p:blipFill>
          <a:blip r:embed="rId3"/>
          <a:stretch>
            <a:fillRect/>
          </a:stretch>
        </p:blipFill>
        <p:spPr>
          <a:xfrm>
            <a:off x="914400" y="3246120"/>
            <a:ext cx="274320" cy="274320"/>
          </a:xfrm>
          <a:prstGeom prst="rect">
            <a:avLst/>
          </a:prstGeom>
        </p:spPr>
      </p:pic>
      <p:sp>
        <p:nvSpPr>
          <p:cNvPr id="8" name="Text 5"/>
          <p:cNvSpPr txBox="1"/>
          <p:nvPr/>
        </p:nvSpPr>
        <p:spPr>
          <a:xfrm>
            <a:off x="1508760" y="3108960"/>
            <a:ext cx="4023360" cy="548640"/>
          </a:xfrm>
          <a:prstGeom prst="rect">
            <a:avLst/>
          </a:prstGeom>
          <a:noFill/>
          <a:ln/>
        </p:spPr>
        <p:txBody>
          <a:bodyPr wrap="square" lIns="0" tIns="0" rIns="0" bIns="0" rtlCol="0" anchor="ctr"/>
          <a:lstStyle/>
          <a:p>
            <a:pPr marL="0" indent="0">
              <a:buNone/>
            </a:pPr>
            <a:r>
              <a:rPr lang="en-US" sz="2000" b="1" dirty="0">
                <a:solidFill>
                  <a:schemeClr val="tx2"/>
                </a:solidFill>
              </a:rPr>
              <a:t>Overall sentiment only</a:t>
            </a:r>
            <a:endParaRPr lang="en-US" sz="2000" dirty="0"/>
          </a:p>
        </p:txBody>
      </p:sp>
      <p:sp>
        <p:nvSpPr>
          <p:cNvPr id="9" name="Text 6"/>
          <p:cNvSpPr txBox="1"/>
          <p:nvPr/>
        </p:nvSpPr>
        <p:spPr>
          <a:xfrm>
            <a:off x="777240" y="3840480"/>
            <a:ext cx="4754880" cy="457200"/>
          </a:xfrm>
          <a:prstGeom prst="rect">
            <a:avLst/>
          </a:prstGeom>
          <a:noFill/>
          <a:ln/>
        </p:spPr>
        <p:txBody>
          <a:bodyPr wrap="square" lIns="0" tIns="0" rIns="0" bIns="0" rtlCol="0" anchor="t"/>
          <a:lstStyle/>
          <a:p>
            <a:pPr marL="0" indent="0">
              <a:buNone/>
            </a:pPr>
            <a:r>
              <a:rPr lang="en-US" sz="2400" b="1" dirty="0">
                <a:solidFill>
                  <a:schemeClr val="accent4"/>
                </a:solidFill>
              </a:rPr>
              <a:t>Positive or negative?</a:t>
            </a:r>
            <a:endParaRPr lang="en-US" sz="2400" dirty="0"/>
          </a:p>
        </p:txBody>
      </p:sp>
      <p:sp>
        <p:nvSpPr>
          <p:cNvPr id="10" name="Text 7"/>
          <p:cNvSpPr txBox="1"/>
          <p:nvPr/>
        </p:nvSpPr>
        <p:spPr>
          <a:xfrm>
            <a:off x="777240" y="4434840"/>
            <a:ext cx="4754880" cy="640080"/>
          </a:xfrm>
          <a:prstGeom prst="rect">
            <a:avLst/>
          </a:prstGeom>
          <a:noFill/>
          <a:ln/>
        </p:spPr>
        <p:txBody>
          <a:bodyPr wrap="square" lIns="0" tIns="0" rIns="0" bIns="0" rtlCol="0" anchor="t"/>
          <a:lstStyle/>
          <a:p>
            <a:pPr marL="0" indent="0">
              <a:buNone/>
            </a:pPr>
            <a:r>
              <a:rPr lang="en-US" sz="1500" dirty="0">
                <a:solidFill>
                  <a:schemeClr val="tx1"/>
                </a:solidFill>
              </a:rPr>
              <a:t>One label cannot tell which aspect the sentiment refers to.</a:t>
            </a:r>
            <a:endParaRPr lang="en-US" sz="1500" dirty="0"/>
          </a:p>
        </p:txBody>
      </p:sp>
      <p:sp>
        <p:nvSpPr>
          <p:cNvPr id="11" name="Shape 8"/>
          <p:cNvSpPr/>
          <p:nvPr/>
        </p:nvSpPr>
        <p:spPr>
          <a:xfrm>
            <a:off x="777240" y="5257800"/>
            <a:ext cx="2103120" cy="457200"/>
          </a:xfrm>
          <a:prstGeom prst="roundRect">
            <a:avLst>
              <a:gd name="adj" fmla="val 100000"/>
            </a:avLst>
          </a:prstGeom>
          <a:solidFill>
            <a:srgbClr val="238A5E"/>
          </a:solidFill>
          <a:ln w="12700">
            <a:solidFill>
              <a:srgbClr val="238A5E"/>
            </a:solidFill>
            <a:prstDash val="solid"/>
          </a:ln>
        </p:spPr>
      </p:sp>
      <p:sp>
        <p:nvSpPr>
          <p:cNvPr id="12" name="Text 9"/>
          <p:cNvSpPr txBox="1"/>
          <p:nvPr/>
        </p:nvSpPr>
        <p:spPr>
          <a:xfrm>
            <a:off x="777240" y="5257800"/>
            <a:ext cx="2103120" cy="457200"/>
          </a:xfrm>
          <a:prstGeom prst="rect">
            <a:avLst/>
          </a:prstGeom>
          <a:noFill/>
          <a:ln/>
        </p:spPr>
        <p:txBody>
          <a:bodyPr wrap="square" lIns="0" tIns="0" rIns="0" bIns="0" rtlCol="0" anchor="ctr"/>
          <a:lstStyle/>
          <a:p>
            <a:pPr marL="0" indent="0" algn="ctr">
              <a:buNone/>
            </a:pPr>
            <a:r>
              <a:rPr lang="en-US" sz="1400" b="1" dirty="0">
                <a:solidFill>
                  <a:schemeClr val="bg1"/>
                </a:solidFill>
              </a:rPr>
              <a:t>Room → Positive</a:t>
            </a:r>
            <a:endParaRPr lang="en-US" sz="1400" dirty="0"/>
          </a:p>
        </p:txBody>
      </p:sp>
      <p:sp>
        <p:nvSpPr>
          <p:cNvPr id="13" name="Shape 10"/>
          <p:cNvSpPr/>
          <p:nvPr/>
        </p:nvSpPr>
        <p:spPr>
          <a:xfrm>
            <a:off x="3017520" y="5257800"/>
            <a:ext cx="2103120" cy="457200"/>
          </a:xfrm>
          <a:prstGeom prst="roundRect">
            <a:avLst>
              <a:gd name="adj" fmla="val 100000"/>
            </a:avLst>
          </a:prstGeom>
          <a:solidFill>
            <a:srgbClr val="C23B3B"/>
          </a:solidFill>
          <a:ln w="12700">
            <a:solidFill>
              <a:srgbClr val="C23B3B"/>
            </a:solidFill>
            <a:prstDash val="solid"/>
          </a:ln>
        </p:spPr>
      </p:sp>
      <p:sp>
        <p:nvSpPr>
          <p:cNvPr id="14" name="Text 11"/>
          <p:cNvSpPr txBox="1"/>
          <p:nvPr/>
        </p:nvSpPr>
        <p:spPr>
          <a:xfrm>
            <a:off x="3017520" y="5257800"/>
            <a:ext cx="2103120" cy="457200"/>
          </a:xfrm>
          <a:prstGeom prst="rect">
            <a:avLst/>
          </a:prstGeom>
          <a:noFill/>
          <a:ln/>
        </p:spPr>
        <p:txBody>
          <a:bodyPr wrap="square" lIns="0" tIns="0" rIns="0" bIns="0" rtlCol="0" anchor="ctr"/>
          <a:lstStyle/>
          <a:p>
            <a:pPr marL="0" indent="0" algn="ctr">
              <a:buNone/>
            </a:pPr>
            <a:r>
              <a:rPr lang="en-US" sz="1400" b="1" dirty="0">
                <a:solidFill>
                  <a:schemeClr val="bg1"/>
                </a:solidFill>
              </a:rPr>
              <a:t>Staff → Negative</a:t>
            </a:r>
            <a:endParaRPr lang="en-US" sz="1400" dirty="0"/>
          </a:p>
        </p:txBody>
      </p:sp>
      <p:sp>
        <p:nvSpPr>
          <p:cNvPr id="15" name="Shape 12"/>
          <p:cNvSpPr/>
          <p:nvPr/>
        </p:nvSpPr>
        <p:spPr>
          <a:xfrm>
            <a:off x="6035040" y="2880360"/>
            <a:ext cx="5577840" cy="3337560"/>
          </a:xfrm>
          <a:prstGeom prst="roundRect">
            <a:avLst>
              <a:gd name="adj" fmla="val 2192"/>
            </a:avLst>
          </a:prstGeom>
          <a:solidFill>
            <a:schemeClr val="bg2"/>
          </a:solidFill>
          <a:ln w="12700">
            <a:solidFill>
              <a:schemeClr val="bg2"/>
            </a:solidFill>
            <a:prstDash val="solid"/>
          </a:ln>
        </p:spPr>
      </p:sp>
      <p:sp>
        <p:nvSpPr>
          <p:cNvPr id="16" name="Text 13"/>
          <p:cNvSpPr txBox="1"/>
          <p:nvPr/>
        </p:nvSpPr>
        <p:spPr>
          <a:xfrm>
            <a:off x="6309360" y="3108960"/>
            <a:ext cx="5029200" cy="457200"/>
          </a:xfrm>
          <a:prstGeom prst="rect">
            <a:avLst/>
          </a:prstGeom>
          <a:noFill/>
          <a:ln/>
        </p:spPr>
        <p:txBody>
          <a:bodyPr wrap="square" lIns="0" tIns="0" rIns="0" bIns="0" rtlCol="0" anchor="ctr"/>
          <a:lstStyle/>
          <a:p>
            <a:pPr marL="0" indent="0">
              <a:buNone/>
            </a:pPr>
            <a:r>
              <a:rPr lang="en-US" sz="2000" b="1" dirty="0">
                <a:solidFill>
                  <a:schemeClr val="tx2"/>
                </a:solidFill>
              </a:rPr>
              <a:t>What the system must do</a:t>
            </a:r>
            <a:endParaRPr lang="en-US" sz="2000" dirty="0"/>
          </a:p>
        </p:txBody>
      </p:sp>
      <p:sp>
        <p:nvSpPr>
          <p:cNvPr id="17" name="Shape 14"/>
          <p:cNvSpPr/>
          <p:nvPr/>
        </p:nvSpPr>
        <p:spPr>
          <a:xfrm>
            <a:off x="6309360" y="3794760"/>
            <a:ext cx="548640" cy="548640"/>
          </a:xfrm>
          <a:prstGeom prst="ellipse">
            <a:avLst/>
          </a:prstGeom>
          <a:solidFill>
            <a:srgbClr val="0B7A75"/>
          </a:solidFill>
          <a:ln w="12700">
            <a:solidFill>
              <a:srgbClr val="0B7A75"/>
            </a:solidFill>
            <a:prstDash val="solid"/>
          </a:ln>
        </p:spPr>
      </p:sp>
      <p:pic>
        <p:nvPicPr>
          <p:cNvPr id="18" name="Image 1" descr="FaSearch"/>
          <p:cNvPicPr>
            <a:picLocks noChangeAspect="1"/>
          </p:cNvPicPr>
          <p:nvPr/>
        </p:nvPicPr>
        <p:blipFill>
          <a:blip r:embed="rId4"/>
          <a:stretch>
            <a:fillRect/>
          </a:stretch>
        </p:blipFill>
        <p:spPr>
          <a:xfrm>
            <a:off x="6446520" y="3931920"/>
            <a:ext cx="274320" cy="274320"/>
          </a:xfrm>
          <a:prstGeom prst="rect">
            <a:avLst/>
          </a:prstGeom>
        </p:spPr>
      </p:pic>
      <p:sp>
        <p:nvSpPr>
          <p:cNvPr id="19" name="Text 15"/>
          <p:cNvSpPr txBox="1"/>
          <p:nvPr/>
        </p:nvSpPr>
        <p:spPr>
          <a:xfrm>
            <a:off x="7040880" y="3794760"/>
            <a:ext cx="4389120" cy="548640"/>
          </a:xfrm>
          <a:prstGeom prst="rect">
            <a:avLst/>
          </a:prstGeom>
          <a:noFill/>
          <a:ln/>
        </p:spPr>
        <p:txBody>
          <a:bodyPr wrap="square" lIns="0" tIns="0" rIns="0" bIns="0" rtlCol="0" anchor="ctr"/>
          <a:lstStyle/>
          <a:p>
            <a:pPr marL="0" indent="0">
              <a:buNone/>
            </a:pPr>
            <a:r>
              <a:rPr lang="en-US" sz="1600" dirty="0">
                <a:solidFill>
                  <a:schemeClr val="tx1"/>
                </a:solidFill>
              </a:rPr>
              <a:t>Identify multiple aspects in a review</a:t>
            </a:r>
            <a:endParaRPr lang="en-US" sz="1600" dirty="0"/>
          </a:p>
        </p:txBody>
      </p:sp>
      <p:sp>
        <p:nvSpPr>
          <p:cNvPr id="20" name="Shape 16"/>
          <p:cNvSpPr/>
          <p:nvPr/>
        </p:nvSpPr>
        <p:spPr>
          <a:xfrm>
            <a:off x="6309360" y="4572000"/>
            <a:ext cx="548640" cy="548640"/>
          </a:xfrm>
          <a:prstGeom prst="ellipse">
            <a:avLst/>
          </a:prstGeom>
          <a:solidFill>
            <a:srgbClr val="0B7A75"/>
          </a:solidFill>
          <a:ln w="12700">
            <a:solidFill>
              <a:srgbClr val="0B7A75"/>
            </a:solidFill>
            <a:prstDash val="solid"/>
          </a:ln>
        </p:spPr>
      </p:sp>
      <p:pic>
        <p:nvPicPr>
          <p:cNvPr id="21" name="Image 2" descr="FaSmile"/>
          <p:cNvPicPr>
            <a:picLocks noChangeAspect="1"/>
          </p:cNvPicPr>
          <p:nvPr/>
        </p:nvPicPr>
        <p:blipFill>
          <a:blip r:embed="rId5"/>
          <a:stretch>
            <a:fillRect/>
          </a:stretch>
        </p:blipFill>
        <p:spPr>
          <a:xfrm>
            <a:off x="6446520" y="4709160"/>
            <a:ext cx="274320" cy="274320"/>
          </a:xfrm>
          <a:prstGeom prst="rect">
            <a:avLst/>
          </a:prstGeom>
        </p:spPr>
      </p:pic>
      <p:sp>
        <p:nvSpPr>
          <p:cNvPr id="22" name="Text 17"/>
          <p:cNvSpPr txBox="1"/>
          <p:nvPr/>
        </p:nvSpPr>
        <p:spPr>
          <a:xfrm>
            <a:off x="7040880" y="4572000"/>
            <a:ext cx="4389120" cy="548640"/>
          </a:xfrm>
          <a:prstGeom prst="rect">
            <a:avLst/>
          </a:prstGeom>
          <a:noFill/>
          <a:ln/>
        </p:spPr>
        <p:txBody>
          <a:bodyPr wrap="square" lIns="0" tIns="0" rIns="0" bIns="0" rtlCol="0" anchor="ctr"/>
          <a:lstStyle/>
          <a:p>
            <a:pPr marL="0" indent="0">
              <a:buNone/>
            </a:pPr>
            <a:r>
              <a:rPr lang="en-US" sz="1600" dirty="0">
                <a:solidFill>
                  <a:schemeClr val="tx1"/>
                </a:solidFill>
              </a:rPr>
              <a:t>Classify the overall sentiment</a:t>
            </a:r>
            <a:endParaRPr lang="en-US" sz="1600" dirty="0"/>
          </a:p>
        </p:txBody>
      </p:sp>
      <p:sp>
        <p:nvSpPr>
          <p:cNvPr id="23" name="Shape 18"/>
          <p:cNvSpPr/>
          <p:nvPr/>
        </p:nvSpPr>
        <p:spPr>
          <a:xfrm>
            <a:off x="6309360" y="5349240"/>
            <a:ext cx="548640" cy="548640"/>
          </a:xfrm>
          <a:prstGeom prst="ellipse">
            <a:avLst/>
          </a:prstGeom>
          <a:solidFill>
            <a:srgbClr val="0B7A75"/>
          </a:solidFill>
          <a:ln w="12700">
            <a:solidFill>
              <a:srgbClr val="0B7A75"/>
            </a:solidFill>
            <a:prstDash val="solid"/>
          </a:ln>
        </p:spPr>
      </p:sp>
      <p:pic>
        <p:nvPicPr>
          <p:cNvPr id="24" name="Image 3" descr="FaTags"/>
          <p:cNvPicPr>
            <a:picLocks noChangeAspect="1"/>
          </p:cNvPicPr>
          <p:nvPr/>
        </p:nvPicPr>
        <p:blipFill>
          <a:blip r:embed="rId6"/>
          <a:stretch>
            <a:fillRect/>
          </a:stretch>
        </p:blipFill>
        <p:spPr>
          <a:xfrm>
            <a:off x="6446520" y="5486400"/>
            <a:ext cx="274320" cy="274320"/>
          </a:xfrm>
          <a:prstGeom prst="rect">
            <a:avLst/>
          </a:prstGeom>
        </p:spPr>
      </p:pic>
      <p:sp>
        <p:nvSpPr>
          <p:cNvPr id="25" name="Text 19"/>
          <p:cNvSpPr txBox="1"/>
          <p:nvPr/>
        </p:nvSpPr>
        <p:spPr>
          <a:xfrm>
            <a:off x="7040880" y="5349240"/>
            <a:ext cx="4389120" cy="548640"/>
          </a:xfrm>
          <a:prstGeom prst="rect">
            <a:avLst/>
          </a:prstGeom>
          <a:noFill/>
          <a:ln/>
        </p:spPr>
        <p:txBody>
          <a:bodyPr wrap="square" lIns="0" tIns="0" rIns="0" bIns="0" rtlCol="0" anchor="ctr"/>
          <a:lstStyle/>
          <a:p>
            <a:pPr marL="0" indent="0">
              <a:buNone/>
            </a:pPr>
            <a:r>
              <a:rPr lang="en-US" sz="1600" dirty="0">
                <a:solidFill>
                  <a:schemeClr val="tx1"/>
                </a:solidFill>
              </a:rPr>
              <a:t>Infer sentiment per aspect from its local context</a:t>
            </a:r>
            <a:endParaRPr lang="en-US" sz="1600" dirty="0"/>
          </a:p>
        </p:txBody>
      </p:sp>
      <p:sp>
        <p:nvSpPr>
          <p:cNvPr id="26"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7480"/>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Objectives</a:t>
            </a:r>
            <a:endParaRPr lang="en-US" sz="3400" dirty="0"/>
          </a:p>
        </p:txBody>
      </p:sp>
      <p:sp>
        <p:nvSpPr>
          <p:cNvPr id="3" name="Shape 1"/>
          <p:cNvSpPr/>
          <p:nvPr/>
        </p:nvSpPr>
        <p:spPr>
          <a:xfrm>
            <a:off x="548640" y="1463040"/>
            <a:ext cx="3566160" cy="2240280"/>
          </a:xfrm>
          <a:prstGeom prst="roundRect">
            <a:avLst>
              <a:gd name="adj" fmla="val 3265"/>
            </a:avLst>
          </a:prstGeom>
          <a:solidFill>
            <a:schemeClr val="bg2"/>
          </a:solidFill>
          <a:ln w="12700">
            <a:solidFill>
              <a:schemeClr val="bg2"/>
            </a:solidFill>
            <a:prstDash val="solid"/>
          </a:ln>
        </p:spPr>
      </p:sp>
      <p:sp>
        <p:nvSpPr>
          <p:cNvPr id="4" name="Shape 2"/>
          <p:cNvSpPr/>
          <p:nvPr/>
        </p:nvSpPr>
        <p:spPr>
          <a:xfrm>
            <a:off x="777240" y="1691640"/>
            <a:ext cx="640080" cy="640080"/>
          </a:xfrm>
          <a:prstGeom prst="ellipse">
            <a:avLst/>
          </a:prstGeom>
          <a:solidFill>
            <a:srgbClr val="0B7A75"/>
          </a:solidFill>
          <a:ln w="12700">
            <a:solidFill>
              <a:srgbClr val="0B7A75"/>
            </a:solidFill>
            <a:prstDash val="solid"/>
          </a:ln>
        </p:spPr>
      </p:sp>
      <p:pic>
        <p:nvPicPr>
          <p:cNvPr id="5" name="Image 0" descr="FaFilter"/>
          <p:cNvPicPr>
            <a:picLocks noChangeAspect="1"/>
          </p:cNvPicPr>
          <p:nvPr/>
        </p:nvPicPr>
        <p:blipFill>
          <a:blip r:embed="rId3"/>
          <a:stretch>
            <a:fillRect/>
          </a:stretch>
        </p:blipFill>
        <p:spPr>
          <a:xfrm>
            <a:off x="937260" y="1851660"/>
            <a:ext cx="320040" cy="320040"/>
          </a:xfrm>
          <a:prstGeom prst="rect">
            <a:avLst/>
          </a:prstGeom>
        </p:spPr>
      </p:pic>
      <p:sp>
        <p:nvSpPr>
          <p:cNvPr id="6" name="Text 3"/>
          <p:cNvSpPr txBox="1"/>
          <p:nvPr/>
        </p:nvSpPr>
        <p:spPr>
          <a:xfrm>
            <a:off x="3474720" y="1645920"/>
            <a:ext cx="457200" cy="457200"/>
          </a:xfrm>
          <a:prstGeom prst="rect">
            <a:avLst/>
          </a:prstGeom>
          <a:noFill/>
          <a:ln/>
        </p:spPr>
        <p:txBody>
          <a:bodyPr wrap="square" lIns="0" tIns="0" rIns="0" bIns="0" rtlCol="0" anchor="t"/>
          <a:lstStyle/>
          <a:p>
            <a:pPr marL="0" indent="0" algn="r">
              <a:buNone/>
            </a:pPr>
            <a:r>
              <a:rPr lang="en-US" sz="2800" b="1" dirty="0">
                <a:solidFill>
                  <a:schemeClr val="accent6"/>
                </a:solidFill>
              </a:rPr>
              <a:t>1</a:t>
            </a:r>
            <a:endParaRPr lang="en-US" sz="2800" dirty="0"/>
          </a:p>
        </p:txBody>
      </p:sp>
      <p:sp>
        <p:nvSpPr>
          <p:cNvPr id="7" name="Text 4"/>
          <p:cNvSpPr txBox="1"/>
          <p:nvPr/>
        </p:nvSpPr>
        <p:spPr>
          <a:xfrm>
            <a:off x="777240" y="2468880"/>
            <a:ext cx="3108960" cy="365760"/>
          </a:xfrm>
          <a:prstGeom prst="rect">
            <a:avLst/>
          </a:prstGeom>
          <a:noFill/>
          <a:ln/>
        </p:spPr>
        <p:txBody>
          <a:bodyPr wrap="square" lIns="0" tIns="0" rIns="0" bIns="0" rtlCol="0" anchor="t"/>
          <a:lstStyle/>
          <a:p>
            <a:pPr marL="0" indent="0">
              <a:buNone/>
            </a:pPr>
            <a:r>
              <a:rPr lang="en-US" sz="1800" b="1" dirty="0">
                <a:solidFill>
                  <a:schemeClr val="tx2"/>
                </a:solidFill>
              </a:rPr>
              <a:t>Preprocess &amp; explore</a:t>
            </a:r>
            <a:endParaRPr lang="en-US" sz="1800" dirty="0"/>
          </a:p>
        </p:txBody>
      </p:sp>
      <p:sp>
        <p:nvSpPr>
          <p:cNvPr id="8" name="Text 5"/>
          <p:cNvSpPr txBox="1"/>
          <p:nvPr/>
        </p:nvSpPr>
        <p:spPr>
          <a:xfrm>
            <a:off x="777240" y="2880360"/>
            <a:ext cx="3108960" cy="731520"/>
          </a:xfrm>
          <a:prstGeom prst="rect">
            <a:avLst/>
          </a:prstGeom>
          <a:noFill/>
          <a:ln/>
        </p:spPr>
        <p:txBody>
          <a:bodyPr wrap="square" lIns="0" tIns="0" rIns="0" bIns="0" rtlCol="0" anchor="t"/>
          <a:lstStyle/>
          <a:p>
            <a:pPr marL="0" indent="0">
              <a:buNone/>
            </a:pPr>
            <a:r>
              <a:rPr lang="en-US" sz="1400" dirty="0">
                <a:solidFill>
                  <a:schemeClr val="tx1"/>
                </a:solidFill>
              </a:rPr>
              <a:t>Clean the text; study sentiment, aspects and review length.</a:t>
            </a:r>
            <a:endParaRPr lang="en-US" sz="1400" dirty="0"/>
          </a:p>
        </p:txBody>
      </p:sp>
      <p:sp>
        <p:nvSpPr>
          <p:cNvPr id="9" name="Shape 6"/>
          <p:cNvSpPr/>
          <p:nvPr/>
        </p:nvSpPr>
        <p:spPr>
          <a:xfrm>
            <a:off x="4297680" y="1463040"/>
            <a:ext cx="3566160" cy="2240280"/>
          </a:xfrm>
          <a:prstGeom prst="roundRect">
            <a:avLst>
              <a:gd name="adj" fmla="val 3265"/>
            </a:avLst>
          </a:prstGeom>
          <a:solidFill>
            <a:schemeClr val="bg2"/>
          </a:solidFill>
          <a:ln w="12700">
            <a:solidFill>
              <a:schemeClr val="bg2"/>
            </a:solidFill>
            <a:prstDash val="solid"/>
          </a:ln>
        </p:spPr>
      </p:sp>
      <p:sp>
        <p:nvSpPr>
          <p:cNvPr id="10" name="Shape 7"/>
          <p:cNvSpPr/>
          <p:nvPr/>
        </p:nvSpPr>
        <p:spPr>
          <a:xfrm>
            <a:off x="4526280" y="1691640"/>
            <a:ext cx="640080" cy="640080"/>
          </a:xfrm>
          <a:prstGeom prst="ellipse">
            <a:avLst/>
          </a:prstGeom>
          <a:solidFill>
            <a:srgbClr val="0B7A75"/>
          </a:solidFill>
          <a:ln w="12700">
            <a:solidFill>
              <a:srgbClr val="0B7A75"/>
            </a:solidFill>
            <a:prstDash val="solid"/>
          </a:ln>
        </p:spPr>
      </p:sp>
      <p:pic>
        <p:nvPicPr>
          <p:cNvPr id="11" name="Image 1" descr="FaFont"/>
          <p:cNvPicPr>
            <a:picLocks noChangeAspect="1"/>
          </p:cNvPicPr>
          <p:nvPr/>
        </p:nvPicPr>
        <p:blipFill>
          <a:blip r:embed="rId4"/>
          <a:stretch>
            <a:fillRect/>
          </a:stretch>
        </p:blipFill>
        <p:spPr>
          <a:xfrm>
            <a:off x="4686300" y="1851660"/>
            <a:ext cx="320040" cy="320040"/>
          </a:xfrm>
          <a:prstGeom prst="rect">
            <a:avLst/>
          </a:prstGeom>
        </p:spPr>
      </p:pic>
      <p:sp>
        <p:nvSpPr>
          <p:cNvPr id="12" name="Text 8"/>
          <p:cNvSpPr txBox="1"/>
          <p:nvPr/>
        </p:nvSpPr>
        <p:spPr>
          <a:xfrm>
            <a:off x="7223760" y="1645920"/>
            <a:ext cx="457200" cy="457200"/>
          </a:xfrm>
          <a:prstGeom prst="rect">
            <a:avLst/>
          </a:prstGeom>
          <a:noFill/>
          <a:ln/>
        </p:spPr>
        <p:txBody>
          <a:bodyPr wrap="square" lIns="0" tIns="0" rIns="0" bIns="0" rtlCol="0" anchor="t"/>
          <a:lstStyle/>
          <a:p>
            <a:pPr marL="0" indent="0" algn="r">
              <a:buNone/>
            </a:pPr>
            <a:r>
              <a:rPr lang="en-US" sz="2800" b="1" dirty="0">
                <a:solidFill>
                  <a:schemeClr val="accent6"/>
                </a:solidFill>
              </a:rPr>
              <a:t>2</a:t>
            </a:r>
            <a:endParaRPr lang="en-US" sz="2800" dirty="0"/>
          </a:p>
        </p:txBody>
      </p:sp>
      <p:sp>
        <p:nvSpPr>
          <p:cNvPr id="13" name="Text 9"/>
          <p:cNvSpPr txBox="1"/>
          <p:nvPr/>
        </p:nvSpPr>
        <p:spPr>
          <a:xfrm>
            <a:off x="4526280" y="2468880"/>
            <a:ext cx="3108960" cy="365760"/>
          </a:xfrm>
          <a:prstGeom prst="rect">
            <a:avLst/>
          </a:prstGeom>
          <a:noFill/>
          <a:ln/>
        </p:spPr>
        <p:txBody>
          <a:bodyPr wrap="square" lIns="0" tIns="0" rIns="0" bIns="0" rtlCol="0" anchor="t"/>
          <a:lstStyle/>
          <a:p>
            <a:pPr marL="0" indent="0">
              <a:buNone/>
            </a:pPr>
            <a:r>
              <a:rPr lang="en-US" sz="1800" b="1" dirty="0">
                <a:solidFill>
                  <a:schemeClr val="tx2"/>
                </a:solidFill>
              </a:rPr>
              <a:t>TF-IDF features</a:t>
            </a:r>
            <a:endParaRPr lang="en-US" sz="1800" dirty="0"/>
          </a:p>
        </p:txBody>
      </p:sp>
      <p:sp>
        <p:nvSpPr>
          <p:cNvPr id="14" name="Text 10"/>
          <p:cNvSpPr txBox="1"/>
          <p:nvPr/>
        </p:nvSpPr>
        <p:spPr>
          <a:xfrm>
            <a:off x="4526280" y="2880360"/>
            <a:ext cx="3108960" cy="731520"/>
          </a:xfrm>
          <a:prstGeom prst="rect">
            <a:avLst/>
          </a:prstGeom>
          <a:noFill/>
          <a:ln/>
        </p:spPr>
        <p:txBody>
          <a:bodyPr wrap="square" lIns="0" tIns="0" rIns="0" bIns="0" rtlCol="0" anchor="t"/>
          <a:lstStyle/>
          <a:p>
            <a:pPr marL="0" indent="0">
              <a:buNone/>
            </a:pPr>
            <a:r>
              <a:rPr lang="en-US" sz="1400" dirty="0">
                <a:solidFill>
                  <a:schemeClr val="tx1"/>
                </a:solidFill>
              </a:rPr>
              <a:t>Represent reviews with unigrams and bigrams.</a:t>
            </a:r>
            <a:endParaRPr lang="en-US" sz="1400" dirty="0"/>
          </a:p>
        </p:txBody>
      </p:sp>
      <p:sp>
        <p:nvSpPr>
          <p:cNvPr id="15" name="Shape 11"/>
          <p:cNvSpPr/>
          <p:nvPr/>
        </p:nvSpPr>
        <p:spPr>
          <a:xfrm>
            <a:off x="8046720" y="1463040"/>
            <a:ext cx="3566160" cy="2240280"/>
          </a:xfrm>
          <a:prstGeom prst="roundRect">
            <a:avLst>
              <a:gd name="adj" fmla="val 3265"/>
            </a:avLst>
          </a:prstGeom>
          <a:solidFill>
            <a:schemeClr val="bg2"/>
          </a:solidFill>
          <a:ln w="12700">
            <a:solidFill>
              <a:schemeClr val="bg2"/>
            </a:solidFill>
            <a:prstDash val="solid"/>
          </a:ln>
        </p:spPr>
      </p:sp>
      <p:sp>
        <p:nvSpPr>
          <p:cNvPr id="16" name="Shape 12"/>
          <p:cNvSpPr/>
          <p:nvPr/>
        </p:nvSpPr>
        <p:spPr>
          <a:xfrm>
            <a:off x="8275320" y="1691640"/>
            <a:ext cx="640080" cy="640080"/>
          </a:xfrm>
          <a:prstGeom prst="ellipse">
            <a:avLst/>
          </a:prstGeom>
          <a:solidFill>
            <a:srgbClr val="F2A33A"/>
          </a:solidFill>
          <a:ln w="12700">
            <a:solidFill>
              <a:srgbClr val="F2A33A"/>
            </a:solidFill>
            <a:prstDash val="solid"/>
          </a:ln>
        </p:spPr>
      </p:sp>
      <p:pic>
        <p:nvPicPr>
          <p:cNvPr id="17" name="Image 2" descr="FaTags"/>
          <p:cNvPicPr>
            <a:picLocks noChangeAspect="1"/>
          </p:cNvPicPr>
          <p:nvPr/>
        </p:nvPicPr>
        <p:blipFill>
          <a:blip r:embed="rId5"/>
          <a:stretch>
            <a:fillRect/>
          </a:stretch>
        </p:blipFill>
        <p:spPr>
          <a:xfrm>
            <a:off x="8435340" y="1851660"/>
            <a:ext cx="320040" cy="320040"/>
          </a:xfrm>
          <a:prstGeom prst="rect">
            <a:avLst/>
          </a:prstGeom>
        </p:spPr>
      </p:pic>
      <p:sp>
        <p:nvSpPr>
          <p:cNvPr id="18" name="Text 13"/>
          <p:cNvSpPr txBox="1"/>
          <p:nvPr/>
        </p:nvSpPr>
        <p:spPr>
          <a:xfrm>
            <a:off x="10972800" y="1645920"/>
            <a:ext cx="457200" cy="457200"/>
          </a:xfrm>
          <a:prstGeom prst="rect">
            <a:avLst/>
          </a:prstGeom>
          <a:noFill/>
          <a:ln/>
        </p:spPr>
        <p:txBody>
          <a:bodyPr wrap="square" lIns="0" tIns="0" rIns="0" bIns="0" rtlCol="0" anchor="t"/>
          <a:lstStyle/>
          <a:p>
            <a:pPr marL="0" indent="0" algn="r">
              <a:buNone/>
            </a:pPr>
            <a:r>
              <a:rPr lang="en-US" sz="2800" b="1" dirty="0">
                <a:solidFill>
                  <a:schemeClr val="accent6"/>
                </a:solidFill>
              </a:rPr>
              <a:t>3</a:t>
            </a:r>
            <a:endParaRPr lang="en-US" sz="2800" dirty="0"/>
          </a:p>
        </p:txBody>
      </p:sp>
      <p:sp>
        <p:nvSpPr>
          <p:cNvPr id="19" name="Text 14"/>
          <p:cNvSpPr txBox="1"/>
          <p:nvPr/>
        </p:nvSpPr>
        <p:spPr>
          <a:xfrm>
            <a:off x="8275320" y="2468880"/>
            <a:ext cx="3108960" cy="365760"/>
          </a:xfrm>
          <a:prstGeom prst="rect">
            <a:avLst/>
          </a:prstGeom>
          <a:noFill/>
          <a:ln/>
        </p:spPr>
        <p:txBody>
          <a:bodyPr wrap="square" lIns="0" tIns="0" rIns="0" bIns="0" rtlCol="0" anchor="t"/>
          <a:lstStyle/>
          <a:p>
            <a:pPr marL="0" indent="0">
              <a:buNone/>
            </a:pPr>
            <a:r>
              <a:rPr lang="en-US" sz="1800" b="1" dirty="0">
                <a:solidFill>
                  <a:schemeClr val="tx2"/>
                </a:solidFill>
              </a:rPr>
              <a:t>Aspect detection</a:t>
            </a:r>
            <a:endParaRPr lang="en-US" sz="1800" dirty="0"/>
          </a:p>
        </p:txBody>
      </p:sp>
      <p:sp>
        <p:nvSpPr>
          <p:cNvPr id="20" name="Text 15"/>
          <p:cNvSpPr txBox="1"/>
          <p:nvPr/>
        </p:nvSpPr>
        <p:spPr>
          <a:xfrm>
            <a:off x="8275320" y="2880360"/>
            <a:ext cx="3108960" cy="731520"/>
          </a:xfrm>
          <a:prstGeom prst="rect">
            <a:avLst/>
          </a:prstGeom>
          <a:noFill/>
          <a:ln/>
        </p:spPr>
        <p:txBody>
          <a:bodyPr wrap="square" lIns="0" tIns="0" rIns="0" bIns="0" rtlCol="0" anchor="t"/>
          <a:lstStyle/>
          <a:p>
            <a:pPr marL="0" indent="0">
              <a:buNone/>
            </a:pPr>
            <a:r>
              <a:rPr lang="en-US" sz="1400" dirty="0">
                <a:solidFill>
                  <a:schemeClr val="tx1"/>
                </a:solidFill>
              </a:rPr>
              <a:t>Multi-label detection with One-vs-Rest Linear SVM.</a:t>
            </a:r>
            <a:endParaRPr lang="en-US" sz="1400" dirty="0"/>
          </a:p>
        </p:txBody>
      </p:sp>
      <p:sp>
        <p:nvSpPr>
          <p:cNvPr id="21" name="Shape 16"/>
          <p:cNvSpPr/>
          <p:nvPr/>
        </p:nvSpPr>
        <p:spPr>
          <a:xfrm>
            <a:off x="548640" y="3931920"/>
            <a:ext cx="3566160" cy="2240280"/>
          </a:xfrm>
          <a:prstGeom prst="roundRect">
            <a:avLst>
              <a:gd name="adj" fmla="val 3265"/>
            </a:avLst>
          </a:prstGeom>
          <a:solidFill>
            <a:schemeClr val="bg2"/>
          </a:solidFill>
          <a:ln w="12700">
            <a:solidFill>
              <a:schemeClr val="bg2"/>
            </a:solidFill>
            <a:prstDash val="solid"/>
          </a:ln>
        </p:spPr>
      </p:sp>
      <p:sp>
        <p:nvSpPr>
          <p:cNvPr id="22" name="Shape 17"/>
          <p:cNvSpPr/>
          <p:nvPr/>
        </p:nvSpPr>
        <p:spPr>
          <a:xfrm>
            <a:off x="777240" y="4160520"/>
            <a:ext cx="640080" cy="640080"/>
          </a:xfrm>
          <a:prstGeom prst="ellipse">
            <a:avLst/>
          </a:prstGeom>
          <a:solidFill>
            <a:srgbClr val="0B7A75"/>
          </a:solidFill>
          <a:ln w="12700">
            <a:solidFill>
              <a:srgbClr val="0B7A75"/>
            </a:solidFill>
            <a:prstDash val="solid"/>
          </a:ln>
        </p:spPr>
      </p:sp>
      <p:pic>
        <p:nvPicPr>
          <p:cNvPr id="23" name="Image 3" descr="FaSmile"/>
          <p:cNvPicPr>
            <a:picLocks noChangeAspect="1"/>
          </p:cNvPicPr>
          <p:nvPr/>
        </p:nvPicPr>
        <p:blipFill>
          <a:blip r:embed="rId6"/>
          <a:stretch>
            <a:fillRect/>
          </a:stretch>
        </p:blipFill>
        <p:spPr>
          <a:xfrm>
            <a:off x="937260" y="4320540"/>
            <a:ext cx="320040" cy="320040"/>
          </a:xfrm>
          <a:prstGeom prst="rect">
            <a:avLst/>
          </a:prstGeom>
        </p:spPr>
      </p:pic>
      <p:sp>
        <p:nvSpPr>
          <p:cNvPr id="24" name="Text 18"/>
          <p:cNvSpPr txBox="1"/>
          <p:nvPr/>
        </p:nvSpPr>
        <p:spPr>
          <a:xfrm>
            <a:off x="3474720" y="4114800"/>
            <a:ext cx="457200" cy="457200"/>
          </a:xfrm>
          <a:prstGeom prst="rect">
            <a:avLst/>
          </a:prstGeom>
          <a:noFill/>
          <a:ln/>
        </p:spPr>
        <p:txBody>
          <a:bodyPr wrap="square" lIns="0" tIns="0" rIns="0" bIns="0" rtlCol="0" anchor="t"/>
          <a:lstStyle/>
          <a:p>
            <a:pPr marL="0" indent="0" algn="r">
              <a:buNone/>
            </a:pPr>
            <a:r>
              <a:rPr lang="en-US" sz="2800" b="1" dirty="0">
                <a:solidFill>
                  <a:schemeClr val="accent6"/>
                </a:solidFill>
              </a:rPr>
              <a:t>4</a:t>
            </a:r>
            <a:endParaRPr lang="en-US" sz="2800" dirty="0"/>
          </a:p>
        </p:txBody>
      </p:sp>
      <p:sp>
        <p:nvSpPr>
          <p:cNvPr id="25" name="Text 19"/>
          <p:cNvSpPr txBox="1"/>
          <p:nvPr/>
        </p:nvSpPr>
        <p:spPr>
          <a:xfrm>
            <a:off x="777240" y="4937760"/>
            <a:ext cx="3108960" cy="365760"/>
          </a:xfrm>
          <a:prstGeom prst="rect">
            <a:avLst/>
          </a:prstGeom>
          <a:noFill/>
          <a:ln/>
        </p:spPr>
        <p:txBody>
          <a:bodyPr wrap="square" lIns="0" tIns="0" rIns="0" bIns="0" rtlCol="0" anchor="t"/>
          <a:lstStyle/>
          <a:p>
            <a:pPr marL="0" indent="0">
              <a:buNone/>
            </a:pPr>
            <a:r>
              <a:rPr lang="en-US" sz="1800" b="1" dirty="0">
                <a:solidFill>
                  <a:schemeClr val="tx2"/>
                </a:solidFill>
              </a:rPr>
              <a:t>Sentiment classification</a:t>
            </a:r>
            <a:endParaRPr lang="en-US" sz="1800" dirty="0"/>
          </a:p>
        </p:txBody>
      </p:sp>
      <p:sp>
        <p:nvSpPr>
          <p:cNvPr id="26" name="Text 20"/>
          <p:cNvSpPr txBox="1"/>
          <p:nvPr/>
        </p:nvSpPr>
        <p:spPr>
          <a:xfrm>
            <a:off x="777240" y="5349240"/>
            <a:ext cx="3108960" cy="731520"/>
          </a:xfrm>
          <a:prstGeom prst="rect">
            <a:avLst/>
          </a:prstGeom>
          <a:noFill/>
          <a:ln/>
        </p:spPr>
        <p:txBody>
          <a:bodyPr wrap="square" lIns="0" tIns="0" rIns="0" bIns="0" rtlCol="0" anchor="t"/>
          <a:lstStyle/>
          <a:p>
            <a:pPr marL="0" indent="0">
              <a:buNone/>
            </a:pPr>
            <a:r>
              <a:rPr lang="en-US" sz="1400" dirty="0">
                <a:solidFill>
                  <a:schemeClr val="tx1"/>
                </a:solidFill>
              </a:rPr>
              <a:t>Positive / Negative / Neutral with Logistic Regression.</a:t>
            </a:r>
            <a:endParaRPr lang="en-US" sz="1400" dirty="0"/>
          </a:p>
        </p:txBody>
      </p:sp>
      <p:sp>
        <p:nvSpPr>
          <p:cNvPr id="27" name="Shape 21"/>
          <p:cNvSpPr/>
          <p:nvPr/>
        </p:nvSpPr>
        <p:spPr>
          <a:xfrm>
            <a:off x="4297680" y="3931920"/>
            <a:ext cx="3566160" cy="2240280"/>
          </a:xfrm>
          <a:prstGeom prst="roundRect">
            <a:avLst>
              <a:gd name="adj" fmla="val 3265"/>
            </a:avLst>
          </a:prstGeom>
          <a:solidFill>
            <a:schemeClr val="bg2"/>
          </a:solidFill>
          <a:ln w="12700">
            <a:solidFill>
              <a:schemeClr val="bg2"/>
            </a:solidFill>
            <a:prstDash val="solid"/>
          </a:ln>
        </p:spPr>
      </p:sp>
      <p:sp>
        <p:nvSpPr>
          <p:cNvPr id="28" name="Shape 22"/>
          <p:cNvSpPr/>
          <p:nvPr/>
        </p:nvSpPr>
        <p:spPr>
          <a:xfrm>
            <a:off x="4526280" y="4160520"/>
            <a:ext cx="640080" cy="640080"/>
          </a:xfrm>
          <a:prstGeom prst="ellipse">
            <a:avLst/>
          </a:prstGeom>
          <a:solidFill>
            <a:srgbClr val="F2A33A"/>
          </a:solidFill>
          <a:ln w="12700">
            <a:solidFill>
              <a:srgbClr val="F2A33A"/>
            </a:solidFill>
            <a:prstDash val="solid"/>
          </a:ln>
        </p:spPr>
      </p:sp>
      <p:pic>
        <p:nvPicPr>
          <p:cNvPr id="29" name="Image 4" descr="FaProjectDiagram"/>
          <p:cNvPicPr>
            <a:picLocks noChangeAspect="1"/>
          </p:cNvPicPr>
          <p:nvPr/>
        </p:nvPicPr>
        <p:blipFill>
          <a:blip r:embed="rId7"/>
          <a:stretch>
            <a:fillRect/>
          </a:stretch>
        </p:blipFill>
        <p:spPr>
          <a:xfrm>
            <a:off x="4686300" y="4320540"/>
            <a:ext cx="320040" cy="320040"/>
          </a:xfrm>
          <a:prstGeom prst="rect">
            <a:avLst/>
          </a:prstGeom>
        </p:spPr>
      </p:pic>
      <p:sp>
        <p:nvSpPr>
          <p:cNvPr id="30" name="Text 23"/>
          <p:cNvSpPr txBox="1"/>
          <p:nvPr/>
        </p:nvSpPr>
        <p:spPr>
          <a:xfrm>
            <a:off x="7223760" y="4114800"/>
            <a:ext cx="457200" cy="457200"/>
          </a:xfrm>
          <a:prstGeom prst="rect">
            <a:avLst/>
          </a:prstGeom>
          <a:noFill/>
          <a:ln/>
        </p:spPr>
        <p:txBody>
          <a:bodyPr wrap="square" lIns="0" tIns="0" rIns="0" bIns="0" rtlCol="0" anchor="t"/>
          <a:lstStyle/>
          <a:p>
            <a:pPr marL="0" indent="0" algn="r">
              <a:buNone/>
            </a:pPr>
            <a:r>
              <a:rPr lang="en-US" sz="2800" b="1" dirty="0">
                <a:solidFill>
                  <a:schemeClr val="accent6"/>
                </a:solidFill>
              </a:rPr>
              <a:t>5</a:t>
            </a:r>
            <a:endParaRPr lang="en-US" sz="2800" dirty="0"/>
          </a:p>
        </p:txBody>
      </p:sp>
      <p:sp>
        <p:nvSpPr>
          <p:cNvPr id="31" name="Text 24"/>
          <p:cNvSpPr txBox="1"/>
          <p:nvPr/>
        </p:nvSpPr>
        <p:spPr>
          <a:xfrm>
            <a:off x="4526280" y="4937760"/>
            <a:ext cx="3108960" cy="365760"/>
          </a:xfrm>
          <a:prstGeom prst="rect">
            <a:avLst/>
          </a:prstGeom>
          <a:noFill/>
          <a:ln/>
        </p:spPr>
        <p:txBody>
          <a:bodyPr wrap="square" lIns="0" tIns="0" rIns="0" bIns="0" rtlCol="0" anchor="t"/>
          <a:lstStyle/>
          <a:p>
            <a:pPr marL="0" indent="0">
              <a:buNone/>
            </a:pPr>
            <a:r>
              <a:rPr lang="en-US" sz="1800" b="1" dirty="0">
                <a:solidFill>
                  <a:schemeClr val="tx2"/>
                </a:solidFill>
              </a:rPr>
              <a:t>Aspect-level sentiment</a:t>
            </a:r>
            <a:endParaRPr lang="en-US" sz="1800" dirty="0"/>
          </a:p>
        </p:txBody>
      </p:sp>
      <p:sp>
        <p:nvSpPr>
          <p:cNvPr id="32" name="Text 25"/>
          <p:cNvSpPr txBox="1"/>
          <p:nvPr/>
        </p:nvSpPr>
        <p:spPr>
          <a:xfrm>
            <a:off x="4526280" y="5349240"/>
            <a:ext cx="3108960" cy="731520"/>
          </a:xfrm>
          <a:prstGeom prst="rect">
            <a:avLst/>
          </a:prstGeom>
          <a:noFill/>
          <a:ln/>
        </p:spPr>
        <p:txBody>
          <a:bodyPr wrap="square" lIns="0" tIns="0" rIns="0" bIns="0" rtlCol="0" anchor="t"/>
          <a:lstStyle/>
          <a:p>
            <a:pPr marL="0" indent="0">
              <a:buNone/>
            </a:pPr>
            <a:r>
              <a:rPr lang="en-US" sz="1400" dirty="0">
                <a:solidFill>
                  <a:schemeClr val="tx1"/>
                </a:solidFill>
              </a:rPr>
              <a:t>Extract local context and infer sentiment per aspect.</a:t>
            </a:r>
            <a:endParaRPr lang="en-US" sz="1400" dirty="0"/>
          </a:p>
        </p:txBody>
      </p:sp>
      <p:sp>
        <p:nvSpPr>
          <p:cNvPr id="33" name="Shape 26"/>
          <p:cNvSpPr/>
          <p:nvPr/>
        </p:nvSpPr>
        <p:spPr>
          <a:xfrm>
            <a:off x="8046720" y="3931920"/>
            <a:ext cx="3566160" cy="2240280"/>
          </a:xfrm>
          <a:prstGeom prst="roundRect">
            <a:avLst>
              <a:gd name="adj" fmla="val 3265"/>
            </a:avLst>
          </a:prstGeom>
          <a:solidFill>
            <a:schemeClr val="bg2"/>
          </a:solidFill>
          <a:ln w="12700">
            <a:solidFill>
              <a:schemeClr val="bg2"/>
            </a:solidFill>
            <a:prstDash val="solid"/>
          </a:ln>
        </p:spPr>
      </p:sp>
      <p:sp>
        <p:nvSpPr>
          <p:cNvPr id="34" name="Shape 27"/>
          <p:cNvSpPr/>
          <p:nvPr/>
        </p:nvSpPr>
        <p:spPr>
          <a:xfrm>
            <a:off x="8275320" y="4160520"/>
            <a:ext cx="640080" cy="640080"/>
          </a:xfrm>
          <a:prstGeom prst="ellipse">
            <a:avLst/>
          </a:prstGeom>
          <a:solidFill>
            <a:srgbClr val="0B7A75"/>
          </a:solidFill>
          <a:ln w="12700">
            <a:solidFill>
              <a:srgbClr val="0B7A75"/>
            </a:solidFill>
            <a:prstDash val="solid"/>
          </a:ln>
        </p:spPr>
      </p:sp>
      <p:pic>
        <p:nvPicPr>
          <p:cNvPr id="35" name="Image 5" descr="FaChartBar"/>
          <p:cNvPicPr>
            <a:picLocks noChangeAspect="1"/>
          </p:cNvPicPr>
          <p:nvPr/>
        </p:nvPicPr>
        <p:blipFill>
          <a:blip r:embed="rId8"/>
          <a:stretch>
            <a:fillRect/>
          </a:stretch>
        </p:blipFill>
        <p:spPr>
          <a:xfrm>
            <a:off x="8435340" y="4320540"/>
            <a:ext cx="320040" cy="320040"/>
          </a:xfrm>
          <a:prstGeom prst="rect">
            <a:avLst/>
          </a:prstGeom>
        </p:spPr>
      </p:pic>
      <p:sp>
        <p:nvSpPr>
          <p:cNvPr id="36" name="Text 28"/>
          <p:cNvSpPr txBox="1"/>
          <p:nvPr/>
        </p:nvSpPr>
        <p:spPr>
          <a:xfrm>
            <a:off x="10972800" y="4114800"/>
            <a:ext cx="457200" cy="457200"/>
          </a:xfrm>
          <a:prstGeom prst="rect">
            <a:avLst/>
          </a:prstGeom>
          <a:noFill/>
          <a:ln/>
        </p:spPr>
        <p:txBody>
          <a:bodyPr wrap="square" lIns="0" tIns="0" rIns="0" bIns="0" rtlCol="0" anchor="t"/>
          <a:lstStyle/>
          <a:p>
            <a:pPr marL="0" indent="0" algn="r">
              <a:buNone/>
            </a:pPr>
            <a:r>
              <a:rPr lang="en-US" sz="2800" b="1" dirty="0">
                <a:solidFill>
                  <a:schemeClr val="accent6"/>
                </a:solidFill>
              </a:rPr>
              <a:t>6</a:t>
            </a:r>
            <a:endParaRPr lang="en-US" sz="2800" dirty="0"/>
          </a:p>
        </p:txBody>
      </p:sp>
      <p:sp>
        <p:nvSpPr>
          <p:cNvPr id="37" name="Text 29"/>
          <p:cNvSpPr txBox="1"/>
          <p:nvPr/>
        </p:nvSpPr>
        <p:spPr>
          <a:xfrm>
            <a:off x="8275320" y="4937760"/>
            <a:ext cx="3108960" cy="365760"/>
          </a:xfrm>
          <a:prstGeom prst="rect">
            <a:avLst/>
          </a:prstGeom>
          <a:noFill/>
          <a:ln/>
        </p:spPr>
        <p:txBody>
          <a:bodyPr wrap="square" lIns="0" tIns="0" rIns="0" bIns="0" rtlCol="0" anchor="t"/>
          <a:lstStyle/>
          <a:p>
            <a:pPr marL="0" indent="0">
              <a:buNone/>
            </a:pPr>
            <a:r>
              <a:rPr lang="en-US" sz="1800" b="1" dirty="0">
                <a:solidFill>
                  <a:schemeClr val="tx2"/>
                </a:solidFill>
              </a:rPr>
              <a:t>Model evaluation</a:t>
            </a:r>
            <a:endParaRPr lang="en-US" sz="1800" dirty="0"/>
          </a:p>
        </p:txBody>
      </p:sp>
      <p:sp>
        <p:nvSpPr>
          <p:cNvPr id="38" name="Text 30"/>
          <p:cNvSpPr txBox="1"/>
          <p:nvPr/>
        </p:nvSpPr>
        <p:spPr>
          <a:xfrm>
            <a:off x="8275320" y="5349240"/>
            <a:ext cx="3108960" cy="731520"/>
          </a:xfrm>
          <a:prstGeom prst="rect">
            <a:avLst/>
          </a:prstGeom>
          <a:noFill/>
          <a:ln/>
        </p:spPr>
        <p:txBody>
          <a:bodyPr wrap="square" lIns="0" tIns="0" rIns="0" bIns="0" rtlCol="0" anchor="t"/>
          <a:lstStyle/>
          <a:p>
            <a:pPr marL="0" indent="0">
              <a:buNone/>
            </a:pPr>
            <a:r>
              <a:rPr lang="en-US" sz="1400" dirty="0">
                <a:solidFill>
                  <a:schemeClr val="tx1"/>
                </a:solidFill>
              </a:rPr>
              <a:t>Accuracy, Precision, Recall, F1, Micro / Macro F1, Hamming Loss.</a:t>
            </a:r>
            <a:endParaRPr lang="en-US" sz="1400" dirty="0"/>
          </a:p>
        </p:txBody>
      </p:sp>
      <p:sp>
        <p:nvSpPr>
          <p:cNvPr id="39"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7480"/>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Dataset &amp; Exploratory Analysis</a:t>
            </a:r>
            <a:endParaRPr lang="en-US" sz="3400" dirty="0"/>
          </a:p>
        </p:txBody>
      </p:sp>
      <p:sp>
        <p:nvSpPr>
          <p:cNvPr id="3" name="Text 1"/>
          <p:cNvSpPr txBox="1"/>
          <p:nvPr/>
        </p:nvSpPr>
        <p:spPr>
          <a:xfrm>
            <a:off x="548640" y="1188720"/>
            <a:ext cx="11064240" cy="365760"/>
          </a:xfrm>
          <a:prstGeom prst="rect">
            <a:avLst/>
          </a:prstGeom>
          <a:noFill/>
          <a:ln/>
        </p:spPr>
        <p:txBody>
          <a:bodyPr wrap="square" lIns="0" tIns="0" rIns="0" bIns="0" rtlCol="0" anchor="t"/>
          <a:lstStyle/>
          <a:p>
            <a:pPr marL="0" indent="0">
              <a:buNone/>
            </a:pPr>
            <a:r>
              <a:rPr lang="en-US" sz="1500" dirty="0">
                <a:solidFill>
                  <a:schemeClr val="accent5"/>
                </a:solidFill>
              </a:rPr>
              <a:t>HRAST (Hotel Review Aspect-Based Sentiment Analysis) dataset, after cleaning and duplicate removal</a:t>
            </a:r>
            <a:endParaRPr lang="en-US" sz="1500" dirty="0"/>
          </a:p>
        </p:txBody>
      </p:sp>
      <p:sp>
        <p:nvSpPr>
          <p:cNvPr id="4" name="Shape 2"/>
          <p:cNvSpPr/>
          <p:nvPr/>
        </p:nvSpPr>
        <p:spPr>
          <a:xfrm>
            <a:off x="548640" y="1783080"/>
            <a:ext cx="2651760" cy="1554480"/>
          </a:xfrm>
          <a:prstGeom prst="roundRect">
            <a:avLst>
              <a:gd name="adj" fmla="val 4706"/>
            </a:avLst>
          </a:prstGeom>
          <a:solidFill>
            <a:schemeClr val="bg2"/>
          </a:solidFill>
          <a:ln w="12700">
            <a:solidFill>
              <a:schemeClr val="bg2"/>
            </a:solidFill>
            <a:prstDash val="solid"/>
          </a:ln>
        </p:spPr>
      </p:sp>
      <p:sp>
        <p:nvSpPr>
          <p:cNvPr id="5" name="Text 3"/>
          <p:cNvSpPr txBox="1"/>
          <p:nvPr/>
        </p:nvSpPr>
        <p:spPr>
          <a:xfrm>
            <a:off x="548640" y="2031797"/>
            <a:ext cx="2651760" cy="652882"/>
          </a:xfrm>
          <a:prstGeom prst="rect">
            <a:avLst/>
          </a:prstGeom>
          <a:noFill/>
          <a:ln/>
        </p:spPr>
        <p:txBody>
          <a:bodyPr wrap="square" lIns="0" tIns="0" rIns="0" bIns="0" rtlCol="0" anchor="ctr"/>
          <a:lstStyle/>
          <a:p>
            <a:pPr marL="0" indent="0" algn="ctr">
              <a:buNone/>
            </a:pPr>
            <a:r>
              <a:rPr lang="en-US" sz="3000" b="1" dirty="0">
                <a:solidFill>
                  <a:schemeClr val="accent1"/>
                </a:solidFill>
              </a:rPr>
              <a:t>23,105</a:t>
            </a:r>
            <a:endParaRPr lang="en-US" sz="3000" dirty="0"/>
          </a:p>
        </p:txBody>
      </p:sp>
      <p:sp>
        <p:nvSpPr>
          <p:cNvPr id="6" name="Text 4"/>
          <p:cNvSpPr txBox="1"/>
          <p:nvPr/>
        </p:nvSpPr>
        <p:spPr>
          <a:xfrm>
            <a:off x="640080" y="2684678"/>
            <a:ext cx="2468880" cy="528523"/>
          </a:xfrm>
          <a:prstGeom prst="rect">
            <a:avLst/>
          </a:prstGeom>
          <a:noFill/>
          <a:ln/>
        </p:spPr>
        <p:txBody>
          <a:bodyPr wrap="square" lIns="0" tIns="0" rIns="0" bIns="0" rtlCol="0" anchor="t"/>
          <a:lstStyle/>
          <a:p>
            <a:pPr marL="0" indent="0" algn="ctr">
              <a:buNone/>
            </a:pPr>
            <a:r>
              <a:rPr lang="en-US" sz="1300" dirty="0">
                <a:solidFill>
                  <a:schemeClr val="tx1"/>
                </a:solidFill>
              </a:rPr>
              <a:t>unique reviews</a:t>
            </a:r>
            <a:endParaRPr lang="en-US" sz="1300" dirty="0"/>
          </a:p>
        </p:txBody>
      </p:sp>
      <p:sp>
        <p:nvSpPr>
          <p:cNvPr id="7" name="Shape 5"/>
          <p:cNvSpPr/>
          <p:nvPr/>
        </p:nvSpPr>
        <p:spPr>
          <a:xfrm>
            <a:off x="3383280" y="1783080"/>
            <a:ext cx="2651760" cy="1554480"/>
          </a:xfrm>
          <a:prstGeom prst="roundRect">
            <a:avLst>
              <a:gd name="adj" fmla="val 4706"/>
            </a:avLst>
          </a:prstGeom>
          <a:solidFill>
            <a:schemeClr val="bg2"/>
          </a:solidFill>
          <a:ln w="12700">
            <a:solidFill>
              <a:schemeClr val="bg2"/>
            </a:solidFill>
            <a:prstDash val="solid"/>
          </a:ln>
        </p:spPr>
      </p:sp>
      <p:sp>
        <p:nvSpPr>
          <p:cNvPr id="8" name="Text 6"/>
          <p:cNvSpPr txBox="1"/>
          <p:nvPr/>
        </p:nvSpPr>
        <p:spPr>
          <a:xfrm>
            <a:off x="3383280" y="2031797"/>
            <a:ext cx="2651760" cy="652882"/>
          </a:xfrm>
          <a:prstGeom prst="rect">
            <a:avLst/>
          </a:prstGeom>
          <a:noFill/>
          <a:ln/>
        </p:spPr>
        <p:txBody>
          <a:bodyPr wrap="square" lIns="0" tIns="0" rIns="0" bIns="0" rtlCol="0" anchor="ctr"/>
          <a:lstStyle/>
          <a:p>
            <a:pPr marL="0" indent="0" algn="ctr">
              <a:buNone/>
            </a:pPr>
            <a:r>
              <a:rPr lang="en-US" sz="3000" b="1" dirty="0">
                <a:solidFill>
                  <a:schemeClr val="accent1"/>
                </a:solidFill>
              </a:rPr>
              <a:t>21</a:t>
            </a:r>
            <a:endParaRPr lang="en-US" sz="3000" dirty="0"/>
          </a:p>
        </p:txBody>
      </p:sp>
      <p:sp>
        <p:nvSpPr>
          <p:cNvPr id="9" name="Text 7"/>
          <p:cNvSpPr txBox="1"/>
          <p:nvPr/>
        </p:nvSpPr>
        <p:spPr>
          <a:xfrm>
            <a:off x="3474720" y="2684678"/>
            <a:ext cx="2468880" cy="528523"/>
          </a:xfrm>
          <a:prstGeom prst="rect">
            <a:avLst/>
          </a:prstGeom>
          <a:noFill/>
          <a:ln/>
        </p:spPr>
        <p:txBody>
          <a:bodyPr wrap="square" lIns="0" tIns="0" rIns="0" bIns="0" rtlCol="0" anchor="t"/>
          <a:lstStyle/>
          <a:p>
            <a:pPr marL="0" indent="0" algn="ctr">
              <a:buNone/>
            </a:pPr>
            <a:r>
              <a:rPr lang="en-US" sz="1300" dirty="0">
                <a:solidFill>
                  <a:schemeClr val="tx1"/>
                </a:solidFill>
              </a:rPr>
              <a:t>hotel aspects</a:t>
            </a:r>
            <a:endParaRPr lang="en-US" sz="1300" dirty="0"/>
          </a:p>
        </p:txBody>
      </p:sp>
      <p:sp>
        <p:nvSpPr>
          <p:cNvPr id="10" name="Shape 8"/>
          <p:cNvSpPr/>
          <p:nvPr/>
        </p:nvSpPr>
        <p:spPr>
          <a:xfrm>
            <a:off x="548640" y="3520440"/>
            <a:ext cx="2651760" cy="1554480"/>
          </a:xfrm>
          <a:prstGeom prst="roundRect">
            <a:avLst>
              <a:gd name="adj" fmla="val 4706"/>
            </a:avLst>
          </a:prstGeom>
          <a:solidFill>
            <a:schemeClr val="bg2"/>
          </a:solidFill>
          <a:ln w="12700">
            <a:solidFill>
              <a:schemeClr val="bg2"/>
            </a:solidFill>
            <a:prstDash val="solid"/>
          </a:ln>
        </p:spPr>
      </p:sp>
      <p:sp>
        <p:nvSpPr>
          <p:cNvPr id="11" name="Text 9"/>
          <p:cNvSpPr txBox="1"/>
          <p:nvPr/>
        </p:nvSpPr>
        <p:spPr>
          <a:xfrm>
            <a:off x="548640" y="3769157"/>
            <a:ext cx="2651760" cy="652882"/>
          </a:xfrm>
          <a:prstGeom prst="rect">
            <a:avLst/>
          </a:prstGeom>
          <a:noFill/>
          <a:ln/>
        </p:spPr>
        <p:txBody>
          <a:bodyPr wrap="square" lIns="0" tIns="0" rIns="0" bIns="0" rtlCol="0" anchor="ctr"/>
          <a:lstStyle/>
          <a:p>
            <a:pPr marL="0" indent="0" algn="ctr">
              <a:buNone/>
            </a:pPr>
            <a:r>
              <a:rPr lang="en-US" sz="3000" b="1" dirty="0">
                <a:solidFill>
                  <a:schemeClr val="accent1"/>
                </a:solidFill>
              </a:rPr>
              <a:t>41.84%</a:t>
            </a:r>
            <a:endParaRPr lang="en-US" sz="3000" dirty="0"/>
          </a:p>
        </p:txBody>
      </p:sp>
      <p:sp>
        <p:nvSpPr>
          <p:cNvPr id="12" name="Text 10"/>
          <p:cNvSpPr txBox="1"/>
          <p:nvPr/>
        </p:nvSpPr>
        <p:spPr>
          <a:xfrm>
            <a:off x="640080" y="4422038"/>
            <a:ext cx="2468880" cy="528523"/>
          </a:xfrm>
          <a:prstGeom prst="rect">
            <a:avLst/>
          </a:prstGeom>
          <a:noFill/>
          <a:ln/>
        </p:spPr>
        <p:txBody>
          <a:bodyPr wrap="square" lIns="0" tIns="0" rIns="0" bIns="0" rtlCol="0" anchor="t"/>
          <a:lstStyle/>
          <a:p>
            <a:pPr marL="0" indent="0" algn="ctr">
              <a:buNone/>
            </a:pPr>
            <a:r>
              <a:rPr lang="en-US" sz="1300" dirty="0">
                <a:solidFill>
                  <a:schemeClr val="tx1"/>
                </a:solidFill>
              </a:rPr>
              <a:t>reviews with multiple aspects</a:t>
            </a:r>
            <a:endParaRPr lang="en-US" sz="1300" dirty="0"/>
          </a:p>
        </p:txBody>
      </p:sp>
      <p:sp>
        <p:nvSpPr>
          <p:cNvPr id="13" name="Shape 11"/>
          <p:cNvSpPr/>
          <p:nvPr/>
        </p:nvSpPr>
        <p:spPr>
          <a:xfrm>
            <a:off x="3383280" y="3520440"/>
            <a:ext cx="2651760" cy="1554480"/>
          </a:xfrm>
          <a:prstGeom prst="roundRect">
            <a:avLst>
              <a:gd name="adj" fmla="val 4706"/>
            </a:avLst>
          </a:prstGeom>
          <a:solidFill>
            <a:schemeClr val="bg2"/>
          </a:solidFill>
          <a:ln w="12700">
            <a:solidFill>
              <a:schemeClr val="bg2"/>
            </a:solidFill>
            <a:prstDash val="solid"/>
          </a:ln>
        </p:spPr>
      </p:sp>
      <p:sp>
        <p:nvSpPr>
          <p:cNvPr id="14" name="Text 12"/>
          <p:cNvSpPr txBox="1"/>
          <p:nvPr/>
        </p:nvSpPr>
        <p:spPr>
          <a:xfrm>
            <a:off x="3383280" y="3769157"/>
            <a:ext cx="2651760" cy="652882"/>
          </a:xfrm>
          <a:prstGeom prst="rect">
            <a:avLst/>
          </a:prstGeom>
          <a:noFill/>
          <a:ln/>
        </p:spPr>
        <p:txBody>
          <a:bodyPr wrap="square" lIns="0" tIns="0" rIns="0" bIns="0" rtlCol="0" anchor="ctr"/>
          <a:lstStyle/>
          <a:p>
            <a:pPr marL="0" indent="0" algn="ctr">
              <a:buNone/>
            </a:pPr>
            <a:r>
              <a:rPr lang="en-US" sz="3000" b="1" dirty="0">
                <a:solidFill>
                  <a:schemeClr val="accent1"/>
                </a:solidFill>
              </a:rPr>
              <a:t>≈ 10.3</a:t>
            </a:r>
            <a:endParaRPr lang="en-US" sz="3000" dirty="0"/>
          </a:p>
        </p:txBody>
      </p:sp>
      <p:sp>
        <p:nvSpPr>
          <p:cNvPr id="15" name="Text 13"/>
          <p:cNvSpPr txBox="1"/>
          <p:nvPr/>
        </p:nvSpPr>
        <p:spPr>
          <a:xfrm>
            <a:off x="3474720" y="4422038"/>
            <a:ext cx="2468880" cy="528523"/>
          </a:xfrm>
          <a:prstGeom prst="rect">
            <a:avLst/>
          </a:prstGeom>
          <a:noFill/>
          <a:ln/>
        </p:spPr>
        <p:txBody>
          <a:bodyPr wrap="square" lIns="0" tIns="0" rIns="0" bIns="0" rtlCol="0" anchor="t"/>
          <a:lstStyle/>
          <a:p>
            <a:pPr marL="0" indent="0" algn="ctr">
              <a:buNone/>
            </a:pPr>
            <a:r>
              <a:rPr lang="en-US" sz="1300" dirty="0">
                <a:solidFill>
                  <a:schemeClr val="tx1"/>
                </a:solidFill>
              </a:rPr>
              <a:t>average words per review</a:t>
            </a:r>
            <a:endParaRPr lang="en-US" sz="1300" dirty="0"/>
          </a:p>
        </p:txBody>
      </p:sp>
      <p:sp>
        <p:nvSpPr>
          <p:cNvPr id="16" name="Text 14"/>
          <p:cNvSpPr txBox="1"/>
          <p:nvPr/>
        </p:nvSpPr>
        <p:spPr>
          <a:xfrm>
            <a:off x="548640" y="5303520"/>
            <a:ext cx="5486400" cy="914400"/>
          </a:xfrm>
          <a:prstGeom prst="rect">
            <a:avLst/>
          </a:prstGeom>
          <a:noFill/>
          <a:ln/>
        </p:spPr>
        <p:txBody>
          <a:bodyPr wrap="square" lIns="0" tIns="0" rIns="0" bIns="0" rtlCol="0" anchor="t"/>
          <a:lstStyle/>
          <a:p>
            <a:pPr marL="0" indent="0">
              <a:spcAft>
                <a:spcPts val="600"/>
              </a:spcAft>
              <a:buNone/>
            </a:pPr>
            <a:r>
              <a:rPr lang="en-US" sz="1400" b="1" dirty="0">
                <a:solidFill>
                  <a:schemeClr val="tx1"/>
                </a:solidFill>
              </a:rPr>
              <a:t>Multi-label annotations: </a:t>
            </a:r>
            <a:r>
              <a:rPr lang="en-US" sz="1400" dirty="0">
                <a:solidFill>
                  <a:schemeClr val="tx1"/>
                </a:solidFill>
              </a:rPr>
              <a:t>aspect detection is a multi-label problem.</a:t>
            </a:r>
            <a:endParaRPr lang="en-US" sz="1400" dirty="0"/>
          </a:p>
          <a:p>
            <a:pPr marL="0" indent="0">
              <a:spcAft>
                <a:spcPts val="600"/>
              </a:spcAft>
              <a:buNone/>
            </a:pPr>
            <a:r>
              <a:rPr lang="en-US" sz="1400" b="1" dirty="0">
                <a:solidFill>
                  <a:schemeClr val="tx1"/>
                </a:solidFill>
              </a:rPr>
              <a:t>Severe imbalance: </a:t>
            </a:r>
            <a:r>
              <a:rPr lang="en-US" sz="1400" dirty="0">
                <a:solidFill>
                  <a:schemeClr val="tx1"/>
                </a:solidFill>
              </a:rPr>
              <a:t>Neutral is only 3.44% of reviews.</a:t>
            </a:r>
            <a:endParaRPr lang="en-US" sz="1400" dirty="0"/>
          </a:p>
        </p:txBody>
      </p:sp>
      <p:sp>
        <p:nvSpPr>
          <p:cNvPr id="17" name="Shape 15"/>
          <p:cNvSpPr/>
          <p:nvPr/>
        </p:nvSpPr>
        <p:spPr>
          <a:xfrm>
            <a:off x="6400800" y="1783080"/>
            <a:ext cx="5212080" cy="4434840"/>
          </a:xfrm>
          <a:prstGeom prst="roundRect">
            <a:avLst>
              <a:gd name="adj" fmla="val 1649"/>
            </a:avLst>
          </a:prstGeom>
          <a:solidFill>
            <a:schemeClr val="bg2"/>
          </a:solidFill>
          <a:ln w="12700">
            <a:solidFill>
              <a:schemeClr val="bg2"/>
            </a:solidFill>
            <a:prstDash val="solid"/>
          </a:ln>
        </p:spPr>
      </p:sp>
      <p:sp>
        <p:nvSpPr>
          <p:cNvPr id="18" name="Text 16"/>
          <p:cNvSpPr txBox="1"/>
          <p:nvPr/>
        </p:nvSpPr>
        <p:spPr>
          <a:xfrm>
            <a:off x="6675120" y="1920240"/>
            <a:ext cx="4663440" cy="365760"/>
          </a:xfrm>
          <a:prstGeom prst="rect">
            <a:avLst/>
          </a:prstGeom>
          <a:noFill/>
          <a:ln/>
        </p:spPr>
        <p:txBody>
          <a:bodyPr wrap="square" lIns="0" tIns="0" rIns="0" bIns="0" rtlCol="0" anchor="t"/>
          <a:lstStyle/>
          <a:p>
            <a:pPr marL="0" indent="0">
              <a:buNone/>
            </a:pPr>
            <a:r>
              <a:rPr lang="en-US" sz="1800" b="1" dirty="0">
                <a:solidFill>
                  <a:schemeClr val="tx2"/>
                </a:solidFill>
              </a:rPr>
              <a:t>Sentiment distribution</a:t>
            </a:r>
            <a:endParaRPr lang="en-US" sz="1800" dirty="0"/>
          </a:p>
        </p:txBody>
      </p:sp>
      <p:pic>
        <p:nvPicPr>
          <p:cNvPr id="19" name="Image 0" descr="Bar chart of review counts per sentiment class"/>
          <p:cNvPicPr>
            <a:picLocks noChangeAspect="1"/>
          </p:cNvPicPr>
          <p:nvPr/>
        </p:nvPicPr>
        <p:blipFill>
          <a:blip r:embed="rId3"/>
          <a:stretch>
            <a:fillRect/>
          </a:stretch>
        </p:blipFill>
        <p:spPr>
          <a:xfrm>
            <a:off x="7184606" y="2331720"/>
            <a:ext cx="3644468" cy="2697480"/>
          </a:xfrm>
          <a:prstGeom prst="rect">
            <a:avLst/>
          </a:prstGeom>
        </p:spPr>
      </p:pic>
      <p:sp>
        <p:nvSpPr>
          <p:cNvPr id="20" name="Shape 17"/>
          <p:cNvSpPr/>
          <p:nvPr/>
        </p:nvSpPr>
        <p:spPr>
          <a:xfrm>
            <a:off x="6629400" y="5212080"/>
            <a:ext cx="1463040" cy="777240"/>
          </a:xfrm>
          <a:prstGeom prst="roundRect">
            <a:avLst>
              <a:gd name="adj" fmla="val 9412"/>
            </a:avLst>
          </a:prstGeom>
          <a:solidFill>
            <a:schemeClr val="bg1"/>
          </a:solidFill>
          <a:ln w="12700">
            <a:solidFill>
              <a:schemeClr val="bg1"/>
            </a:solidFill>
            <a:prstDash val="solid"/>
          </a:ln>
        </p:spPr>
      </p:sp>
      <p:sp>
        <p:nvSpPr>
          <p:cNvPr id="21" name="Text 18"/>
          <p:cNvSpPr txBox="1"/>
          <p:nvPr/>
        </p:nvSpPr>
        <p:spPr>
          <a:xfrm>
            <a:off x="6629400" y="5257800"/>
            <a:ext cx="1463040" cy="411480"/>
          </a:xfrm>
          <a:prstGeom prst="rect">
            <a:avLst/>
          </a:prstGeom>
          <a:noFill/>
          <a:ln/>
        </p:spPr>
        <p:txBody>
          <a:bodyPr wrap="square" lIns="0" tIns="0" rIns="0" bIns="0" rtlCol="0" anchor="t"/>
          <a:lstStyle/>
          <a:p>
            <a:pPr marL="0" indent="0" algn="ctr">
              <a:buNone/>
            </a:pPr>
            <a:r>
              <a:rPr lang="en-US" sz="2000" b="1" dirty="0">
                <a:solidFill>
                  <a:srgbClr val="238A5E"/>
                </a:solidFill>
              </a:rPr>
              <a:t>51.14%</a:t>
            </a:r>
            <a:endParaRPr lang="en-US" sz="2000" dirty="0"/>
          </a:p>
        </p:txBody>
      </p:sp>
      <p:sp>
        <p:nvSpPr>
          <p:cNvPr id="22" name="Text 19"/>
          <p:cNvSpPr txBox="1"/>
          <p:nvPr/>
        </p:nvSpPr>
        <p:spPr>
          <a:xfrm>
            <a:off x="6629400" y="5669280"/>
            <a:ext cx="1463040" cy="274320"/>
          </a:xfrm>
          <a:prstGeom prst="rect">
            <a:avLst/>
          </a:prstGeom>
          <a:noFill/>
          <a:ln/>
        </p:spPr>
        <p:txBody>
          <a:bodyPr wrap="square" lIns="0" tIns="0" rIns="0" bIns="0" rtlCol="0" anchor="t"/>
          <a:lstStyle/>
          <a:p>
            <a:pPr marL="0" indent="0" algn="ctr">
              <a:buNone/>
            </a:pPr>
            <a:r>
              <a:rPr lang="en-US" sz="1200" dirty="0">
                <a:solidFill>
                  <a:schemeClr val="accent5"/>
                </a:solidFill>
              </a:rPr>
              <a:t>Positive</a:t>
            </a:r>
            <a:endParaRPr lang="en-US" sz="1200" dirty="0"/>
          </a:p>
        </p:txBody>
      </p:sp>
      <p:sp>
        <p:nvSpPr>
          <p:cNvPr id="23" name="Shape 20"/>
          <p:cNvSpPr/>
          <p:nvPr/>
        </p:nvSpPr>
        <p:spPr>
          <a:xfrm>
            <a:off x="8229600" y="5212080"/>
            <a:ext cx="1463040" cy="777240"/>
          </a:xfrm>
          <a:prstGeom prst="roundRect">
            <a:avLst>
              <a:gd name="adj" fmla="val 9412"/>
            </a:avLst>
          </a:prstGeom>
          <a:solidFill>
            <a:schemeClr val="bg1"/>
          </a:solidFill>
          <a:ln w="12700">
            <a:solidFill>
              <a:schemeClr val="bg1"/>
            </a:solidFill>
            <a:prstDash val="solid"/>
          </a:ln>
        </p:spPr>
      </p:sp>
      <p:sp>
        <p:nvSpPr>
          <p:cNvPr id="24" name="Text 21"/>
          <p:cNvSpPr txBox="1"/>
          <p:nvPr/>
        </p:nvSpPr>
        <p:spPr>
          <a:xfrm>
            <a:off x="8229600" y="5257800"/>
            <a:ext cx="1463040" cy="411480"/>
          </a:xfrm>
          <a:prstGeom prst="rect">
            <a:avLst/>
          </a:prstGeom>
          <a:noFill/>
          <a:ln/>
        </p:spPr>
        <p:txBody>
          <a:bodyPr wrap="square" lIns="0" tIns="0" rIns="0" bIns="0" rtlCol="0" anchor="t"/>
          <a:lstStyle/>
          <a:p>
            <a:pPr marL="0" indent="0" algn="ctr">
              <a:buNone/>
            </a:pPr>
            <a:r>
              <a:rPr lang="en-US" sz="2000" b="1" dirty="0">
                <a:solidFill>
                  <a:srgbClr val="C23B3B"/>
                </a:solidFill>
              </a:rPr>
              <a:t>45.45%</a:t>
            </a:r>
            <a:endParaRPr lang="en-US" sz="2000" dirty="0"/>
          </a:p>
        </p:txBody>
      </p:sp>
      <p:sp>
        <p:nvSpPr>
          <p:cNvPr id="25" name="Text 22"/>
          <p:cNvSpPr txBox="1"/>
          <p:nvPr/>
        </p:nvSpPr>
        <p:spPr>
          <a:xfrm>
            <a:off x="8229600" y="5669280"/>
            <a:ext cx="1463040" cy="274320"/>
          </a:xfrm>
          <a:prstGeom prst="rect">
            <a:avLst/>
          </a:prstGeom>
          <a:noFill/>
          <a:ln/>
        </p:spPr>
        <p:txBody>
          <a:bodyPr wrap="square" lIns="0" tIns="0" rIns="0" bIns="0" rtlCol="0" anchor="t"/>
          <a:lstStyle/>
          <a:p>
            <a:pPr marL="0" indent="0" algn="ctr">
              <a:buNone/>
            </a:pPr>
            <a:r>
              <a:rPr lang="en-US" sz="1200" dirty="0">
                <a:solidFill>
                  <a:schemeClr val="accent5"/>
                </a:solidFill>
              </a:rPr>
              <a:t>Negative</a:t>
            </a:r>
            <a:endParaRPr lang="en-US" sz="1200" dirty="0"/>
          </a:p>
        </p:txBody>
      </p:sp>
      <p:sp>
        <p:nvSpPr>
          <p:cNvPr id="26" name="Shape 23"/>
          <p:cNvSpPr/>
          <p:nvPr/>
        </p:nvSpPr>
        <p:spPr>
          <a:xfrm>
            <a:off x="9829800" y="5212080"/>
            <a:ext cx="1463040" cy="777240"/>
          </a:xfrm>
          <a:prstGeom prst="roundRect">
            <a:avLst>
              <a:gd name="adj" fmla="val 9412"/>
            </a:avLst>
          </a:prstGeom>
          <a:solidFill>
            <a:schemeClr val="bg1"/>
          </a:solidFill>
          <a:ln w="12700">
            <a:solidFill>
              <a:schemeClr val="bg1"/>
            </a:solidFill>
            <a:prstDash val="solid"/>
          </a:ln>
        </p:spPr>
      </p:sp>
      <p:sp>
        <p:nvSpPr>
          <p:cNvPr id="27" name="Text 24"/>
          <p:cNvSpPr txBox="1"/>
          <p:nvPr/>
        </p:nvSpPr>
        <p:spPr>
          <a:xfrm>
            <a:off x="9829800" y="5257800"/>
            <a:ext cx="1463040" cy="411480"/>
          </a:xfrm>
          <a:prstGeom prst="rect">
            <a:avLst/>
          </a:prstGeom>
          <a:noFill/>
          <a:ln/>
        </p:spPr>
        <p:txBody>
          <a:bodyPr wrap="square" lIns="0" tIns="0" rIns="0" bIns="0" rtlCol="0" anchor="t"/>
          <a:lstStyle/>
          <a:p>
            <a:pPr marL="0" indent="0" algn="ctr">
              <a:buNone/>
            </a:pPr>
            <a:r>
              <a:rPr lang="en-US" sz="2000" b="1" dirty="0">
                <a:solidFill>
                  <a:srgbClr val="5F7480"/>
                </a:solidFill>
              </a:rPr>
              <a:t>3.44%</a:t>
            </a:r>
            <a:endParaRPr lang="en-US" sz="2000" dirty="0"/>
          </a:p>
        </p:txBody>
      </p:sp>
      <p:sp>
        <p:nvSpPr>
          <p:cNvPr id="28" name="Text 25"/>
          <p:cNvSpPr txBox="1"/>
          <p:nvPr/>
        </p:nvSpPr>
        <p:spPr>
          <a:xfrm>
            <a:off x="9829800" y="5669280"/>
            <a:ext cx="1463040" cy="274320"/>
          </a:xfrm>
          <a:prstGeom prst="rect">
            <a:avLst/>
          </a:prstGeom>
          <a:noFill/>
          <a:ln/>
        </p:spPr>
        <p:txBody>
          <a:bodyPr wrap="square" lIns="0" tIns="0" rIns="0" bIns="0" rtlCol="0" anchor="t"/>
          <a:lstStyle/>
          <a:p>
            <a:pPr marL="0" indent="0" algn="ctr">
              <a:buNone/>
            </a:pPr>
            <a:r>
              <a:rPr lang="en-US" sz="1200" dirty="0">
                <a:solidFill>
                  <a:schemeClr val="accent5"/>
                </a:solidFill>
              </a:rPr>
              <a:t>Neutral</a:t>
            </a:r>
            <a:endParaRPr lang="en-US" sz="1200" dirty="0"/>
          </a:p>
        </p:txBody>
      </p:sp>
      <p:sp>
        <p:nvSpPr>
          <p:cNvPr id="29"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7480"/>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Methodology / System Architecture</a:t>
            </a:r>
            <a:endParaRPr lang="en-US" sz="3400" dirty="0"/>
          </a:p>
        </p:txBody>
      </p:sp>
      <p:sp>
        <p:nvSpPr>
          <p:cNvPr id="3" name="Shape 1"/>
          <p:cNvSpPr/>
          <p:nvPr/>
        </p:nvSpPr>
        <p:spPr>
          <a:xfrm>
            <a:off x="548640" y="1463040"/>
            <a:ext cx="2423160" cy="1371600"/>
          </a:xfrm>
          <a:prstGeom prst="roundRect">
            <a:avLst>
              <a:gd name="adj" fmla="val 5333"/>
            </a:avLst>
          </a:prstGeom>
          <a:solidFill>
            <a:schemeClr val="bg2"/>
          </a:solidFill>
          <a:ln w="12700">
            <a:solidFill>
              <a:schemeClr val="bg2"/>
            </a:solidFill>
            <a:prstDash val="solid"/>
          </a:ln>
        </p:spPr>
      </p:sp>
      <p:sp>
        <p:nvSpPr>
          <p:cNvPr id="4" name="Text 2"/>
          <p:cNvSpPr txBox="1"/>
          <p:nvPr/>
        </p:nvSpPr>
        <p:spPr>
          <a:xfrm>
            <a:off x="731520" y="1691640"/>
            <a:ext cx="2057400" cy="411480"/>
          </a:xfrm>
          <a:prstGeom prst="rect">
            <a:avLst/>
          </a:prstGeom>
          <a:noFill/>
          <a:ln/>
        </p:spPr>
        <p:txBody>
          <a:bodyPr wrap="square" lIns="0" tIns="0" rIns="0" bIns="0" rtlCol="0" anchor="t"/>
          <a:lstStyle/>
          <a:p>
            <a:pPr marL="0" indent="0">
              <a:buNone/>
            </a:pPr>
            <a:r>
              <a:rPr lang="en-US" sz="1700" b="1" dirty="0">
                <a:solidFill>
                  <a:schemeClr val="tx2"/>
                </a:solidFill>
              </a:rPr>
              <a:t>Hotel Review</a:t>
            </a:r>
            <a:endParaRPr lang="en-US" sz="1700" dirty="0"/>
          </a:p>
        </p:txBody>
      </p:sp>
      <p:sp>
        <p:nvSpPr>
          <p:cNvPr id="5" name="Text 3"/>
          <p:cNvSpPr txBox="1"/>
          <p:nvPr/>
        </p:nvSpPr>
        <p:spPr>
          <a:xfrm>
            <a:off x="731520" y="2148840"/>
            <a:ext cx="2057400" cy="594360"/>
          </a:xfrm>
          <a:prstGeom prst="rect">
            <a:avLst/>
          </a:prstGeom>
          <a:noFill/>
          <a:ln/>
        </p:spPr>
        <p:txBody>
          <a:bodyPr wrap="square" lIns="0" tIns="0" rIns="0" bIns="0" rtlCol="0" anchor="t"/>
          <a:lstStyle/>
          <a:p>
            <a:pPr marL="0" indent="0">
              <a:buNone/>
            </a:pPr>
            <a:r>
              <a:rPr lang="en-US" sz="1300" dirty="0">
                <a:solidFill>
                  <a:schemeClr val="accent5"/>
                </a:solidFill>
              </a:rPr>
              <a:t>raw text input</a:t>
            </a:r>
            <a:endParaRPr lang="en-US" sz="1300" dirty="0"/>
          </a:p>
        </p:txBody>
      </p:sp>
      <p:sp>
        <p:nvSpPr>
          <p:cNvPr id="6" name="Shape 4"/>
          <p:cNvSpPr/>
          <p:nvPr/>
        </p:nvSpPr>
        <p:spPr>
          <a:xfrm>
            <a:off x="685800" y="1325880"/>
            <a:ext cx="365760" cy="329184"/>
          </a:xfrm>
          <a:prstGeom prst="roundRect">
            <a:avLst>
              <a:gd name="adj" fmla="val 138889"/>
            </a:avLst>
          </a:prstGeom>
          <a:solidFill>
            <a:srgbClr val="F2A33A"/>
          </a:solidFill>
          <a:ln w="12700">
            <a:solidFill>
              <a:srgbClr val="F2A33A"/>
            </a:solidFill>
            <a:prstDash val="solid"/>
          </a:ln>
        </p:spPr>
      </p:sp>
      <p:sp>
        <p:nvSpPr>
          <p:cNvPr id="7" name="Text 5"/>
          <p:cNvSpPr txBox="1"/>
          <p:nvPr/>
        </p:nvSpPr>
        <p:spPr>
          <a:xfrm>
            <a:off x="685800" y="1325880"/>
            <a:ext cx="365760" cy="329184"/>
          </a:xfrm>
          <a:prstGeom prst="rect">
            <a:avLst/>
          </a:prstGeom>
          <a:noFill/>
          <a:ln/>
        </p:spPr>
        <p:txBody>
          <a:bodyPr wrap="square" lIns="0" tIns="0" rIns="0" bIns="0" rtlCol="0" anchor="ctr"/>
          <a:lstStyle/>
          <a:p>
            <a:pPr marL="0" indent="0" algn="ctr">
              <a:buNone/>
            </a:pPr>
            <a:r>
              <a:rPr lang="en-US" sz="1400" b="1" dirty="0">
                <a:solidFill>
                  <a:schemeClr val="tx2"/>
                </a:solidFill>
              </a:rPr>
              <a:t>1</a:t>
            </a:r>
            <a:endParaRPr lang="en-US" sz="1400" dirty="0"/>
          </a:p>
        </p:txBody>
      </p:sp>
      <p:sp>
        <p:nvSpPr>
          <p:cNvPr id="8" name="Shape 6"/>
          <p:cNvSpPr/>
          <p:nvPr/>
        </p:nvSpPr>
        <p:spPr>
          <a:xfrm>
            <a:off x="3035808" y="1920240"/>
            <a:ext cx="365760" cy="310896"/>
          </a:xfrm>
          <a:prstGeom prst="rightArrow">
            <a:avLst/>
          </a:prstGeom>
          <a:solidFill>
            <a:schemeClr val="accent5"/>
          </a:solidFill>
          <a:ln w="12700">
            <a:solidFill>
              <a:schemeClr val="accent5"/>
            </a:solidFill>
            <a:prstDash val="solid"/>
          </a:ln>
        </p:spPr>
      </p:sp>
      <p:sp>
        <p:nvSpPr>
          <p:cNvPr id="9" name="Shape 7"/>
          <p:cNvSpPr/>
          <p:nvPr/>
        </p:nvSpPr>
        <p:spPr>
          <a:xfrm>
            <a:off x="3429000" y="1463040"/>
            <a:ext cx="2423160" cy="1371600"/>
          </a:xfrm>
          <a:prstGeom prst="roundRect">
            <a:avLst>
              <a:gd name="adj" fmla="val 5333"/>
            </a:avLst>
          </a:prstGeom>
          <a:solidFill>
            <a:schemeClr val="bg2"/>
          </a:solidFill>
          <a:ln w="12700">
            <a:solidFill>
              <a:schemeClr val="bg2"/>
            </a:solidFill>
            <a:prstDash val="solid"/>
          </a:ln>
        </p:spPr>
      </p:sp>
      <p:sp>
        <p:nvSpPr>
          <p:cNvPr id="10" name="Text 8"/>
          <p:cNvSpPr txBox="1"/>
          <p:nvPr/>
        </p:nvSpPr>
        <p:spPr>
          <a:xfrm>
            <a:off x="3611880" y="1691640"/>
            <a:ext cx="2057400" cy="411480"/>
          </a:xfrm>
          <a:prstGeom prst="rect">
            <a:avLst/>
          </a:prstGeom>
          <a:noFill/>
          <a:ln/>
        </p:spPr>
        <p:txBody>
          <a:bodyPr wrap="square" lIns="0" tIns="0" rIns="0" bIns="0" rtlCol="0" anchor="t"/>
          <a:lstStyle/>
          <a:p>
            <a:pPr marL="0" indent="0">
              <a:buNone/>
            </a:pPr>
            <a:r>
              <a:rPr lang="en-US" sz="1700" b="1" dirty="0">
                <a:solidFill>
                  <a:schemeClr val="tx2"/>
                </a:solidFill>
              </a:rPr>
              <a:t>Data Cleaning</a:t>
            </a:r>
            <a:endParaRPr lang="en-US" sz="1700" dirty="0"/>
          </a:p>
        </p:txBody>
      </p:sp>
      <p:sp>
        <p:nvSpPr>
          <p:cNvPr id="11" name="Text 9"/>
          <p:cNvSpPr txBox="1"/>
          <p:nvPr/>
        </p:nvSpPr>
        <p:spPr>
          <a:xfrm>
            <a:off x="3611880" y="2148840"/>
            <a:ext cx="2057400" cy="594360"/>
          </a:xfrm>
          <a:prstGeom prst="rect">
            <a:avLst/>
          </a:prstGeom>
          <a:noFill/>
          <a:ln/>
        </p:spPr>
        <p:txBody>
          <a:bodyPr wrap="square" lIns="0" tIns="0" rIns="0" bIns="0" rtlCol="0" anchor="t"/>
          <a:lstStyle/>
          <a:p>
            <a:pPr marL="0" indent="0">
              <a:buNone/>
            </a:pPr>
            <a:r>
              <a:rPr lang="en-US" sz="1300" dirty="0">
                <a:solidFill>
                  <a:schemeClr val="accent5"/>
                </a:solidFill>
              </a:rPr>
              <a:t>duplicates removed, binary aspect labels</a:t>
            </a:r>
            <a:endParaRPr lang="en-US" sz="1300" dirty="0"/>
          </a:p>
        </p:txBody>
      </p:sp>
      <p:sp>
        <p:nvSpPr>
          <p:cNvPr id="12" name="Shape 10"/>
          <p:cNvSpPr/>
          <p:nvPr/>
        </p:nvSpPr>
        <p:spPr>
          <a:xfrm>
            <a:off x="3566160" y="1325880"/>
            <a:ext cx="365760" cy="329184"/>
          </a:xfrm>
          <a:prstGeom prst="roundRect">
            <a:avLst>
              <a:gd name="adj" fmla="val 138889"/>
            </a:avLst>
          </a:prstGeom>
          <a:solidFill>
            <a:srgbClr val="F2A33A"/>
          </a:solidFill>
          <a:ln w="12700">
            <a:solidFill>
              <a:srgbClr val="F2A33A"/>
            </a:solidFill>
            <a:prstDash val="solid"/>
          </a:ln>
        </p:spPr>
      </p:sp>
      <p:sp>
        <p:nvSpPr>
          <p:cNvPr id="13" name="Text 11"/>
          <p:cNvSpPr txBox="1"/>
          <p:nvPr/>
        </p:nvSpPr>
        <p:spPr>
          <a:xfrm>
            <a:off x="3566160" y="1325880"/>
            <a:ext cx="365760" cy="329184"/>
          </a:xfrm>
          <a:prstGeom prst="rect">
            <a:avLst/>
          </a:prstGeom>
          <a:noFill/>
          <a:ln/>
        </p:spPr>
        <p:txBody>
          <a:bodyPr wrap="square" lIns="0" tIns="0" rIns="0" bIns="0" rtlCol="0" anchor="ctr"/>
          <a:lstStyle/>
          <a:p>
            <a:pPr marL="0" indent="0" algn="ctr">
              <a:buNone/>
            </a:pPr>
            <a:r>
              <a:rPr lang="en-US" sz="1400" b="1" dirty="0">
                <a:solidFill>
                  <a:schemeClr val="tx2"/>
                </a:solidFill>
              </a:rPr>
              <a:t>2</a:t>
            </a:r>
            <a:endParaRPr lang="en-US" sz="1400" dirty="0"/>
          </a:p>
        </p:txBody>
      </p:sp>
      <p:sp>
        <p:nvSpPr>
          <p:cNvPr id="14" name="Shape 12"/>
          <p:cNvSpPr/>
          <p:nvPr/>
        </p:nvSpPr>
        <p:spPr>
          <a:xfrm>
            <a:off x="5916168" y="1920240"/>
            <a:ext cx="365760" cy="310896"/>
          </a:xfrm>
          <a:prstGeom prst="rightArrow">
            <a:avLst/>
          </a:prstGeom>
          <a:solidFill>
            <a:schemeClr val="accent5"/>
          </a:solidFill>
          <a:ln w="12700">
            <a:solidFill>
              <a:schemeClr val="accent5"/>
            </a:solidFill>
            <a:prstDash val="solid"/>
          </a:ln>
        </p:spPr>
      </p:sp>
      <p:sp>
        <p:nvSpPr>
          <p:cNvPr id="15" name="Shape 13"/>
          <p:cNvSpPr/>
          <p:nvPr/>
        </p:nvSpPr>
        <p:spPr>
          <a:xfrm>
            <a:off x="6309360" y="1463040"/>
            <a:ext cx="2423160" cy="1371600"/>
          </a:xfrm>
          <a:prstGeom prst="roundRect">
            <a:avLst>
              <a:gd name="adj" fmla="val 5333"/>
            </a:avLst>
          </a:prstGeom>
          <a:solidFill>
            <a:schemeClr val="bg2"/>
          </a:solidFill>
          <a:ln w="12700">
            <a:solidFill>
              <a:schemeClr val="bg2"/>
            </a:solidFill>
            <a:prstDash val="solid"/>
          </a:ln>
        </p:spPr>
      </p:sp>
      <p:sp>
        <p:nvSpPr>
          <p:cNvPr id="16" name="Text 14"/>
          <p:cNvSpPr txBox="1"/>
          <p:nvPr/>
        </p:nvSpPr>
        <p:spPr>
          <a:xfrm>
            <a:off x="6492240" y="1691640"/>
            <a:ext cx="2057400" cy="411480"/>
          </a:xfrm>
          <a:prstGeom prst="rect">
            <a:avLst/>
          </a:prstGeom>
          <a:noFill/>
          <a:ln/>
        </p:spPr>
        <p:txBody>
          <a:bodyPr wrap="square" lIns="0" tIns="0" rIns="0" bIns="0" rtlCol="0" anchor="t"/>
          <a:lstStyle/>
          <a:p>
            <a:pPr marL="0" indent="0">
              <a:buNone/>
            </a:pPr>
            <a:r>
              <a:rPr lang="en-US" sz="1700" b="1" dirty="0">
                <a:solidFill>
                  <a:schemeClr val="tx2"/>
                </a:solidFill>
              </a:rPr>
              <a:t>Text Preprocessing</a:t>
            </a:r>
            <a:endParaRPr lang="en-US" sz="1700" dirty="0"/>
          </a:p>
        </p:txBody>
      </p:sp>
      <p:sp>
        <p:nvSpPr>
          <p:cNvPr id="17" name="Text 15"/>
          <p:cNvSpPr txBox="1"/>
          <p:nvPr/>
        </p:nvSpPr>
        <p:spPr>
          <a:xfrm>
            <a:off x="6492240" y="2148840"/>
            <a:ext cx="2057400" cy="594360"/>
          </a:xfrm>
          <a:prstGeom prst="rect">
            <a:avLst/>
          </a:prstGeom>
          <a:noFill/>
          <a:ln/>
        </p:spPr>
        <p:txBody>
          <a:bodyPr wrap="square" lIns="0" tIns="0" rIns="0" bIns="0" rtlCol="0" anchor="t"/>
          <a:lstStyle/>
          <a:p>
            <a:pPr marL="0" indent="0">
              <a:buNone/>
            </a:pPr>
            <a:r>
              <a:rPr lang="en-US" sz="1300" dirty="0">
                <a:solidFill>
                  <a:schemeClr val="accent5"/>
                </a:solidFill>
              </a:rPr>
              <a:t>lowercase, clean, normalise</a:t>
            </a:r>
            <a:endParaRPr lang="en-US" sz="1300" dirty="0"/>
          </a:p>
        </p:txBody>
      </p:sp>
      <p:sp>
        <p:nvSpPr>
          <p:cNvPr id="18" name="Shape 16"/>
          <p:cNvSpPr/>
          <p:nvPr/>
        </p:nvSpPr>
        <p:spPr>
          <a:xfrm>
            <a:off x="6446520" y="1325880"/>
            <a:ext cx="365760" cy="329184"/>
          </a:xfrm>
          <a:prstGeom prst="roundRect">
            <a:avLst>
              <a:gd name="adj" fmla="val 138889"/>
            </a:avLst>
          </a:prstGeom>
          <a:solidFill>
            <a:srgbClr val="F2A33A"/>
          </a:solidFill>
          <a:ln w="12700">
            <a:solidFill>
              <a:srgbClr val="F2A33A"/>
            </a:solidFill>
            <a:prstDash val="solid"/>
          </a:ln>
        </p:spPr>
      </p:sp>
      <p:sp>
        <p:nvSpPr>
          <p:cNvPr id="19" name="Text 17"/>
          <p:cNvSpPr txBox="1"/>
          <p:nvPr/>
        </p:nvSpPr>
        <p:spPr>
          <a:xfrm>
            <a:off x="6446520" y="1325880"/>
            <a:ext cx="365760" cy="329184"/>
          </a:xfrm>
          <a:prstGeom prst="rect">
            <a:avLst/>
          </a:prstGeom>
          <a:noFill/>
          <a:ln/>
        </p:spPr>
        <p:txBody>
          <a:bodyPr wrap="square" lIns="0" tIns="0" rIns="0" bIns="0" rtlCol="0" anchor="ctr"/>
          <a:lstStyle/>
          <a:p>
            <a:pPr marL="0" indent="0" algn="ctr">
              <a:buNone/>
            </a:pPr>
            <a:r>
              <a:rPr lang="en-US" sz="1400" b="1" dirty="0">
                <a:solidFill>
                  <a:schemeClr val="tx2"/>
                </a:solidFill>
              </a:rPr>
              <a:t>3</a:t>
            </a:r>
            <a:endParaRPr lang="en-US" sz="1400" dirty="0"/>
          </a:p>
        </p:txBody>
      </p:sp>
      <p:sp>
        <p:nvSpPr>
          <p:cNvPr id="20" name="Shape 18"/>
          <p:cNvSpPr/>
          <p:nvPr/>
        </p:nvSpPr>
        <p:spPr>
          <a:xfrm>
            <a:off x="8796528" y="1920240"/>
            <a:ext cx="365760" cy="310896"/>
          </a:xfrm>
          <a:prstGeom prst="rightArrow">
            <a:avLst/>
          </a:prstGeom>
          <a:solidFill>
            <a:schemeClr val="accent5"/>
          </a:solidFill>
          <a:ln w="12700">
            <a:solidFill>
              <a:schemeClr val="accent5"/>
            </a:solidFill>
            <a:prstDash val="solid"/>
          </a:ln>
        </p:spPr>
      </p:sp>
      <p:sp>
        <p:nvSpPr>
          <p:cNvPr id="21" name="Shape 19"/>
          <p:cNvSpPr/>
          <p:nvPr/>
        </p:nvSpPr>
        <p:spPr>
          <a:xfrm>
            <a:off x="9189720" y="1463040"/>
            <a:ext cx="2423160" cy="1371600"/>
          </a:xfrm>
          <a:prstGeom prst="roundRect">
            <a:avLst>
              <a:gd name="adj" fmla="val 5333"/>
            </a:avLst>
          </a:prstGeom>
          <a:solidFill>
            <a:schemeClr val="bg2"/>
          </a:solidFill>
          <a:ln w="12700">
            <a:solidFill>
              <a:schemeClr val="bg2"/>
            </a:solidFill>
            <a:prstDash val="solid"/>
          </a:ln>
        </p:spPr>
      </p:sp>
      <p:sp>
        <p:nvSpPr>
          <p:cNvPr id="22" name="Text 20"/>
          <p:cNvSpPr txBox="1"/>
          <p:nvPr/>
        </p:nvSpPr>
        <p:spPr>
          <a:xfrm>
            <a:off x="9372600" y="1691640"/>
            <a:ext cx="2057400" cy="411480"/>
          </a:xfrm>
          <a:prstGeom prst="rect">
            <a:avLst/>
          </a:prstGeom>
          <a:noFill/>
          <a:ln/>
        </p:spPr>
        <p:txBody>
          <a:bodyPr wrap="square" lIns="0" tIns="0" rIns="0" bIns="0" rtlCol="0" anchor="t"/>
          <a:lstStyle/>
          <a:p>
            <a:pPr marL="0" indent="0">
              <a:buNone/>
            </a:pPr>
            <a:r>
              <a:rPr lang="en-US" sz="1700" b="1" dirty="0">
                <a:solidFill>
                  <a:schemeClr val="tx2"/>
                </a:solidFill>
              </a:rPr>
              <a:t>TF-IDF</a:t>
            </a:r>
            <a:endParaRPr lang="en-US" sz="1700" dirty="0"/>
          </a:p>
        </p:txBody>
      </p:sp>
      <p:sp>
        <p:nvSpPr>
          <p:cNvPr id="23" name="Text 21"/>
          <p:cNvSpPr txBox="1"/>
          <p:nvPr/>
        </p:nvSpPr>
        <p:spPr>
          <a:xfrm>
            <a:off x="9372600" y="2148840"/>
            <a:ext cx="2057400" cy="594360"/>
          </a:xfrm>
          <a:prstGeom prst="rect">
            <a:avLst/>
          </a:prstGeom>
          <a:noFill/>
          <a:ln/>
        </p:spPr>
        <p:txBody>
          <a:bodyPr wrap="square" lIns="0" tIns="0" rIns="0" bIns="0" rtlCol="0" anchor="t"/>
          <a:lstStyle/>
          <a:p>
            <a:pPr marL="0" indent="0">
              <a:buNone/>
            </a:pPr>
            <a:r>
              <a:rPr lang="en-US" sz="1300" dirty="0">
                <a:solidFill>
                  <a:schemeClr val="accent5"/>
                </a:solidFill>
              </a:rPr>
              <a:t>unigrams + bigrams</a:t>
            </a:r>
            <a:endParaRPr lang="en-US" sz="1300" dirty="0"/>
          </a:p>
        </p:txBody>
      </p:sp>
      <p:sp>
        <p:nvSpPr>
          <p:cNvPr id="24" name="Shape 22"/>
          <p:cNvSpPr/>
          <p:nvPr/>
        </p:nvSpPr>
        <p:spPr>
          <a:xfrm>
            <a:off x="9326880" y="1325880"/>
            <a:ext cx="365760" cy="329184"/>
          </a:xfrm>
          <a:prstGeom prst="roundRect">
            <a:avLst>
              <a:gd name="adj" fmla="val 138889"/>
            </a:avLst>
          </a:prstGeom>
          <a:solidFill>
            <a:srgbClr val="F2A33A"/>
          </a:solidFill>
          <a:ln w="12700">
            <a:solidFill>
              <a:srgbClr val="F2A33A"/>
            </a:solidFill>
            <a:prstDash val="solid"/>
          </a:ln>
        </p:spPr>
      </p:sp>
      <p:sp>
        <p:nvSpPr>
          <p:cNvPr id="25" name="Text 23"/>
          <p:cNvSpPr txBox="1"/>
          <p:nvPr/>
        </p:nvSpPr>
        <p:spPr>
          <a:xfrm>
            <a:off x="9326880" y="1325880"/>
            <a:ext cx="365760" cy="329184"/>
          </a:xfrm>
          <a:prstGeom prst="rect">
            <a:avLst/>
          </a:prstGeom>
          <a:noFill/>
          <a:ln/>
        </p:spPr>
        <p:txBody>
          <a:bodyPr wrap="square" lIns="0" tIns="0" rIns="0" bIns="0" rtlCol="0" anchor="ctr"/>
          <a:lstStyle/>
          <a:p>
            <a:pPr marL="0" indent="0" algn="ctr">
              <a:buNone/>
            </a:pPr>
            <a:r>
              <a:rPr lang="en-US" sz="1400" b="1" dirty="0">
                <a:solidFill>
                  <a:schemeClr val="tx2"/>
                </a:solidFill>
              </a:rPr>
              <a:t>4</a:t>
            </a:r>
            <a:endParaRPr lang="en-US" sz="1400" dirty="0"/>
          </a:p>
        </p:txBody>
      </p:sp>
      <p:sp>
        <p:nvSpPr>
          <p:cNvPr id="26" name="Shape 24"/>
          <p:cNvSpPr/>
          <p:nvPr/>
        </p:nvSpPr>
        <p:spPr>
          <a:xfrm>
            <a:off x="10241280" y="2926080"/>
            <a:ext cx="411480" cy="548640"/>
          </a:xfrm>
          <a:prstGeom prst="downArrow">
            <a:avLst/>
          </a:prstGeom>
          <a:solidFill>
            <a:schemeClr val="accent5"/>
          </a:solidFill>
          <a:ln w="12700">
            <a:solidFill>
              <a:schemeClr val="accent5"/>
            </a:solidFill>
            <a:prstDash val="solid"/>
          </a:ln>
        </p:spPr>
      </p:sp>
      <p:sp>
        <p:nvSpPr>
          <p:cNvPr id="27" name="Shape 25"/>
          <p:cNvSpPr/>
          <p:nvPr/>
        </p:nvSpPr>
        <p:spPr>
          <a:xfrm>
            <a:off x="9189720" y="3657600"/>
            <a:ext cx="2423160" cy="2011680"/>
          </a:xfrm>
          <a:prstGeom prst="roundRect">
            <a:avLst>
              <a:gd name="adj" fmla="val 3636"/>
            </a:avLst>
          </a:prstGeom>
          <a:solidFill>
            <a:schemeClr val="accent1"/>
          </a:solidFill>
          <a:ln w="12700">
            <a:solidFill>
              <a:schemeClr val="accent1"/>
            </a:solidFill>
            <a:prstDash val="solid"/>
          </a:ln>
        </p:spPr>
      </p:sp>
      <p:sp>
        <p:nvSpPr>
          <p:cNvPr id="28" name="Text 26"/>
          <p:cNvSpPr txBox="1"/>
          <p:nvPr/>
        </p:nvSpPr>
        <p:spPr>
          <a:xfrm>
            <a:off x="9372600" y="3931920"/>
            <a:ext cx="2057400" cy="914400"/>
          </a:xfrm>
          <a:prstGeom prst="rect">
            <a:avLst/>
          </a:prstGeom>
          <a:noFill/>
          <a:ln/>
        </p:spPr>
        <p:txBody>
          <a:bodyPr wrap="square" lIns="0" tIns="0" rIns="0" bIns="0" rtlCol="0" anchor="t"/>
          <a:lstStyle/>
          <a:p>
            <a:pPr marL="0" indent="0">
              <a:buNone/>
            </a:pPr>
            <a:r>
              <a:rPr lang="en-US" sz="1700" b="1" dirty="0">
                <a:solidFill>
                  <a:schemeClr val="bg1"/>
                </a:solidFill>
              </a:rPr>
              <a:t>Aspect Detection + Sentiment Classification</a:t>
            </a:r>
            <a:endParaRPr lang="en-US" sz="1700" dirty="0"/>
          </a:p>
        </p:txBody>
      </p:sp>
      <p:sp>
        <p:nvSpPr>
          <p:cNvPr id="29" name="Text 27"/>
          <p:cNvSpPr txBox="1"/>
          <p:nvPr/>
        </p:nvSpPr>
        <p:spPr>
          <a:xfrm>
            <a:off x="9372600" y="4937760"/>
            <a:ext cx="2057400" cy="640080"/>
          </a:xfrm>
          <a:prstGeom prst="rect">
            <a:avLst/>
          </a:prstGeom>
          <a:noFill/>
          <a:ln/>
        </p:spPr>
        <p:txBody>
          <a:bodyPr wrap="square" lIns="0" tIns="0" rIns="0" bIns="0" rtlCol="0" anchor="t"/>
          <a:lstStyle/>
          <a:p>
            <a:pPr marL="0" indent="0">
              <a:buNone/>
            </a:pPr>
            <a:r>
              <a:rPr lang="en-US" sz="1300" dirty="0">
                <a:solidFill>
                  <a:schemeClr val="bg1"/>
                </a:solidFill>
              </a:rPr>
              <a:t>One-vs-Rest Linear SVM  |  Logistic Regression</a:t>
            </a:r>
            <a:endParaRPr lang="en-US" sz="1300" dirty="0"/>
          </a:p>
        </p:txBody>
      </p:sp>
      <p:sp>
        <p:nvSpPr>
          <p:cNvPr id="30" name="Shape 28"/>
          <p:cNvSpPr/>
          <p:nvPr/>
        </p:nvSpPr>
        <p:spPr>
          <a:xfrm>
            <a:off x="9326880" y="3520440"/>
            <a:ext cx="365760" cy="329184"/>
          </a:xfrm>
          <a:prstGeom prst="roundRect">
            <a:avLst>
              <a:gd name="adj" fmla="val 138889"/>
            </a:avLst>
          </a:prstGeom>
          <a:solidFill>
            <a:srgbClr val="F2A33A"/>
          </a:solidFill>
          <a:ln w="12700">
            <a:solidFill>
              <a:srgbClr val="F2A33A"/>
            </a:solidFill>
            <a:prstDash val="solid"/>
          </a:ln>
        </p:spPr>
      </p:sp>
      <p:sp>
        <p:nvSpPr>
          <p:cNvPr id="31" name="Text 29"/>
          <p:cNvSpPr txBox="1"/>
          <p:nvPr/>
        </p:nvSpPr>
        <p:spPr>
          <a:xfrm>
            <a:off x="9326880" y="3520440"/>
            <a:ext cx="365760" cy="329184"/>
          </a:xfrm>
          <a:prstGeom prst="rect">
            <a:avLst/>
          </a:prstGeom>
          <a:noFill/>
          <a:ln/>
        </p:spPr>
        <p:txBody>
          <a:bodyPr wrap="square" lIns="0" tIns="0" rIns="0" bIns="0" rtlCol="0" anchor="ctr"/>
          <a:lstStyle/>
          <a:p>
            <a:pPr marL="0" indent="0" algn="ctr">
              <a:buNone/>
            </a:pPr>
            <a:r>
              <a:rPr lang="en-US" sz="1400" b="1" dirty="0">
                <a:solidFill>
                  <a:schemeClr val="tx2"/>
                </a:solidFill>
              </a:rPr>
              <a:t>5</a:t>
            </a:r>
            <a:endParaRPr lang="en-US" sz="1400" dirty="0"/>
          </a:p>
        </p:txBody>
      </p:sp>
      <p:sp>
        <p:nvSpPr>
          <p:cNvPr id="32" name="Shape 30"/>
          <p:cNvSpPr/>
          <p:nvPr/>
        </p:nvSpPr>
        <p:spPr>
          <a:xfrm flipH="1">
            <a:off x="8714232" y="4526280"/>
            <a:ext cx="365760" cy="310896"/>
          </a:xfrm>
          <a:prstGeom prst="rightArrow">
            <a:avLst/>
          </a:prstGeom>
          <a:solidFill>
            <a:schemeClr val="accent5"/>
          </a:solidFill>
          <a:ln w="12700">
            <a:solidFill>
              <a:schemeClr val="accent5"/>
            </a:solidFill>
            <a:prstDash val="solid"/>
          </a:ln>
        </p:spPr>
      </p:sp>
      <p:sp>
        <p:nvSpPr>
          <p:cNvPr id="33" name="Shape 31"/>
          <p:cNvSpPr/>
          <p:nvPr/>
        </p:nvSpPr>
        <p:spPr>
          <a:xfrm>
            <a:off x="6309360" y="3657600"/>
            <a:ext cx="2423160" cy="2011680"/>
          </a:xfrm>
          <a:prstGeom prst="roundRect">
            <a:avLst>
              <a:gd name="adj" fmla="val 3636"/>
            </a:avLst>
          </a:prstGeom>
          <a:solidFill>
            <a:schemeClr val="bg2"/>
          </a:solidFill>
          <a:ln w="12700">
            <a:solidFill>
              <a:schemeClr val="bg2"/>
            </a:solidFill>
            <a:prstDash val="solid"/>
          </a:ln>
        </p:spPr>
      </p:sp>
      <p:sp>
        <p:nvSpPr>
          <p:cNvPr id="34" name="Text 32"/>
          <p:cNvSpPr txBox="1"/>
          <p:nvPr/>
        </p:nvSpPr>
        <p:spPr>
          <a:xfrm>
            <a:off x="6492240" y="3931920"/>
            <a:ext cx="2057400" cy="914400"/>
          </a:xfrm>
          <a:prstGeom prst="rect">
            <a:avLst/>
          </a:prstGeom>
          <a:noFill/>
          <a:ln/>
        </p:spPr>
        <p:txBody>
          <a:bodyPr wrap="square" lIns="0" tIns="0" rIns="0" bIns="0" rtlCol="0" anchor="t"/>
          <a:lstStyle/>
          <a:p>
            <a:pPr marL="0" indent="0">
              <a:buNone/>
            </a:pPr>
            <a:r>
              <a:rPr lang="en-US" sz="1700" b="1" dirty="0">
                <a:solidFill>
                  <a:schemeClr val="tx2"/>
                </a:solidFill>
              </a:rPr>
              <a:t>Aspect Context Extraction</a:t>
            </a:r>
            <a:endParaRPr lang="en-US" sz="1700" dirty="0"/>
          </a:p>
        </p:txBody>
      </p:sp>
      <p:sp>
        <p:nvSpPr>
          <p:cNvPr id="35" name="Text 33"/>
          <p:cNvSpPr txBox="1"/>
          <p:nvPr/>
        </p:nvSpPr>
        <p:spPr>
          <a:xfrm>
            <a:off x="6492240" y="4937760"/>
            <a:ext cx="2057400" cy="640080"/>
          </a:xfrm>
          <a:prstGeom prst="rect">
            <a:avLst/>
          </a:prstGeom>
          <a:noFill/>
          <a:ln/>
        </p:spPr>
        <p:txBody>
          <a:bodyPr wrap="square" lIns="0" tIns="0" rIns="0" bIns="0" rtlCol="0" anchor="t"/>
          <a:lstStyle/>
          <a:p>
            <a:pPr marL="0" indent="0">
              <a:buNone/>
            </a:pPr>
            <a:r>
              <a:rPr lang="en-US" sz="1300" dirty="0">
                <a:solidFill>
                  <a:schemeClr val="accent5"/>
                </a:solidFill>
              </a:rPr>
              <a:t>local sentence / clause per aspect</a:t>
            </a:r>
            <a:endParaRPr lang="en-US" sz="1300" dirty="0"/>
          </a:p>
        </p:txBody>
      </p:sp>
      <p:sp>
        <p:nvSpPr>
          <p:cNvPr id="36" name="Shape 34"/>
          <p:cNvSpPr/>
          <p:nvPr/>
        </p:nvSpPr>
        <p:spPr>
          <a:xfrm>
            <a:off x="6446520" y="3520440"/>
            <a:ext cx="365760" cy="329184"/>
          </a:xfrm>
          <a:prstGeom prst="roundRect">
            <a:avLst>
              <a:gd name="adj" fmla="val 138889"/>
            </a:avLst>
          </a:prstGeom>
          <a:solidFill>
            <a:srgbClr val="F2A33A"/>
          </a:solidFill>
          <a:ln w="12700">
            <a:solidFill>
              <a:srgbClr val="F2A33A"/>
            </a:solidFill>
            <a:prstDash val="solid"/>
          </a:ln>
        </p:spPr>
      </p:sp>
      <p:sp>
        <p:nvSpPr>
          <p:cNvPr id="37" name="Text 35"/>
          <p:cNvSpPr txBox="1"/>
          <p:nvPr/>
        </p:nvSpPr>
        <p:spPr>
          <a:xfrm>
            <a:off x="6446520" y="3520440"/>
            <a:ext cx="365760" cy="329184"/>
          </a:xfrm>
          <a:prstGeom prst="rect">
            <a:avLst/>
          </a:prstGeom>
          <a:noFill/>
          <a:ln/>
        </p:spPr>
        <p:txBody>
          <a:bodyPr wrap="square" lIns="0" tIns="0" rIns="0" bIns="0" rtlCol="0" anchor="ctr"/>
          <a:lstStyle/>
          <a:p>
            <a:pPr marL="0" indent="0" algn="ctr">
              <a:buNone/>
            </a:pPr>
            <a:r>
              <a:rPr lang="en-US" sz="1400" b="1" dirty="0">
                <a:solidFill>
                  <a:schemeClr val="tx2"/>
                </a:solidFill>
              </a:rPr>
              <a:t>6</a:t>
            </a:r>
            <a:endParaRPr lang="en-US" sz="1400" dirty="0"/>
          </a:p>
        </p:txBody>
      </p:sp>
      <p:sp>
        <p:nvSpPr>
          <p:cNvPr id="38" name="Shape 36"/>
          <p:cNvSpPr/>
          <p:nvPr/>
        </p:nvSpPr>
        <p:spPr>
          <a:xfrm flipH="1">
            <a:off x="5833872" y="4526280"/>
            <a:ext cx="365760" cy="310896"/>
          </a:xfrm>
          <a:prstGeom prst="rightArrow">
            <a:avLst/>
          </a:prstGeom>
          <a:solidFill>
            <a:schemeClr val="accent5"/>
          </a:solidFill>
          <a:ln w="12700">
            <a:solidFill>
              <a:schemeClr val="accent5"/>
            </a:solidFill>
            <a:prstDash val="solid"/>
          </a:ln>
        </p:spPr>
      </p:sp>
      <p:sp>
        <p:nvSpPr>
          <p:cNvPr id="39" name="Shape 37"/>
          <p:cNvSpPr/>
          <p:nvPr/>
        </p:nvSpPr>
        <p:spPr>
          <a:xfrm>
            <a:off x="3429000" y="3657600"/>
            <a:ext cx="2423160" cy="2011680"/>
          </a:xfrm>
          <a:prstGeom prst="roundRect">
            <a:avLst>
              <a:gd name="adj" fmla="val 3636"/>
            </a:avLst>
          </a:prstGeom>
          <a:solidFill>
            <a:schemeClr val="bg2"/>
          </a:solidFill>
          <a:ln w="12700">
            <a:solidFill>
              <a:schemeClr val="bg2"/>
            </a:solidFill>
            <a:prstDash val="solid"/>
          </a:ln>
        </p:spPr>
      </p:sp>
      <p:sp>
        <p:nvSpPr>
          <p:cNvPr id="40" name="Text 38"/>
          <p:cNvSpPr txBox="1"/>
          <p:nvPr/>
        </p:nvSpPr>
        <p:spPr>
          <a:xfrm>
            <a:off x="3611880" y="3931920"/>
            <a:ext cx="2057400" cy="914400"/>
          </a:xfrm>
          <a:prstGeom prst="rect">
            <a:avLst/>
          </a:prstGeom>
          <a:noFill/>
          <a:ln/>
        </p:spPr>
        <p:txBody>
          <a:bodyPr wrap="square" lIns="0" tIns="0" rIns="0" bIns="0" rtlCol="0" anchor="t"/>
          <a:lstStyle/>
          <a:p>
            <a:pPr marL="0" indent="0">
              <a:buNone/>
            </a:pPr>
            <a:r>
              <a:rPr lang="en-US" sz="1700" b="1" dirty="0">
                <a:solidFill>
                  <a:schemeClr val="tx2"/>
                </a:solidFill>
              </a:rPr>
              <a:t>Aspect-Level Sentiment</a:t>
            </a:r>
            <a:endParaRPr lang="en-US" sz="1700" dirty="0"/>
          </a:p>
        </p:txBody>
      </p:sp>
      <p:sp>
        <p:nvSpPr>
          <p:cNvPr id="41" name="Text 39"/>
          <p:cNvSpPr txBox="1"/>
          <p:nvPr/>
        </p:nvSpPr>
        <p:spPr>
          <a:xfrm>
            <a:off x="3611880" y="4937760"/>
            <a:ext cx="2057400" cy="640080"/>
          </a:xfrm>
          <a:prstGeom prst="rect">
            <a:avLst/>
          </a:prstGeom>
          <a:noFill/>
          <a:ln/>
        </p:spPr>
        <p:txBody>
          <a:bodyPr wrap="square" lIns="0" tIns="0" rIns="0" bIns="0" rtlCol="0" anchor="t"/>
          <a:lstStyle/>
          <a:p>
            <a:pPr marL="0" indent="0">
              <a:buNone/>
            </a:pPr>
            <a:r>
              <a:rPr lang="en-US" sz="1300" dirty="0">
                <a:solidFill>
                  <a:schemeClr val="accent5"/>
                </a:solidFill>
              </a:rPr>
              <a:t>classifier applied to each context</a:t>
            </a:r>
            <a:endParaRPr lang="en-US" sz="1300" dirty="0"/>
          </a:p>
        </p:txBody>
      </p:sp>
      <p:sp>
        <p:nvSpPr>
          <p:cNvPr id="42" name="Shape 40"/>
          <p:cNvSpPr/>
          <p:nvPr/>
        </p:nvSpPr>
        <p:spPr>
          <a:xfrm>
            <a:off x="3566160" y="3520440"/>
            <a:ext cx="365760" cy="329184"/>
          </a:xfrm>
          <a:prstGeom prst="roundRect">
            <a:avLst>
              <a:gd name="adj" fmla="val 138889"/>
            </a:avLst>
          </a:prstGeom>
          <a:solidFill>
            <a:srgbClr val="F2A33A"/>
          </a:solidFill>
          <a:ln w="12700">
            <a:solidFill>
              <a:srgbClr val="F2A33A"/>
            </a:solidFill>
            <a:prstDash val="solid"/>
          </a:ln>
        </p:spPr>
      </p:sp>
      <p:sp>
        <p:nvSpPr>
          <p:cNvPr id="43" name="Text 41"/>
          <p:cNvSpPr txBox="1"/>
          <p:nvPr/>
        </p:nvSpPr>
        <p:spPr>
          <a:xfrm>
            <a:off x="3566160" y="3520440"/>
            <a:ext cx="365760" cy="329184"/>
          </a:xfrm>
          <a:prstGeom prst="rect">
            <a:avLst/>
          </a:prstGeom>
          <a:noFill/>
          <a:ln/>
        </p:spPr>
        <p:txBody>
          <a:bodyPr wrap="square" lIns="0" tIns="0" rIns="0" bIns="0" rtlCol="0" anchor="ctr"/>
          <a:lstStyle/>
          <a:p>
            <a:pPr marL="0" indent="0" algn="ctr">
              <a:buNone/>
            </a:pPr>
            <a:r>
              <a:rPr lang="en-US" sz="1400" b="1" dirty="0">
                <a:solidFill>
                  <a:schemeClr val="tx2"/>
                </a:solidFill>
              </a:rPr>
              <a:t>7</a:t>
            </a:r>
            <a:endParaRPr lang="en-US" sz="1400" dirty="0"/>
          </a:p>
        </p:txBody>
      </p:sp>
      <p:sp>
        <p:nvSpPr>
          <p:cNvPr id="44" name="Shape 42"/>
          <p:cNvSpPr/>
          <p:nvPr/>
        </p:nvSpPr>
        <p:spPr>
          <a:xfrm flipH="1">
            <a:off x="2953512" y="4526280"/>
            <a:ext cx="365760" cy="310896"/>
          </a:xfrm>
          <a:prstGeom prst="rightArrow">
            <a:avLst/>
          </a:prstGeom>
          <a:solidFill>
            <a:schemeClr val="accent5"/>
          </a:solidFill>
          <a:ln w="12700">
            <a:solidFill>
              <a:schemeClr val="accent5"/>
            </a:solidFill>
            <a:prstDash val="solid"/>
          </a:ln>
        </p:spPr>
      </p:sp>
      <p:sp>
        <p:nvSpPr>
          <p:cNvPr id="45" name="Shape 43"/>
          <p:cNvSpPr/>
          <p:nvPr/>
        </p:nvSpPr>
        <p:spPr>
          <a:xfrm>
            <a:off x="548640" y="3657600"/>
            <a:ext cx="2423160" cy="2011680"/>
          </a:xfrm>
          <a:prstGeom prst="roundRect">
            <a:avLst>
              <a:gd name="adj" fmla="val 3636"/>
            </a:avLst>
          </a:prstGeom>
          <a:solidFill>
            <a:schemeClr val="tx2"/>
          </a:solidFill>
          <a:ln w="12700">
            <a:solidFill>
              <a:schemeClr val="tx2"/>
            </a:solidFill>
            <a:prstDash val="solid"/>
          </a:ln>
        </p:spPr>
      </p:sp>
      <p:sp>
        <p:nvSpPr>
          <p:cNvPr id="46" name="Text 44"/>
          <p:cNvSpPr txBox="1"/>
          <p:nvPr/>
        </p:nvSpPr>
        <p:spPr>
          <a:xfrm>
            <a:off x="731520" y="3931920"/>
            <a:ext cx="2057400" cy="914400"/>
          </a:xfrm>
          <a:prstGeom prst="rect">
            <a:avLst/>
          </a:prstGeom>
          <a:noFill/>
          <a:ln/>
        </p:spPr>
        <p:txBody>
          <a:bodyPr wrap="square" lIns="0" tIns="0" rIns="0" bIns="0" rtlCol="0" anchor="t"/>
          <a:lstStyle/>
          <a:p>
            <a:pPr marL="0" indent="0">
              <a:buNone/>
            </a:pPr>
            <a:r>
              <a:rPr lang="en-US" sz="1700" b="1" dirty="0">
                <a:solidFill>
                  <a:schemeClr val="bg1"/>
                </a:solidFill>
              </a:rPr>
              <a:t>Final ABSA Output</a:t>
            </a:r>
            <a:endParaRPr lang="en-US" sz="1700" dirty="0"/>
          </a:p>
        </p:txBody>
      </p:sp>
      <p:sp>
        <p:nvSpPr>
          <p:cNvPr id="47" name="Text 45"/>
          <p:cNvSpPr txBox="1"/>
          <p:nvPr/>
        </p:nvSpPr>
        <p:spPr>
          <a:xfrm>
            <a:off x="731520" y="4937760"/>
            <a:ext cx="2057400" cy="640080"/>
          </a:xfrm>
          <a:prstGeom prst="rect">
            <a:avLst/>
          </a:prstGeom>
          <a:noFill/>
          <a:ln/>
        </p:spPr>
        <p:txBody>
          <a:bodyPr wrap="square" lIns="0" tIns="0" rIns="0" bIns="0" rtlCol="0" anchor="t"/>
          <a:lstStyle/>
          <a:p>
            <a:pPr marL="0" indent="0">
              <a:buNone/>
            </a:pPr>
            <a:r>
              <a:rPr lang="en-US" sz="1300" dirty="0">
                <a:solidFill>
                  <a:schemeClr val="bg1"/>
                </a:solidFill>
              </a:rPr>
              <a:t>aspects + their sentiments</a:t>
            </a:r>
            <a:endParaRPr lang="en-US" sz="1300" dirty="0"/>
          </a:p>
        </p:txBody>
      </p:sp>
      <p:sp>
        <p:nvSpPr>
          <p:cNvPr id="48" name="Shape 46"/>
          <p:cNvSpPr/>
          <p:nvPr/>
        </p:nvSpPr>
        <p:spPr>
          <a:xfrm>
            <a:off x="685800" y="3520440"/>
            <a:ext cx="365760" cy="329184"/>
          </a:xfrm>
          <a:prstGeom prst="roundRect">
            <a:avLst>
              <a:gd name="adj" fmla="val 138889"/>
            </a:avLst>
          </a:prstGeom>
          <a:solidFill>
            <a:srgbClr val="F2A33A"/>
          </a:solidFill>
          <a:ln w="12700">
            <a:solidFill>
              <a:srgbClr val="F2A33A"/>
            </a:solidFill>
            <a:prstDash val="solid"/>
          </a:ln>
        </p:spPr>
      </p:sp>
      <p:sp>
        <p:nvSpPr>
          <p:cNvPr id="49" name="Text 47"/>
          <p:cNvSpPr txBox="1"/>
          <p:nvPr/>
        </p:nvSpPr>
        <p:spPr>
          <a:xfrm>
            <a:off x="685800" y="3520440"/>
            <a:ext cx="365760" cy="329184"/>
          </a:xfrm>
          <a:prstGeom prst="rect">
            <a:avLst/>
          </a:prstGeom>
          <a:noFill/>
          <a:ln/>
        </p:spPr>
        <p:txBody>
          <a:bodyPr wrap="square" lIns="0" tIns="0" rIns="0" bIns="0" rtlCol="0" anchor="ctr"/>
          <a:lstStyle/>
          <a:p>
            <a:pPr marL="0" indent="0" algn="ctr">
              <a:buNone/>
            </a:pPr>
            <a:r>
              <a:rPr lang="en-US" sz="1400" b="1" dirty="0">
                <a:solidFill>
                  <a:schemeClr val="tx2"/>
                </a:solidFill>
              </a:rPr>
              <a:t>8</a:t>
            </a:r>
            <a:endParaRPr lang="en-US" sz="1400" dirty="0"/>
          </a:p>
        </p:txBody>
      </p:sp>
      <p:sp>
        <p:nvSpPr>
          <p:cNvPr id="50" name="Text 48"/>
          <p:cNvSpPr txBox="1"/>
          <p:nvPr/>
        </p:nvSpPr>
        <p:spPr>
          <a:xfrm>
            <a:off x="548640" y="5897880"/>
            <a:ext cx="11064240" cy="365760"/>
          </a:xfrm>
          <a:prstGeom prst="rect">
            <a:avLst/>
          </a:prstGeom>
          <a:noFill/>
          <a:ln/>
        </p:spPr>
        <p:txBody>
          <a:bodyPr wrap="square" lIns="0" tIns="0" rIns="0" bIns="0" rtlCol="0" anchor="t"/>
          <a:lstStyle/>
          <a:p>
            <a:pPr marL="0" indent="0">
              <a:buNone/>
            </a:pPr>
            <a:r>
              <a:rPr lang="en-US" sz="1400" dirty="0">
                <a:solidFill>
                  <a:schemeClr val="accent5"/>
                </a:solidFill>
              </a:rPr>
              <a:t>TF-IDF is fitted on training data only. Sentiment labels are sentence-level, so aspect sentiment is inferred from local context.</a:t>
            </a:r>
            <a:endParaRPr lang="en-US" sz="1400" dirty="0"/>
          </a:p>
        </p:txBody>
      </p:sp>
      <p:sp>
        <p:nvSpPr>
          <p:cNvPr id="51"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7480"/>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Text Preprocessing &amp; TF-IDF</a:t>
            </a:r>
            <a:endParaRPr lang="en-US" sz="3400" dirty="0"/>
          </a:p>
        </p:txBody>
      </p:sp>
      <p:sp>
        <p:nvSpPr>
          <p:cNvPr id="3" name="Shape 1"/>
          <p:cNvSpPr/>
          <p:nvPr/>
        </p:nvSpPr>
        <p:spPr>
          <a:xfrm>
            <a:off x="548640" y="1371600"/>
            <a:ext cx="5486400" cy="4846320"/>
          </a:xfrm>
          <a:prstGeom prst="roundRect">
            <a:avLst>
              <a:gd name="adj" fmla="val 1509"/>
            </a:avLst>
          </a:prstGeom>
          <a:solidFill>
            <a:schemeClr val="bg2"/>
          </a:solidFill>
          <a:ln w="12700">
            <a:solidFill>
              <a:schemeClr val="bg2"/>
            </a:solidFill>
            <a:prstDash val="solid"/>
          </a:ln>
        </p:spPr>
      </p:sp>
      <p:sp>
        <p:nvSpPr>
          <p:cNvPr id="4" name="Text 2"/>
          <p:cNvSpPr txBox="1"/>
          <p:nvPr/>
        </p:nvSpPr>
        <p:spPr>
          <a:xfrm>
            <a:off x="822960" y="1554480"/>
            <a:ext cx="4937760" cy="411480"/>
          </a:xfrm>
          <a:prstGeom prst="rect">
            <a:avLst/>
          </a:prstGeom>
          <a:noFill/>
          <a:ln/>
        </p:spPr>
        <p:txBody>
          <a:bodyPr wrap="square" lIns="0" tIns="0" rIns="0" bIns="0" rtlCol="0" anchor="t"/>
          <a:lstStyle/>
          <a:p>
            <a:pPr marL="0" indent="0">
              <a:buNone/>
            </a:pPr>
            <a:r>
              <a:rPr lang="en-US" sz="2000" b="1" dirty="0">
                <a:solidFill>
                  <a:schemeClr val="tx2"/>
                </a:solidFill>
              </a:rPr>
              <a:t>Text preprocessing</a:t>
            </a:r>
            <a:endParaRPr lang="en-US" sz="2000" dirty="0"/>
          </a:p>
        </p:txBody>
      </p:sp>
      <p:sp>
        <p:nvSpPr>
          <p:cNvPr id="5" name="Shape 3"/>
          <p:cNvSpPr/>
          <p:nvPr/>
        </p:nvSpPr>
        <p:spPr>
          <a:xfrm>
            <a:off x="822960" y="2148840"/>
            <a:ext cx="2240280" cy="731520"/>
          </a:xfrm>
          <a:prstGeom prst="roundRect">
            <a:avLst>
              <a:gd name="adj" fmla="val 10000"/>
            </a:avLst>
          </a:prstGeom>
          <a:solidFill>
            <a:schemeClr val="bg1"/>
          </a:solidFill>
          <a:ln w="12700">
            <a:solidFill>
              <a:schemeClr val="bg1"/>
            </a:solidFill>
            <a:prstDash val="solid"/>
          </a:ln>
        </p:spPr>
      </p:sp>
      <p:sp>
        <p:nvSpPr>
          <p:cNvPr id="6" name="Text 4"/>
          <p:cNvSpPr txBox="1"/>
          <p:nvPr/>
        </p:nvSpPr>
        <p:spPr>
          <a:xfrm>
            <a:off x="822960" y="2148840"/>
            <a:ext cx="2240280" cy="731520"/>
          </a:xfrm>
          <a:prstGeom prst="rect">
            <a:avLst/>
          </a:prstGeom>
          <a:noFill/>
          <a:ln/>
        </p:spPr>
        <p:txBody>
          <a:bodyPr wrap="square" lIns="0" tIns="0" rIns="0" bIns="0" rtlCol="0" anchor="ctr"/>
          <a:lstStyle/>
          <a:p>
            <a:pPr marL="0" indent="0" algn="ctr">
              <a:buNone/>
            </a:pPr>
            <a:r>
              <a:rPr lang="en-US" sz="1300" i="1" dirty="0">
                <a:solidFill>
                  <a:schemeClr val="tx1"/>
                </a:solidFill>
              </a:rPr>
              <a:t>The ROOM was very CLEAN!</a:t>
            </a:r>
            <a:endParaRPr lang="en-US" sz="1300" dirty="0"/>
          </a:p>
        </p:txBody>
      </p:sp>
      <p:sp>
        <p:nvSpPr>
          <p:cNvPr id="7" name="Shape 5"/>
          <p:cNvSpPr/>
          <p:nvPr/>
        </p:nvSpPr>
        <p:spPr>
          <a:xfrm>
            <a:off x="3127248" y="2359152"/>
            <a:ext cx="329184" cy="310896"/>
          </a:xfrm>
          <a:prstGeom prst="rightArrow">
            <a:avLst/>
          </a:prstGeom>
          <a:solidFill>
            <a:schemeClr val="accent1"/>
          </a:solidFill>
          <a:ln w="12700">
            <a:solidFill>
              <a:schemeClr val="accent1"/>
            </a:solidFill>
            <a:prstDash val="solid"/>
          </a:ln>
        </p:spPr>
      </p:sp>
      <p:sp>
        <p:nvSpPr>
          <p:cNvPr id="8" name="Shape 6"/>
          <p:cNvSpPr/>
          <p:nvPr/>
        </p:nvSpPr>
        <p:spPr>
          <a:xfrm>
            <a:off x="3520440" y="2148840"/>
            <a:ext cx="2240280" cy="731520"/>
          </a:xfrm>
          <a:prstGeom prst="roundRect">
            <a:avLst>
              <a:gd name="adj" fmla="val 10000"/>
            </a:avLst>
          </a:prstGeom>
          <a:solidFill>
            <a:schemeClr val="tx2"/>
          </a:solidFill>
          <a:ln w="12700">
            <a:solidFill>
              <a:schemeClr val="tx2"/>
            </a:solidFill>
            <a:prstDash val="solid"/>
          </a:ln>
        </p:spPr>
      </p:sp>
      <p:sp>
        <p:nvSpPr>
          <p:cNvPr id="9" name="Text 7"/>
          <p:cNvSpPr txBox="1"/>
          <p:nvPr/>
        </p:nvSpPr>
        <p:spPr>
          <a:xfrm>
            <a:off x="3520440" y="2148840"/>
            <a:ext cx="2240280" cy="731520"/>
          </a:xfrm>
          <a:prstGeom prst="rect">
            <a:avLst/>
          </a:prstGeom>
          <a:noFill/>
          <a:ln/>
        </p:spPr>
        <p:txBody>
          <a:bodyPr wrap="square" lIns="0" tIns="0" rIns="0" bIns="0" rtlCol="0" anchor="ctr"/>
          <a:lstStyle/>
          <a:p>
            <a:pPr marL="0" indent="0" algn="ctr">
              <a:buNone/>
            </a:pPr>
            <a:r>
              <a:rPr lang="en-US" sz="1300" i="1" dirty="0">
                <a:solidFill>
                  <a:schemeClr val="bg1"/>
                </a:solidFill>
              </a:rPr>
              <a:t>the room was very clean</a:t>
            </a:r>
            <a:endParaRPr lang="en-US" sz="1300" dirty="0"/>
          </a:p>
        </p:txBody>
      </p:sp>
      <p:sp>
        <p:nvSpPr>
          <p:cNvPr id="10" name="Shape 8"/>
          <p:cNvSpPr/>
          <p:nvPr/>
        </p:nvSpPr>
        <p:spPr>
          <a:xfrm>
            <a:off x="822960" y="3200400"/>
            <a:ext cx="411480" cy="411480"/>
          </a:xfrm>
          <a:prstGeom prst="ellipse">
            <a:avLst/>
          </a:prstGeom>
          <a:solidFill>
            <a:srgbClr val="0B7A75"/>
          </a:solidFill>
          <a:ln w="12700">
            <a:solidFill>
              <a:srgbClr val="0B7A75"/>
            </a:solidFill>
            <a:prstDash val="solid"/>
          </a:ln>
        </p:spPr>
      </p:sp>
      <p:pic>
        <p:nvPicPr>
          <p:cNvPr id="11" name="Image 0" descr="FaCheck"/>
          <p:cNvPicPr>
            <a:picLocks noChangeAspect="1"/>
          </p:cNvPicPr>
          <p:nvPr/>
        </p:nvPicPr>
        <p:blipFill>
          <a:blip r:embed="rId3"/>
          <a:stretch>
            <a:fillRect/>
          </a:stretch>
        </p:blipFill>
        <p:spPr>
          <a:xfrm>
            <a:off x="925830" y="3303270"/>
            <a:ext cx="205740" cy="205740"/>
          </a:xfrm>
          <a:prstGeom prst="rect">
            <a:avLst/>
          </a:prstGeom>
        </p:spPr>
      </p:pic>
      <p:sp>
        <p:nvSpPr>
          <p:cNvPr id="12" name="Text 9"/>
          <p:cNvSpPr txBox="1"/>
          <p:nvPr/>
        </p:nvSpPr>
        <p:spPr>
          <a:xfrm>
            <a:off x="1417320" y="3200400"/>
            <a:ext cx="4389120" cy="411480"/>
          </a:xfrm>
          <a:prstGeom prst="rect">
            <a:avLst/>
          </a:prstGeom>
          <a:noFill/>
          <a:ln/>
        </p:spPr>
        <p:txBody>
          <a:bodyPr wrap="square" lIns="0" tIns="0" rIns="0" bIns="0" rtlCol="0" anchor="ctr"/>
          <a:lstStyle/>
          <a:p>
            <a:pPr marL="0" indent="0">
              <a:buNone/>
            </a:pPr>
            <a:r>
              <a:rPr lang="en-US" sz="1500" dirty="0">
                <a:solidFill>
                  <a:schemeClr val="tx1"/>
                </a:solidFill>
              </a:rPr>
              <a:t>Convert text to lowercase</a:t>
            </a:r>
            <a:endParaRPr lang="en-US" sz="1500" dirty="0"/>
          </a:p>
        </p:txBody>
      </p:sp>
      <p:sp>
        <p:nvSpPr>
          <p:cNvPr id="13" name="Shape 10"/>
          <p:cNvSpPr/>
          <p:nvPr/>
        </p:nvSpPr>
        <p:spPr>
          <a:xfrm>
            <a:off x="822960" y="3913632"/>
            <a:ext cx="411480" cy="411480"/>
          </a:xfrm>
          <a:prstGeom prst="ellipse">
            <a:avLst/>
          </a:prstGeom>
          <a:solidFill>
            <a:srgbClr val="0B7A75"/>
          </a:solidFill>
          <a:ln w="12700">
            <a:solidFill>
              <a:srgbClr val="0B7A75"/>
            </a:solidFill>
            <a:prstDash val="solid"/>
          </a:ln>
        </p:spPr>
      </p:sp>
      <p:pic>
        <p:nvPicPr>
          <p:cNvPr id="14" name="Image 1" descr="FaCheck"/>
          <p:cNvPicPr>
            <a:picLocks noChangeAspect="1"/>
          </p:cNvPicPr>
          <p:nvPr/>
        </p:nvPicPr>
        <p:blipFill>
          <a:blip r:embed="rId3"/>
          <a:stretch>
            <a:fillRect/>
          </a:stretch>
        </p:blipFill>
        <p:spPr>
          <a:xfrm>
            <a:off x="925830" y="4016502"/>
            <a:ext cx="205740" cy="205740"/>
          </a:xfrm>
          <a:prstGeom prst="rect">
            <a:avLst/>
          </a:prstGeom>
        </p:spPr>
      </p:pic>
      <p:sp>
        <p:nvSpPr>
          <p:cNvPr id="15" name="Text 11"/>
          <p:cNvSpPr txBox="1"/>
          <p:nvPr/>
        </p:nvSpPr>
        <p:spPr>
          <a:xfrm>
            <a:off x="1417320" y="3913632"/>
            <a:ext cx="4389120" cy="411480"/>
          </a:xfrm>
          <a:prstGeom prst="rect">
            <a:avLst/>
          </a:prstGeom>
          <a:noFill/>
          <a:ln/>
        </p:spPr>
        <p:txBody>
          <a:bodyPr wrap="square" lIns="0" tIns="0" rIns="0" bIns="0" rtlCol="0" anchor="ctr"/>
          <a:lstStyle/>
          <a:p>
            <a:pPr marL="0" indent="0">
              <a:buNone/>
            </a:pPr>
            <a:r>
              <a:rPr lang="en-US" sz="1500" dirty="0">
                <a:solidFill>
                  <a:schemeClr val="tx1"/>
                </a:solidFill>
              </a:rPr>
              <a:t>Remove unnecessary special characters</a:t>
            </a:r>
            <a:endParaRPr lang="en-US" sz="1500" dirty="0"/>
          </a:p>
        </p:txBody>
      </p:sp>
      <p:sp>
        <p:nvSpPr>
          <p:cNvPr id="16" name="Shape 12"/>
          <p:cNvSpPr/>
          <p:nvPr/>
        </p:nvSpPr>
        <p:spPr>
          <a:xfrm>
            <a:off x="822960" y="4626864"/>
            <a:ext cx="411480" cy="411480"/>
          </a:xfrm>
          <a:prstGeom prst="ellipse">
            <a:avLst/>
          </a:prstGeom>
          <a:solidFill>
            <a:srgbClr val="0B7A75"/>
          </a:solidFill>
          <a:ln w="12700">
            <a:solidFill>
              <a:srgbClr val="0B7A75"/>
            </a:solidFill>
            <a:prstDash val="solid"/>
          </a:ln>
        </p:spPr>
      </p:sp>
      <p:pic>
        <p:nvPicPr>
          <p:cNvPr id="17" name="Image 2" descr="FaCheck"/>
          <p:cNvPicPr>
            <a:picLocks noChangeAspect="1"/>
          </p:cNvPicPr>
          <p:nvPr/>
        </p:nvPicPr>
        <p:blipFill>
          <a:blip r:embed="rId3"/>
          <a:stretch>
            <a:fillRect/>
          </a:stretch>
        </p:blipFill>
        <p:spPr>
          <a:xfrm>
            <a:off x="925830" y="4729734"/>
            <a:ext cx="205740" cy="205740"/>
          </a:xfrm>
          <a:prstGeom prst="rect">
            <a:avLst/>
          </a:prstGeom>
        </p:spPr>
      </p:pic>
      <p:sp>
        <p:nvSpPr>
          <p:cNvPr id="18" name="Text 13"/>
          <p:cNvSpPr txBox="1"/>
          <p:nvPr/>
        </p:nvSpPr>
        <p:spPr>
          <a:xfrm>
            <a:off x="1417320" y="4626864"/>
            <a:ext cx="4389120" cy="411480"/>
          </a:xfrm>
          <a:prstGeom prst="rect">
            <a:avLst/>
          </a:prstGeom>
          <a:noFill/>
          <a:ln/>
        </p:spPr>
        <p:txBody>
          <a:bodyPr wrap="square" lIns="0" tIns="0" rIns="0" bIns="0" rtlCol="0" anchor="ctr"/>
          <a:lstStyle/>
          <a:p>
            <a:pPr marL="0" indent="0">
              <a:buNone/>
            </a:pPr>
            <a:r>
              <a:rPr lang="en-US" sz="1500" dirty="0">
                <a:solidFill>
                  <a:schemeClr val="tx1"/>
                </a:solidFill>
              </a:rPr>
              <a:t>Normalise whitespace, trim spaces</a:t>
            </a:r>
            <a:endParaRPr lang="en-US" sz="1500" dirty="0"/>
          </a:p>
        </p:txBody>
      </p:sp>
      <p:sp>
        <p:nvSpPr>
          <p:cNvPr id="19" name="Shape 14"/>
          <p:cNvSpPr/>
          <p:nvPr/>
        </p:nvSpPr>
        <p:spPr>
          <a:xfrm>
            <a:off x="822960" y="5340096"/>
            <a:ext cx="411480" cy="411480"/>
          </a:xfrm>
          <a:prstGeom prst="ellipse">
            <a:avLst/>
          </a:prstGeom>
          <a:solidFill>
            <a:srgbClr val="0B7A75"/>
          </a:solidFill>
          <a:ln w="12700">
            <a:solidFill>
              <a:srgbClr val="0B7A75"/>
            </a:solidFill>
            <a:prstDash val="solid"/>
          </a:ln>
        </p:spPr>
      </p:sp>
      <p:pic>
        <p:nvPicPr>
          <p:cNvPr id="20" name="Image 3" descr="FaCheck"/>
          <p:cNvPicPr>
            <a:picLocks noChangeAspect="1"/>
          </p:cNvPicPr>
          <p:nvPr/>
        </p:nvPicPr>
        <p:blipFill>
          <a:blip r:embed="rId3"/>
          <a:stretch>
            <a:fillRect/>
          </a:stretch>
        </p:blipFill>
        <p:spPr>
          <a:xfrm>
            <a:off x="925830" y="5442966"/>
            <a:ext cx="205740" cy="205740"/>
          </a:xfrm>
          <a:prstGeom prst="rect">
            <a:avLst/>
          </a:prstGeom>
        </p:spPr>
      </p:pic>
      <p:sp>
        <p:nvSpPr>
          <p:cNvPr id="21" name="Text 15"/>
          <p:cNvSpPr txBox="1"/>
          <p:nvPr/>
        </p:nvSpPr>
        <p:spPr>
          <a:xfrm>
            <a:off x="1417320" y="5340096"/>
            <a:ext cx="4389120" cy="411480"/>
          </a:xfrm>
          <a:prstGeom prst="rect">
            <a:avLst/>
          </a:prstGeom>
          <a:noFill/>
          <a:ln/>
        </p:spPr>
        <p:txBody>
          <a:bodyPr wrap="square" lIns="0" tIns="0" rIns="0" bIns="0" rtlCol="0" anchor="ctr"/>
          <a:lstStyle/>
          <a:p>
            <a:pPr marL="0" indent="0">
              <a:buNone/>
            </a:pPr>
            <a:r>
              <a:rPr lang="en-US" sz="1500" dirty="0">
                <a:solidFill>
                  <a:schemeClr val="tx1"/>
                </a:solidFill>
              </a:rPr>
              <a:t>Keep useful information such as negation words</a:t>
            </a:r>
            <a:endParaRPr lang="en-US" sz="1500" dirty="0"/>
          </a:p>
        </p:txBody>
      </p:sp>
      <p:sp>
        <p:nvSpPr>
          <p:cNvPr id="22" name="Shape 16"/>
          <p:cNvSpPr/>
          <p:nvPr/>
        </p:nvSpPr>
        <p:spPr>
          <a:xfrm>
            <a:off x="6309360" y="1371600"/>
            <a:ext cx="5303520" cy="4846320"/>
          </a:xfrm>
          <a:prstGeom prst="roundRect">
            <a:avLst>
              <a:gd name="adj" fmla="val 1509"/>
            </a:avLst>
          </a:prstGeom>
          <a:solidFill>
            <a:schemeClr val="bg2"/>
          </a:solidFill>
          <a:ln w="12700">
            <a:solidFill>
              <a:schemeClr val="bg2"/>
            </a:solidFill>
            <a:prstDash val="solid"/>
          </a:ln>
        </p:spPr>
      </p:sp>
      <p:sp>
        <p:nvSpPr>
          <p:cNvPr id="23" name="Text 17"/>
          <p:cNvSpPr txBox="1"/>
          <p:nvPr/>
        </p:nvSpPr>
        <p:spPr>
          <a:xfrm>
            <a:off x="6583680" y="1554480"/>
            <a:ext cx="4754880" cy="411480"/>
          </a:xfrm>
          <a:prstGeom prst="rect">
            <a:avLst/>
          </a:prstGeom>
          <a:noFill/>
          <a:ln/>
        </p:spPr>
        <p:txBody>
          <a:bodyPr wrap="square" lIns="0" tIns="0" rIns="0" bIns="0" rtlCol="0" anchor="t"/>
          <a:lstStyle/>
          <a:p>
            <a:pPr marL="0" indent="0">
              <a:buNone/>
            </a:pPr>
            <a:r>
              <a:rPr lang="en-US" sz="2000" b="1" dirty="0">
                <a:solidFill>
                  <a:schemeClr val="tx2"/>
                </a:solidFill>
              </a:rPr>
              <a:t>TF-IDF configuration</a:t>
            </a:r>
            <a:endParaRPr lang="en-US" sz="2000" dirty="0"/>
          </a:p>
        </p:txBody>
      </p:sp>
      <p:sp>
        <p:nvSpPr>
          <p:cNvPr id="24" name="Shape 18"/>
          <p:cNvSpPr/>
          <p:nvPr/>
        </p:nvSpPr>
        <p:spPr>
          <a:xfrm>
            <a:off x="6583680" y="2148840"/>
            <a:ext cx="2286000" cy="1097280"/>
          </a:xfrm>
          <a:prstGeom prst="roundRect">
            <a:avLst>
              <a:gd name="adj" fmla="val 6667"/>
            </a:avLst>
          </a:prstGeom>
          <a:solidFill>
            <a:schemeClr val="bg1"/>
          </a:solidFill>
          <a:ln w="12700">
            <a:solidFill>
              <a:schemeClr val="bg1"/>
            </a:solidFill>
            <a:prstDash val="solid"/>
          </a:ln>
        </p:spPr>
      </p:sp>
      <p:sp>
        <p:nvSpPr>
          <p:cNvPr id="25" name="Text 19"/>
          <p:cNvSpPr txBox="1"/>
          <p:nvPr/>
        </p:nvSpPr>
        <p:spPr>
          <a:xfrm>
            <a:off x="6583680" y="2324405"/>
            <a:ext cx="2286000" cy="460858"/>
          </a:xfrm>
          <a:prstGeom prst="rect">
            <a:avLst/>
          </a:prstGeom>
          <a:noFill/>
          <a:ln/>
        </p:spPr>
        <p:txBody>
          <a:bodyPr wrap="square" lIns="0" tIns="0" rIns="0" bIns="0" rtlCol="0" anchor="ctr"/>
          <a:lstStyle/>
          <a:p>
            <a:pPr marL="0" indent="0" algn="ctr">
              <a:buNone/>
            </a:pPr>
            <a:r>
              <a:rPr lang="en-US" sz="2600" b="1" dirty="0">
                <a:solidFill>
                  <a:schemeClr val="accent1"/>
                </a:solidFill>
              </a:rPr>
              <a:t>10,000</a:t>
            </a:r>
            <a:endParaRPr lang="en-US" sz="2600" dirty="0"/>
          </a:p>
        </p:txBody>
      </p:sp>
      <p:sp>
        <p:nvSpPr>
          <p:cNvPr id="26" name="Text 20"/>
          <p:cNvSpPr txBox="1"/>
          <p:nvPr/>
        </p:nvSpPr>
        <p:spPr>
          <a:xfrm>
            <a:off x="6675120" y="2785262"/>
            <a:ext cx="2103120" cy="373075"/>
          </a:xfrm>
          <a:prstGeom prst="rect">
            <a:avLst/>
          </a:prstGeom>
          <a:noFill/>
          <a:ln/>
        </p:spPr>
        <p:txBody>
          <a:bodyPr wrap="square" lIns="0" tIns="0" rIns="0" bIns="0" rtlCol="0" anchor="t"/>
          <a:lstStyle/>
          <a:p>
            <a:pPr marL="0" indent="0" algn="ctr">
              <a:buNone/>
            </a:pPr>
            <a:r>
              <a:rPr lang="en-US" sz="1200" dirty="0">
                <a:solidFill>
                  <a:schemeClr val="tx1"/>
                </a:solidFill>
              </a:rPr>
              <a:t>max features</a:t>
            </a:r>
            <a:endParaRPr lang="en-US" sz="1200" dirty="0"/>
          </a:p>
        </p:txBody>
      </p:sp>
      <p:sp>
        <p:nvSpPr>
          <p:cNvPr id="27" name="Shape 21"/>
          <p:cNvSpPr/>
          <p:nvPr/>
        </p:nvSpPr>
        <p:spPr>
          <a:xfrm>
            <a:off x="9052560" y="2148840"/>
            <a:ext cx="2286000" cy="1097280"/>
          </a:xfrm>
          <a:prstGeom prst="roundRect">
            <a:avLst>
              <a:gd name="adj" fmla="val 6667"/>
            </a:avLst>
          </a:prstGeom>
          <a:solidFill>
            <a:schemeClr val="bg1"/>
          </a:solidFill>
          <a:ln w="12700">
            <a:solidFill>
              <a:schemeClr val="bg1"/>
            </a:solidFill>
            <a:prstDash val="solid"/>
          </a:ln>
        </p:spPr>
      </p:sp>
      <p:sp>
        <p:nvSpPr>
          <p:cNvPr id="28" name="Text 22"/>
          <p:cNvSpPr txBox="1"/>
          <p:nvPr/>
        </p:nvSpPr>
        <p:spPr>
          <a:xfrm>
            <a:off x="9052560" y="2324405"/>
            <a:ext cx="2286000" cy="460858"/>
          </a:xfrm>
          <a:prstGeom prst="rect">
            <a:avLst/>
          </a:prstGeom>
          <a:noFill/>
          <a:ln/>
        </p:spPr>
        <p:txBody>
          <a:bodyPr wrap="square" lIns="0" tIns="0" rIns="0" bIns="0" rtlCol="0" anchor="ctr"/>
          <a:lstStyle/>
          <a:p>
            <a:pPr marL="0" indent="0" algn="ctr">
              <a:buNone/>
            </a:pPr>
            <a:r>
              <a:rPr lang="en-US" sz="2600" b="1" dirty="0">
                <a:solidFill>
                  <a:schemeClr val="accent1"/>
                </a:solidFill>
              </a:rPr>
              <a:t>1–2</a:t>
            </a:r>
            <a:endParaRPr lang="en-US" sz="2600" dirty="0"/>
          </a:p>
        </p:txBody>
      </p:sp>
      <p:sp>
        <p:nvSpPr>
          <p:cNvPr id="29" name="Text 23"/>
          <p:cNvSpPr txBox="1"/>
          <p:nvPr/>
        </p:nvSpPr>
        <p:spPr>
          <a:xfrm>
            <a:off x="9144000" y="2785262"/>
            <a:ext cx="2103120" cy="373075"/>
          </a:xfrm>
          <a:prstGeom prst="rect">
            <a:avLst/>
          </a:prstGeom>
          <a:noFill/>
          <a:ln/>
        </p:spPr>
        <p:txBody>
          <a:bodyPr wrap="square" lIns="0" tIns="0" rIns="0" bIns="0" rtlCol="0" anchor="t"/>
          <a:lstStyle/>
          <a:p>
            <a:pPr marL="0" indent="0" algn="ctr">
              <a:buNone/>
            </a:pPr>
            <a:r>
              <a:rPr lang="en-US" sz="1200" dirty="0">
                <a:solidFill>
                  <a:schemeClr val="tx1"/>
                </a:solidFill>
              </a:rPr>
              <a:t>n-gram range</a:t>
            </a:r>
            <a:endParaRPr lang="en-US" sz="1200" dirty="0"/>
          </a:p>
        </p:txBody>
      </p:sp>
      <p:sp>
        <p:nvSpPr>
          <p:cNvPr id="30" name="Shape 24"/>
          <p:cNvSpPr/>
          <p:nvPr/>
        </p:nvSpPr>
        <p:spPr>
          <a:xfrm>
            <a:off x="6583680" y="3383280"/>
            <a:ext cx="2286000" cy="1097280"/>
          </a:xfrm>
          <a:prstGeom prst="roundRect">
            <a:avLst>
              <a:gd name="adj" fmla="val 6667"/>
            </a:avLst>
          </a:prstGeom>
          <a:solidFill>
            <a:schemeClr val="bg1"/>
          </a:solidFill>
          <a:ln w="12700">
            <a:solidFill>
              <a:schemeClr val="bg1"/>
            </a:solidFill>
            <a:prstDash val="solid"/>
          </a:ln>
        </p:spPr>
      </p:sp>
      <p:sp>
        <p:nvSpPr>
          <p:cNvPr id="31" name="Text 25"/>
          <p:cNvSpPr txBox="1"/>
          <p:nvPr/>
        </p:nvSpPr>
        <p:spPr>
          <a:xfrm>
            <a:off x="6583680" y="3558845"/>
            <a:ext cx="2286000" cy="460858"/>
          </a:xfrm>
          <a:prstGeom prst="rect">
            <a:avLst/>
          </a:prstGeom>
          <a:noFill/>
          <a:ln/>
        </p:spPr>
        <p:txBody>
          <a:bodyPr wrap="square" lIns="0" tIns="0" rIns="0" bIns="0" rtlCol="0" anchor="ctr"/>
          <a:lstStyle/>
          <a:p>
            <a:pPr marL="0" indent="0" algn="ctr">
              <a:buNone/>
            </a:pPr>
            <a:r>
              <a:rPr lang="en-US" sz="2600" b="1" dirty="0">
                <a:solidFill>
                  <a:schemeClr val="accent1"/>
                </a:solidFill>
              </a:rPr>
              <a:t>2</a:t>
            </a:r>
            <a:endParaRPr lang="en-US" sz="2600" dirty="0"/>
          </a:p>
        </p:txBody>
      </p:sp>
      <p:sp>
        <p:nvSpPr>
          <p:cNvPr id="32" name="Text 26"/>
          <p:cNvSpPr txBox="1"/>
          <p:nvPr/>
        </p:nvSpPr>
        <p:spPr>
          <a:xfrm>
            <a:off x="6675120" y="4019702"/>
            <a:ext cx="2103120" cy="373075"/>
          </a:xfrm>
          <a:prstGeom prst="rect">
            <a:avLst/>
          </a:prstGeom>
          <a:noFill/>
          <a:ln/>
        </p:spPr>
        <p:txBody>
          <a:bodyPr wrap="square" lIns="0" tIns="0" rIns="0" bIns="0" rtlCol="0" anchor="t"/>
          <a:lstStyle/>
          <a:p>
            <a:pPr marL="0" indent="0" algn="ctr">
              <a:buNone/>
            </a:pPr>
            <a:r>
              <a:rPr lang="en-US" sz="1200" dirty="0">
                <a:solidFill>
                  <a:schemeClr val="tx1"/>
                </a:solidFill>
              </a:rPr>
              <a:t>min document frequency</a:t>
            </a:r>
            <a:endParaRPr lang="en-US" sz="1200" dirty="0"/>
          </a:p>
        </p:txBody>
      </p:sp>
      <p:sp>
        <p:nvSpPr>
          <p:cNvPr id="33" name="Shape 27"/>
          <p:cNvSpPr/>
          <p:nvPr/>
        </p:nvSpPr>
        <p:spPr>
          <a:xfrm>
            <a:off x="9052560" y="3383280"/>
            <a:ext cx="2286000" cy="1097280"/>
          </a:xfrm>
          <a:prstGeom prst="roundRect">
            <a:avLst>
              <a:gd name="adj" fmla="val 6667"/>
            </a:avLst>
          </a:prstGeom>
          <a:solidFill>
            <a:schemeClr val="bg1"/>
          </a:solidFill>
          <a:ln w="12700">
            <a:solidFill>
              <a:schemeClr val="bg1"/>
            </a:solidFill>
            <a:prstDash val="solid"/>
          </a:ln>
        </p:spPr>
      </p:sp>
      <p:sp>
        <p:nvSpPr>
          <p:cNvPr id="34" name="Text 28"/>
          <p:cNvSpPr txBox="1"/>
          <p:nvPr/>
        </p:nvSpPr>
        <p:spPr>
          <a:xfrm>
            <a:off x="9052560" y="3558845"/>
            <a:ext cx="2286000" cy="460858"/>
          </a:xfrm>
          <a:prstGeom prst="rect">
            <a:avLst/>
          </a:prstGeom>
          <a:noFill/>
          <a:ln/>
        </p:spPr>
        <p:txBody>
          <a:bodyPr wrap="square" lIns="0" tIns="0" rIns="0" bIns="0" rtlCol="0" anchor="ctr"/>
          <a:lstStyle/>
          <a:p>
            <a:pPr marL="0" indent="0" algn="ctr">
              <a:buNone/>
            </a:pPr>
            <a:r>
              <a:rPr lang="en-US" sz="2600" b="1" dirty="0">
                <a:solidFill>
                  <a:schemeClr val="accent1"/>
                </a:solidFill>
              </a:rPr>
              <a:t>True</a:t>
            </a:r>
            <a:endParaRPr lang="en-US" sz="2600" dirty="0"/>
          </a:p>
        </p:txBody>
      </p:sp>
      <p:sp>
        <p:nvSpPr>
          <p:cNvPr id="35" name="Text 29"/>
          <p:cNvSpPr txBox="1"/>
          <p:nvPr/>
        </p:nvSpPr>
        <p:spPr>
          <a:xfrm>
            <a:off x="9144000" y="4019702"/>
            <a:ext cx="2103120" cy="373075"/>
          </a:xfrm>
          <a:prstGeom prst="rect">
            <a:avLst/>
          </a:prstGeom>
          <a:noFill/>
          <a:ln/>
        </p:spPr>
        <p:txBody>
          <a:bodyPr wrap="square" lIns="0" tIns="0" rIns="0" bIns="0" rtlCol="0" anchor="t"/>
          <a:lstStyle/>
          <a:p>
            <a:pPr marL="0" indent="0" algn="ctr">
              <a:buNone/>
            </a:pPr>
            <a:r>
              <a:rPr lang="en-US" sz="1200" dirty="0">
                <a:solidFill>
                  <a:schemeClr val="tx1"/>
                </a:solidFill>
              </a:rPr>
              <a:t>sublinear TF</a:t>
            </a:r>
            <a:endParaRPr lang="en-US" sz="1200" dirty="0"/>
          </a:p>
        </p:txBody>
      </p:sp>
      <p:sp>
        <p:nvSpPr>
          <p:cNvPr id="36" name="Text 30"/>
          <p:cNvSpPr txBox="1"/>
          <p:nvPr/>
        </p:nvSpPr>
        <p:spPr>
          <a:xfrm>
            <a:off x="6583680" y="4709160"/>
            <a:ext cx="4754880" cy="320040"/>
          </a:xfrm>
          <a:prstGeom prst="rect">
            <a:avLst/>
          </a:prstGeom>
          <a:noFill/>
          <a:ln/>
        </p:spPr>
        <p:txBody>
          <a:bodyPr wrap="square" lIns="0" tIns="0" rIns="0" bIns="0" rtlCol="0" anchor="t"/>
          <a:lstStyle/>
          <a:p>
            <a:pPr marL="0" indent="0">
              <a:buNone/>
            </a:pPr>
            <a:r>
              <a:rPr lang="en-US" sz="1400" b="1" dirty="0">
                <a:solidFill>
                  <a:schemeClr val="tx2"/>
                </a:solidFill>
              </a:rPr>
              <a:t>Example: “very clean room”</a:t>
            </a:r>
            <a:endParaRPr lang="en-US" sz="1400" dirty="0"/>
          </a:p>
        </p:txBody>
      </p:sp>
      <p:sp>
        <p:nvSpPr>
          <p:cNvPr id="37" name="Shape 31"/>
          <p:cNvSpPr/>
          <p:nvPr/>
        </p:nvSpPr>
        <p:spPr>
          <a:xfrm>
            <a:off x="6583680" y="5120640"/>
            <a:ext cx="960120" cy="384048"/>
          </a:xfrm>
          <a:prstGeom prst="roundRect">
            <a:avLst>
              <a:gd name="adj" fmla="val 119048"/>
            </a:avLst>
          </a:prstGeom>
          <a:solidFill>
            <a:srgbClr val="0B7A75"/>
          </a:solidFill>
          <a:ln w="12700">
            <a:solidFill>
              <a:srgbClr val="0B7A75"/>
            </a:solidFill>
            <a:prstDash val="solid"/>
          </a:ln>
        </p:spPr>
      </p:sp>
      <p:sp>
        <p:nvSpPr>
          <p:cNvPr id="38" name="Text 32"/>
          <p:cNvSpPr txBox="1"/>
          <p:nvPr/>
        </p:nvSpPr>
        <p:spPr>
          <a:xfrm>
            <a:off x="6583680" y="5120640"/>
            <a:ext cx="960120" cy="384048"/>
          </a:xfrm>
          <a:prstGeom prst="rect">
            <a:avLst/>
          </a:prstGeom>
          <a:noFill/>
          <a:ln/>
        </p:spPr>
        <p:txBody>
          <a:bodyPr wrap="square" lIns="0" tIns="0" rIns="0" bIns="0" rtlCol="0" anchor="ctr"/>
          <a:lstStyle/>
          <a:p>
            <a:pPr marL="0" indent="0" algn="ctr">
              <a:buNone/>
            </a:pPr>
            <a:r>
              <a:rPr lang="en-US" sz="1300" b="1" dirty="0">
                <a:solidFill>
                  <a:schemeClr val="bg1"/>
                </a:solidFill>
              </a:rPr>
              <a:t>very</a:t>
            </a:r>
            <a:endParaRPr lang="en-US" sz="1300" dirty="0"/>
          </a:p>
        </p:txBody>
      </p:sp>
      <p:sp>
        <p:nvSpPr>
          <p:cNvPr id="39" name="Shape 33"/>
          <p:cNvSpPr/>
          <p:nvPr/>
        </p:nvSpPr>
        <p:spPr>
          <a:xfrm>
            <a:off x="7635240" y="5120640"/>
            <a:ext cx="960120" cy="384048"/>
          </a:xfrm>
          <a:prstGeom prst="roundRect">
            <a:avLst>
              <a:gd name="adj" fmla="val 119048"/>
            </a:avLst>
          </a:prstGeom>
          <a:solidFill>
            <a:srgbClr val="0B7A75"/>
          </a:solidFill>
          <a:ln w="12700">
            <a:solidFill>
              <a:srgbClr val="0B7A75"/>
            </a:solidFill>
            <a:prstDash val="solid"/>
          </a:ln>
        </p:spPr>
      </p:sp>
      <p:sp>
        <p:nvSpPr>
          <p:cNvPr id="40" name="Text 34"/>
          <p:cNvSpPr txBox="1"/>
          <p:nvPr/>
        </p:nvSpPr>
        <p:spPr>
          <a:xfrm>
            <a:off x="7635240" y="5120640"/>
            <a:ext cx="960120" cy="384048"/>
          </a:xfrm>
          <a:prstGeom prst="rect">
            <a:avLst/>
          </a:prstGeom>
          <a:noFill/>
          <a:ln/>
        </p:spPr>
        <p:txBody>
          <a:bodyPr wrap="square" lIns="0" tIns="0" rIns="0" bIns="0" rtlCol="0" anchor="ctr"/>
          <a:lstStyle/>
          <a:p>
            <a:pPr marL="0" indent="0" algn="ctr">
              <a:buNone/>
            </a:pPr>
            <a:r>
              <a:rPr lang="en-US" sz="1300" b="1" dirty="0">
                <a:solidFill>
                  <a:schemeClr val="bg1"/>
                </a:solidFill>
              </a:rPr>
              <a:t>clean</a:t>
            </a:r>
            <a:endParaRPr lang="en-US" sz="1300" dirty="0"/>
          </a:p>
        </p:txBody>
      </p:sp>
      <p:sp>
        <p:nvSpPr>
          <p:cNvPr id="41" name="Shape 35"/>
          <p:cNvSpPr/>
          <p:nvPr/>
        </p:nvSpPr>
        <p:spPr>
          <a:xfrm>
            <a:off x="8686800" y="5120640"/>
            <a:ext cx="960120" cy="384048"/>
          </a:xfrm>
          <a:prstGeom prst="roundRect">
            <a:avLst>
              <a:gd name="adj" fmla="val 119048"/>
            </a:avLst>
          </a:prstGeom>
          <a:solidFill>
            <a:srgbClr val="0B7A75"/>
          </a:solidFill>
          <a:ln w="12700">
            <a:solidFill>
              <a:srgbClr val="0B7A75"/>
            </a:solidFill>
            <a:prstDash val="solid"/>
          </a:ln>
        </p:spPr>
      </p:sp>
      <p:sp>
        <p:nvSpPr>
          <p:cNvPr id="42" name="Text 36"/>
          <p:cNvSpPr txBox="1"/>
          <p:nvPr/>
        </p:nvSpPr>
        <p:spPr>
          <a:xfrm>
            <a:off x="8686800" y="5120640"/>
            <a:ext cx="960120" cy="384048"/>
          </a:xfrm>
          <a:prstGeom prst="rect">
            <a:avLst/>
          </a:prstGeom>
          <a:noFill/>
          <a:ln/>
        </p:spPr>
        <p:txBody>
          <a:bodyPr wrap="square" lIns="0" tIns="0" rIns="0" bIns="0" rtlCol="0" anchor="ctr"/>
          <a:lstStyle/>
          <a:p>
            <a:pPr marL="0" indent="0" algn="ctr">
              <a:buNone/>
            </a:pPr>
            <a:r>
              <a:rPr lang="en-US" sz="1300" b="1" dirty="0">
                <a:solidFill>
                  <a:schemeClr val="bg1"/>
                </a:solidFill>
              </a:rPr>
              <a:t>room</a:t>
            </a:r>
            <a:endParaRPr lang="en-US" sz="1300" dirty="0"/>
          </a:p>
        </p:txBody>
      </p:sp>
      <p:sp>
        <p:nvSpPr>
          <p:cNvPr id="43" name="Shape 37"/>
          <p:cNvSpPr/>
          <p:nvPr/>
        </p:nvSpPr>
        <p:spPr>
          <a:xfrm>
            <a:off x="6583680" y="5623560"/>
            <a:ext cx="1371600" cy="384048"/>
          </a:xfrm>
          <a:prstGeom prst="roundRect">
            <a:avLst>
              <a:gd name="adj" fmla="val 119048"/>
            </a:avLst>
          </a:prstGeom>
          <a:solidFill>
            <a:srgbClr val="0B3C49"/>
          </a:solidFill>
          <a:ln w="12700">
            <a:solidFill>
              <a:srgbClr val="0B3C49"/>
            </a:solidFill>
            <a:prstDash val="solid"/>
          </a:ln>
        </p:spPr>
      </p:sp>
      <p:sp>
        <p:nvSpPr>
          <p:cNvPr id="44" name="Text 38"/>
          <p:cNvSpPr txBox="1"/>
          <p:nvPr/>
        </p:nvSpPr>
        <p:spPr>
          <a:xfrm>
            <a:off x="6583680" y="5623560"/>
            <a:ext cx="1371600" cy="384048"/>
          </a:xfrm>
          <a:prstGeom prst="rect">
            <a:avLst/>
          </a:prstGeom>
          <a:noFill/>
          <a:ln/>
        </p:spPr>
        <p:txBody>
          <a:bodyPr wrap="square" lIns="0" tIns="0" rIns="0" bIns="0" rtlCol="0" anchor="ctr"/>
          <a:lstStyle/>
          <a:p>
            <a:pPr marL="0" indent="0" algn="ctr">
              <a:buNone/>
            </a:pPr>
            <a:r>
              <a:rPr lang="en-US" sz="1300" b="1" dirty="0">
                <a:solidFill>
                  <a:schemeClr val="bg1"/>
                </a:solidFill>
              </a:rPr>
              <a:t>very clean</a:t>
            </a:r>
            <a:endParaRPr lang="en-US" sz="1300" dirty="0"/>
          </a:p>
        </p:txBody>
      </p:sp>
      <p:sp>
        <p:nvSpPr>
          <p:cNvPr id="45" name="Shape 39"/>
          <p:cNvSpPr/>
          <p:nvPr/>
        </p:nvSpPr>
        <p:spPr>
          <a:xfrm>
            <a:off x="8092440" y="5623560"/>
            <a:ext cx="1371600" cy="384048"/>
          </a:xfrm>
          <a:prstGeom prst="roundRect">
            <a:avLst>
              <a:gd name="adj" fmla="val 119048"/>
            </a:avLst>
          </a:prstGeom>
          <a:solidFill>
            <a:srgbClr val="0B3C49"/>
          </a:solidFill>
          <a:ln w="12700">
            <a:solidFill>
              <a:srgbClr val="0B3C49"/>
            </a:solidFill>
            <a:prstDash val="solid"/>
          </a:ln>
        </p:spPr>
      </p:sp>
      <p:sp>
        <p:nvSpPr>
          <p:cNvPr id="46" name="Text 40"/>
          <p:cNvSpPr txBox="1"/>
          <p:nvPr/>
        </p:nvSpPr>
        <p:spPr>
          <a:xfrm>
            <a:off x="8092440" y="5623560"/>
            <a:ext cx="1371600" cy="384048"/>
          </a:xfrm>
          <a:prstGeom prst="rect">
            <a:avLst/>
          </a:prstGeom>
          <a:noFill/>
          <a:ln/>
        </p:spPr>
        <p:txBody>
          <a:bodyPr wrap="square" lIns="0" tIns="0" rIns="0" bIns="0" rtlCol="0" anchor="ctr"/>
          <a:lstStyle/>
          <a:p>
            <a:pPr marL="0" indent="0" algn="ctr">
              <a:buNone/>
            </a:pPr>
            <a:r>
              <a:rPr lang="en-US" sz="1300" b="1" dirty="0">
                <a:solidFill>
                  <a:schemeClr val="bg1"/>
                </a:solidFill>
              </a:rPr>
              <a:t>clean room</a:t>
            </a:r>
            <a:endParaRPr lang="en-US" sz="1300" dirty="0"/>
          </a:p>
        </p:txBody>
      </p:sp>
      <p:sp>
        <p:nvSpPr>
          <p:cNvPr id="47" name="Text 41"/>
          <p:cNvSpPr txBox="1"/>
          <p:nvPr/>
        </p:nvSpPr>
        <p:spPr>
          <a:xfrm>
            <a:off x="9646920" y="5623560"/>
            <a:ext cx="1828800" cy="384048"/>
          </a:xfrm>
          <a:prstGeom prst="rect">
            <a:avLst/>
          </a:prstGeom>
          <a:noFill/>
          <a:ln/>
        </p:spPr>
        <p:txBody>
          <a:bodyPr wrap="square" lIns="0" tIns="0" rIns="0" bIns="0" rtlCol="0" anchor="ctr"/>
          <a:lstStyle/>
          <a:p>
            <a:pPr marL="0" indent="0">
              <a:buNone/>
            </a:pPr>
            <a:r>
              <a:rPr lang="en-US" sz="1100" dirty="0">
                <a:solidFill>
                  <a:schemeClr val="accent5"/>
                </a:solidFill>
              </a:rPr>
              <a:t>unigrams (teal) + bigrams (dark)</a:t>
            </a:r>
            <a:endParaRPr lang="en-US" sz="1100" dirty="0"/>
          </a:p>
        </p:txBody>
      </p:sp>
      <p:sp>
        <p:nvSpPr>
          <p:cNvPr id="48"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7480"/>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Aspect Detection</a:t>
            </a:r>
            <a:endParaRPr lang="en-US" sz="3400" dirty="0"/>
          </a:p>
        </p:txBody>
      </p:sp>
      <p:sp>
        <p:nvSpPr>
          <p:cNvPr id="3" name="Shape 1"/>
          <p:cNvSpPr/>
          <p:nvPr/>
        </p:nvSpPr>
        <p:spPr>
          <a:xfrm>
            <a:off x="548640" y="1371600"/>
            <a:ext cx="6583680" cy="2697480"/>
          </a:xfrm>
          <a:prstGeom prst="roundRect">
            <a:avLst>
              <a:gd name="adj" fmla="val 2712"/>
            </a:avLst>
          </a:prstGeom>
          <a:solidFill>
            <a:schemeClr val="bg2"/>
          </a:solidFill>
          <a:ln w="12700">
            <a:solidFill>
              <a:schemeClr val="bg2"/>
            </a:solidFill>
            <a:prstDash val="solid"/>
          </a:ln>
        </p:spPr>
      </p:sp>
      <p:sp>
        <p:nvSpPr>
          <p:cNvPr id="4" name="Text 2"/>
          <p:cNvSpPr txBox="1"/>
          <p:nvPr/>
        </p:nvSpPr>
        <p:spPr>
          <a:xfrm>
            <a:off x="777240" y="1481328"/>
            <a:ext cx="6126480" cy="365760"/>
          </a:xfrm>
          <a:prstGeom prst="rect">
            <a:avLst/>
          </a:prstGeom>
          <a:noFill/>
          <a:ln/>
        </p:spPr>
        <p:txBody>
          <a:bodyPr wrap="square" lIns="0" tIns="0" rIns="0" bIns="0" rtlCol="0" anchor="t"/>
          <a:lstStyle/>
          <a:p>
            <a:pPr marL="0" indent="0">
              <a:buNone/>
            </a:pPr>
            <a:r>
              <a:rPr lang="en-US" sz="1400" b="1" dirty="0">
                <a:solidFill>
                  <a:schemeClr val="tx2"/>
                </a:solidFill>
              </a:rPr>
              <a:t>Multi-label, One-vs-Rest Linear SVM: one binary classifier per aspect</a:t>
            </a:r>
            <a:endParaRPr lang="en-US" sz="1400" dirty="0"/>
          </a:p>
        </p:txBody>
      </p:sp>
      <p:sp>
        <p:nvSpPr>
          <p:cNvPr id="5" name="Shape 3"/>
          <p:cNvSpPr/>
          <p:nvPr/>
        </p:nvSpPr>
        <p:spPr>
          <a:xfrm>
            <a:off x="777240" y="2240280"/>
            <a:ext cx="1371600" cy="1280160"/>
          </a:xfrm>
          <a:prstGeom prst="roundRect">
            <a:avLst>
              <a:gd name="adj" fmla="val 5714"/>
            </a:avLst>
          </a:prstGeom>
          <a:solidFill>
            <a:srgbClr val="0B3C49"/>
          </a:solidFill>
          <a:ln w="12700">
            <a:solidFill>
              <a:srgbClr val="0B3C49"/>
            </a:solidFill>
            <a:prstDash val="solid"/>
          </a:ln>
        </p:spPr>
      </p:sp>
      <p:sp>
        <p:nvSpPr>
          <p:cNvPr id="6" name="Text 4"/>
          <p:cNvSpPr txBox="1"/>
          <p:nvPr/>
        </p:nvSpPr>
        <p:spPr>
          <a:xfrm>
            <a:off x="777240" y="2240280"/>
            <a:ext cx="1371600" cy="1280160"/>
          </a:xfrm>
          <a:prstGeom prst="rect">
            <a:avLst/>
          </a:prstGeom>
          <a:noFill/>
          <a:ln/>
        </p:spPr>
        <p:txBody>
          <a:bodyPr wrap="square" lIns="0" tIns="0" rIns="0" bIns="0" rtlCol="0" anchor="ctr"/>
          <a:lstStyle/>
          <a:p>
            <a:pPr marL="0" indent="0" algn="ctr">
              <a:buNone/>
            </a:pPr>
            <a:r>
              <a:rPr lang="en-US" sz="1400" b="1" dirty="0">
                <a:solidFill>
                  <a:schemeClr val="bg1"/>
                </a:solidFill>
              </a:rPr>
              <a:t>TF-IDF review</a:t>
            </a:r>
            <a:endParaRPr lang="en-US" sz="1400" dirty="0"/>
          </a:p>
        </p:txBody>
      </p:sp>
      <p:sp>
        <p:nvSpPr>
          <p:cNvPr id="7" name="Shape 5"/>
          <p:cNvSpPr/>
          <p:nvPr/>
        </p:nvSpPr>
        <p:spPr>
          <a:xfrm>
            <a:off x="2240280" y="2139696"/>
            <a:ext cx="320040" cy="256032"/>
          </a:xfrm>
          <a:prstGeom prst="rightArrow">
            <a:avLst/>
          </a:prstGeom>
          <a:solidFill>
            <a:schemeClr val="accent5"/>
          </a:solidFill>
          <a:ln w="12700">
            <a:solidFill>
              <a:schemeClr val="accent5"/>
            </a:solidFill>
            <a:prstDash val="solid"/>
          </a:ln>
        </p:spPr>
      </p:sp>
      <p:sp>
        <p:nvSpPr>
          <p:cNvPr id="8" name="Shape 6"/>
          <p:cNvSpPr/>
          <p:nvPr/>
        </p:nvSpPr>
        <p:spPr>
          <a:xfrm>
            <a:off x="2651760" y="2011680"/>
            <a:ext cx="2194560" cy="502920"/>
          </a:xfrm>
          <a:prstGeom prst="roundRect">
            <a:avLst>
              <a:gd name="adj" fmla="val 14545"/>
            </a:avLst>
          </a:prstGeom>
          <a:solidFill>
            <a:schemeClr val="bg1"/>
          </a:solidFill>
          <a:ln w="12700">
            <a:solidFill>
              <a:schemeClr val="bg1"/>
            </a:solidFill>
            <a:prstDash val="solid"/>
          </a:ln>
        </p:spPr>
      </p:sp>
      <p:sp>
        <p:nvSpPr>
          <p:cNvPr id="9" name="Text 7"/>
          <p:cNvSpPr txBox="1"/>
          <p:nvPr/>
        </p:nvSpPr>
        <p:spPr>
          <a:xfrm>
            <a:off x="2651760" y="2011680"/>
            <a:ext cx="2194560" cy="502920"/>
          </a:xfrm>
          <a:prstGeom prst="rect">
            <a:avLst/>
          </a:prstGeom>
          <a:noFill/>
          <a:ln/>
        </p:spPr>
        <p:txBody>
          <a:bodyPr wrap="square" lIns="0" tIns="0" rIns="0" bIns="0" rtlCol="0" anchor="ctr"/>
          <a:lstStyle/>
          <a:p>
            <a:pPr marL="0" indent="0" algn="ctr">
              <a:buNone/>
            </a:pPr>
            <a:r>
              <a:rPr lang="en-US" sz="1500" b="1" dirty="0">
                <a:solidFill>
                  <a:schemeClr val="tx2"/>
                </a:solidFill>
              </a:rPr>
              <a:t>Clean SVM</a:t>
            </a:r>
            <a:endParaRPr lang="en-US" sz="1500" dirty="0"/>
          </a:p>
        </p:txBody>
      </p:sp>
      <p:sp>
        <p:nvSpPr>
          <p:cNvPr id="10" name="Shape 8"/>
          <p:cNvSpPr/>
          <p:nvPr/>
        </p:nvSpPr>
        <p:spPr>
          <a:xfrm>
            <a:off x="4937760" y="2139696"/>
            <a:ext cx="320040" cy="256032"/>
          </a:xfrm>
          <a:prstGeom prst="rightArrow">
            <a:avLst/>
          </a:prstGeom>
          <a:solidFill>
            <a:schemeClr val="accent5"/>
          </a:solidFill>
          <a:ln w="12700">
            <a:solidFill>
              <a:schemeClr val="accent5"/>
            </a:solidFill>
            <a:prstDash val="solid"/>
          </a:ln>
        </p:spPr>
      </p:sp>
      <p:sp>
        <p:nvSpPr>
          <p:cNvPr id="11" name="Shape 9"/>
          <p:cNvSpPr/>
          <p:nvPr/>
        </p:nvSpPr>
        <p:spPr>
          <a:xfrm>
            <a:off x="5394960" y="2029968"/>
            <a:ext cx="457200" cy="457200"/>
          </a:xfrm>
          <a:prstGeom prst="ellipse">
            <a:avLst/>
          </a:prstGeom>
          <a:solidFill>
            <a:schemeClr val="accent3"/>
          </a:solidFill>
          <a:ln w="12700">
            <a:solidFill>
              <a:schemeClr val="accent3"/>
            </a:solidFill>
            <a:prstDash val="solid"/>
          </a:ln>
        </p:spPr>
      </p:sp>
      <p:sp>
        <p:nvSpPr>
          <p:cNvPr id="12" name="Text 10"/>
          <p:cNvSpPr txBox="1"/>
          <p:nvPr/>
        </p:nvSpPr>
        <p:spPr>
          <a:xfrm>
            <a:off x="5394960" y="2029968"/>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13" name="Shape 11"/>
          <p:cNvSpPr/>
          <p:nvPr/>
        </p:nvSpPr>
        <p:spPr>
          <a:xfrm>
            <a:off x="2240280" y="2779776"/>
            <a:ext cx="320040" cy="256032"/>
          </a:xfrm>
          <a:prstGeom prst="rightArrow">
            <a:avLst/>
          </a:prstGeom>
          <a:solidFill>
            <a:schemeClr val="accent5"/>
          </a:solidFill>
          <a:ln w="12700">
            <a:solidFill>
              <a:schemeClr val="accent5"/>
            </a:solidFill>
            <a:prstDash val="solid"/>
          </a:ln>
        </p:spPr>
      </p:sp>
      <p:sp>
        <p:nvSpPr>
          <p:cNvPr id="14" name="Shape 12"/>
          <p:cNvSpPr/>
          <p:nvPr/>
        </p:nvSpPr>
        <p:spPr>
          <a:xfrm>
            <a:off x="2651760" y="2651760"/>
            <a:ext cx="2194560" cy="502920"/>
          </a:xfrm>
          <a:prstGeom prst="roundRect">
            <a:avLst>
              <a:gd name="adj" fmla="val 14545"/>
            </a:avLst>
          </a:prstGeom>
          <a:solidFill>
            <a:schemeClr val="bg1"/>
          </a:solidFill>
          <a:ln w="12700">
            <a:solidFill>
              <a:schemeClr val="bg1"/>
            </a:solidFill>
            <a:prstDash val="solid"/>
          </a:ln>
        </p:spPr>
      </p:sp>
      <p:sp>
        <p:nvSpPr>
          <p:cNvPr id="15" name="Text 13"/>
          <p:cNvSpPr txBox="1"/>
          <p:nvPr/>
        </p:nvSpPr>
        <p:spPr>
          <a:xfrm>
            <a:off x="2651760" y="2651760"/>
            <a:ext cx="2194560" cy="502920"/>
          </a:xfrm>
          <a:prstGeom prst="rect">
            <a:avLst/>
          </a:prstGeom>
          <a:noFill/>
          <a:ln/>
        </p:spPr>
        <p:txBody>
          <a:bodyPr wrap="square" lIns="0" tIns="0" rIns="0" bIns="0" rtlCol="0" anchor="ctr"/>
          <a:lstStyle/>
          <a:p>
            <a:pPr marL="0" indent="0" algn="ctr">
              <a:buNone/>
            </a:pPr>
            <a:r>
              <a:rPr lang="en-US" sz="1500" b="1" dirty="0">
                <a:solidFill>
                  <a:schemeClr val="tx2"/>
                </a:solidFill>
              </a:rPr>
              <a:t>Comfort SVM</a:t>
            </a:r>
            <a:endParaRPr lang="en-US" sz="1500" dirty="0"/>
          </a:p>
        </p:txBody>
      </p:sp>
      <p:sp>
        <p:nvSpPr>
          <p:cNvPr id="16" name="Shape 14"/>
          <p:cNvSpPr/>
          <p:nvPr/>
        </p:nvSpPr>
        <p:spPr>
          <a:xfrm>
            <a:off x="4937760" y="2779776"/>
            <a:ext cx="320040" cy="256032"/>
          </a:xfrm>
          <a:prstGeom prst="rightArrow">
            <a:avLst/>
          </a:prstGeom>
          <a:solidFill>
            <a:schemeClr val="accent5"/>
          </a:solidFill>
          <a:ln w="12700">
            <a:solidFill>
              <a:schemeClr val="accent5"/>
            </a:solidFill>
            <a:prstDash val="solid"/>
          </a:ln>
        </p:spPr>
      </p:sp>
      <p:sp>
        <p:nvSpPr>
          <p:cNvPr id="17" name="Shape 15"/>
          <p:cNvSpPr/>
          <p:nvPr/>
        </p:nvSpPr>
        <p:spPr>
          <a:xfrm>
            <a:off x="5394960" y="2670048"/>
            <a:ext cx="457200" cy="457200"/>
          </a:xfrm>
          <a:prstGeom prst="ellipse">
            <a:avLst/>
          </a:prstGeom>
          <a:solidFill>
            <a:schemeClr val="accent3"/>
          </a:solidFill>
          <a:ln w="12700">
            <a:solidFill>
              <a:schemeClr val="accent3"/>
            </a:solidFill>
            <a:prstDash val="solid"/>
          </a:ln>
        </p:spPr>
      </p:sp>
      <p:sp>
        <p:nvSpPr>
          <p:cNvPr id="18" name="Text 16"/>
          <p:cNvSpPr txBox="1"/>
          <p:nvPr/>
        </p:nvSpPr>
        <p:spPr>
          <a:xfrm>
            <a:off x="5394960" y="2670048"/>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19" name="Shape 17"/>
          <p:cNvSpPr/>
          <p:nvPr/>
        </p:nvSpPr>
        <p:spPr>
          <a:xfrm>
            <a:off x="2240280" y="3419856"/>
            <a:ext cx="320040" cy="256032"/>
          </a:xfrm>
          <a:prstGeom prst="rightArrow">
            <a:avLst/>
          </a:prstGeom>
          <a:solidFill>
            <a:schemeClr val="accent5"/>
          </a:solidFill>
          <a:ln w="12700">
            <a:solidFill>
              <a:schemeClr val="accent5"/>
            </a:solidFill>
            <a:prstDash val="solid"/>
          </a:ln>
        </p:spPr>
      </p:sp>
      <p:sp>
        <p:nvSpPr>
          <p:cNvPr id="20" name="Shape 18"/>
          <p:cNvSpPr/>
          <p:nvPr/>
        </p:nvSpPr>
        <p:spPr>
          <a:xfrm>
            <a:off x="2651760" y="3291840"/>
            <a:ext cx="2194560" cy="502920"/>
          </a:xfrm>
          <a:prstGeom prst="roundRect">
            <a:avLst>
              <a:gd name="adj" fmla="val 14545"/>
            </a:avLst>
          </a:prstGeom>
          <a:solidFill>
            <a:schemeClr val="bg1"/>
          </a:solidFill>
          <a:ln w="12700">
            <a:solidFill>
              <a:schemeClr val="bg1"/>
            </a:solidFill>
            <a:prstDash val="solid"/>
          </a:ln>
        </p:spPr>
      </p:sp>
      <p:sp>
        <p:nvSpPr>
          <p:cNvPr id="21" name="Text 19"/>
          <p:cNvSpPr txBox="1"/>
          <p:nvPr/>
        </p:nvSpPr>
        <p:spPr>
          <a:xfrm>
            <a:off x="2651760" y="3291840"/>
            <a:ext cx="2194560" cy="502920"/>
          </a:xfrm>
          <a:prstGeom prst="rect">
            <a:avLst/>
          </a:prstGeom>
          <a:noFill/>
          <a:ln/>
        </p:spPr>
        <p:txBody>
          <a:bodyPr wrap="square" lIns="0" tIns="0" rIns="0" bIns="0" rtlCol="0" anchor="ctr"/>
          <a:lstStyle/>
          <a:p>
            <a:pPr marL="0" indent="0" algn="ctr">
              <a:buNone/>
            </a:pPr>
            <a:r>
              <a:rPr lang="en-US" sz="1500" b="1" dirty="0">
                <a:solidFill>
                  <a:schemeClr val="tx2"/>
                </a:solidFill>
              </a:rPr>
              <a:t>Staff SVM</a:t>
            </a:r>
            <a:endParaRPr lang="en-US" sz="1500" dirty="0"/>
          </a:p>
        </p:txBody>
      </p:sp>
      <p:sp>
        <p:nvSpPr>
          <p:cNvPr id="22" name="Shape 20"/>
          <p:cNvSpPr/>
          <p:nvPr/>
        </p:nvSpPr>
        <p:spPr>
          <a:xfrm>
            <a:off x="4937760" y="3419856"/>
            <a:ext cx="320040" cy="256032"/>
          </a:xfrm>
          <a:prstGeom prst="rightArrow">
            <a:avLst/>
          </a:prstGeom>
          <a:solidFill>
            <a:schemeClr val="accent5"/>
          </a:solidFill>
          <a:ln w="12700">
            <a:solidFill>
              <a:schemeClr val="accent5"/>
            </a:solidFill>
            <a:prstDash val="solid"/>
          </a:ln>
        </p:spPr>
      </p:sp>
      <p:sp>
        <p:nvSpPr>
          <p:cNvPr id="23" name="Shape 21"/>
          <p:cNvSpPr/>
          <p:nvPr/>
        </p:nvSpPr>
        <p:spPr>
          <a:xfrm>
            <a:off x="5394960" y="3310128"/>
            <a:ext cx="457200" cy="457200"/>
          </a:xfrm>
          <a:prstGeom prst="ellipse">
            <a:avLst/>
          </a:prstGeom>
          <a:solidFill>
            <a:schemeClr val="accent5"/>
          </a:solidFill>
          <a:ln w="12700">
            <a:solidFill>
              <a:schemeClr val="accent5"/>
            </a:solidFill>
            <a:prstDash val="solid"/>
          </a:ln>
        </p:spPr>
      </p:sp>
      <p:sp>
        <p:nvSpPr>
          <p:cNvPr id="24" name="Text 22"/>
          <p:cNvSpPr txBox="1"/>
          <p:nvPr/>
        </p:nvSpPr>
        <p:spPr>
          <a:xfrm>
            <a:off x="5394960" y="3310128"/>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0</a:t>
            </a:r>
            <a:endParaRPr lang="en-US" sz="1600" dirty="0"/>
          </a:p>
        </p:txBody>
      </p:sp>
      <p:sp>
        <p:nvSpPr>
          <p:cNvPr id="25" name="Text 23"/>
          <p:cNvSpPr txBox="1"/>
          <p:nvPr/>
        </p:nvSpPr>
        <p:spPr>
          <a:xfrm>
            <a:off x="5989320" y="2240280"/>
            <a:ext cx="1051560" cy="1280160"/>
          </a:xfrm>
          <a:prstGeom prst="rect">
            <a:avLst/>
          </a:prstGeom>
          <a:noFill/>
          <a:ln/>
        </p:spPr>
        <p:txBody>
          <a:bodyPr wrap="square" lIns="0" tIns="0" rIns="0" bIns="0" rtlCol="0" anchor="ctr"/>
          <a:lstStyle/>
          <a:p>
            <a:pPr marL="0" indent="0">
              <a:buNone/>
            </a:pPr>
            <a:r>
              <a:rPr lang="en-US" sz="1200" dirty="0">
                <a:solidFill>
                  <a:schemeClr val="accent5"/>
                </a:solidFill>
              </a:rPr>
              <a:t>A review can switch on several aspects at once</a:t>
            </a:r>
            <a:endParaRPr lang="en-US" sz="1200" dirty="0"/>
          </a:p>
        </p:txBody>
      </p:sp>
      <p:sp>
        <p:nvSpPr>
          <p:cNvPr id="26" name="Text 24"/>
          <p:cNvSpPr txBox="1"/>
          <p:nvPr/>
        </p:nvSpPr>
        <p:spPr>
          <a:xfrm>
            <a:off x="548640" y="4251960"/>
            <a:ext cx="6583680" cy="320040"/>
          </a:xfrm>
          <a:prstGeom prst="rect">
            <a:avLst/>
          </a:prstGeom>
          <a:noFill/>
          <a:ln/>
        </p:spPr>
        <p:txBody>
          <a:bodyPr wrap="square" lIns="0" tIns="0" rIns="0" bIns="0" rtlCol="0" anchor="t"/>
          <a:lstStyle/>
          <a:p>
            <a:pPr marL="0" indent="0">
              <a:buNone/>
            </a:pPr>
            <a:r>
              <a:rPr lang="en-US" sz="1500" b="1" dirty="0">
                <a:solidFill>
                  <a:schemeClr val="tx2"/>
                </a:solidFill>
              </a:rPr>
              <a:t>Test results (3,466 unseen reviews)</a:t>
            </a:r>
            <a:endParaRPr lang="en-US" sz="1500" dirty="0"/>
          </a:p>
        </p:txBody>
      </p:sp>
      <p:sp>
        <p:nvSpPr>
          <p:cNvPr id="27" name="Shape 25"/>
          <p:cNvSpPr/>
          <p:nvPr/>
        </p:nvSpPr>
        <p:spPr>
          <a:xfrm>
            <a:off x="548640" y="4663440"/>
            <a:ext cx="1517904" cy="1234440"/>
          </a:xfrm>
          <a:prstGeom prst="roundRect">
            <a:avLst>
              <a:gd name="adj" fmla="val 5926"/>
            </a:avLst>
          </a:prstGeom>
          <a:solidFill>
            <a:schemeClr val="bg2"/>
          </a:solidFill>
          <a:ln w="12700">
            <a:solidFill>
              <a:schemeClr val="bg2"/>
            </a:solidFill>
            <a:prstDash val="solid"/>
          </a:ln>
        </p:spPr>
      </p:sp>
      <p:sp>
        <p:nvSpPr>
          <p:cNvPr id="28" name="Text 26"/>
          <p:cNvSpPr txBox="1"/>
          <p:nvPr/>
        </p:nvSpPr>
        <p:spPr>
          <a:xfrm>
            <a:off x="548640" y="4860950"/>
            <a:ext cx="1517904" cy="518465"/>
          </a:xfrm>
          <a:prstGeom prst="rect">
            <a:avLst/>
          </a:prstGeom>
          <a:noFill/>
          <a:ln/>
        </p:spPr>
        <p:txBody>
          <a:bodyPr wrap="square" lIns="0" tIns="0" rIns="0" bIns="0" rtlCol="0" anchor="ctr"/>
          <a:lstStyle/>
          <a:p>
            <a:pPr marL="0" indent="0" algn="ctr">
              <a:buNone/>
            </a:pPr>
            <a:r>
              <a:rPr lang="en-US" sz="2400" b="1" dirty="0">
                <a:solidFill>
                  <a:schemeClr val="accent1"/>
                </a:solidFill>
              </a:rPr>
              <a:t>85.25%</a:t>
            </a:r>
            <a:endParaRPr lang="en-US" sz="2400" dirty="0"/>
          </a:p>
        </p:txBody>
      </p:sp>
      <p:sp>
        <p:nvSpPr>
          <p:cNvPr id="29" name="Text 27"/>
          <p:cNvSpPr txBox="1"/>
          <p:nvPr/>
        </p:nvSpPr>
        <p:spPr>
          <a:xfrm>
            <a:off x="640080" y="5379415"/>
            <a:ext cx="1335024" cy="419710"/>
          </a:xfrm>
          <a:prstGeom prst="rect">
            <a:avLst/>
          </a:prstGeom>
          <a:noFill/>
          <a:ln/>
        </p:spPr>
        <p:txBody>
          <a:bodyPr wrap="square" lIns="0" tIns="0" rIns="0" bIns="0" rtlCol="0" anchor="t"/>
          <a:lstStyle/>
          <a:p>
            <a:pPr marL="0" indent="0" algn="ctr">
              <a:buNone/>
            </a:pPr>
            <a:r>
              <a:rPr lang="en-US" sz="1300" dirty="0">
                <a:solidFill>
                  <a:schemeClr val="tx1"/>
                </a:solidFill>
              </a:rPr>
              <a:t>Micro F1</a:t>
            </a:r>
            <a:endParaRPr lang="en-US" sz="1300" dirty="0"/>
          </a:p>
        </p:txBody>
      </p:sp>
      <p:sp>
        <p:nvSpPr>
          <p:cNvPr id="30" name="Shape 28"/>
          <p:cNvSpPr/>
          <p:nvPr/>
        </p:nvSpPr>
        <p:spPr>
          <a:xfrm>
            <a:off x="2212848" y="4663440"/>
            <a:ext cx="1517904" cy="1234440"/>
          </a:xfrm>
          <a:prstGeom prst="roundRect">
            <a:avLst>
              <a:gd name="adj" fmla="val 5926"/>
            </a:avLst>
          </a:prstGeom>
          <a:solidFill>
            <a:schemeClr val="bg2"/>
          </a:solidFill>
          <a:ln w="12700">
            <a:solidFill>
              <a:schemeClr val="bg2"/>
            </a:solidFill>
            <a:prstDash val="solid"/>
          </a:ln>
        </p:spPr>
      </p:sp>
      <p:sp>
        <p:nvSpPr>
          <p:cNvPr id="31" name="Text 29"/>
          <p:cNvSpPr txBox="1"/>
          <p:nvPr/>
        </p:nvSpPr>
        <p:spPr>
          <a:xfrm>
            <a:off x="2212848" y="4860950"/>
            <a:ext cx="1517904" cy="518465"/>
          </a:xfrm>
          <a:prstGeom prst="rect">
            <a:avLst/>
          </a:prstGeom>
          <a:noFill/>
          <a:ln/>
        </p:spPr>
        <p:txBody>
          <a:bodyPr wrap="square" lIns="0" tIns="0" rIns="0" bIns="0" rtlCol="0" anchor="ctr"/>
          <a:lstStyle/>
          <a:p>
            <a:pPr marL="0" indent="0" algn="ctr">
              <a:buNone/>
            </a:pPr>
            <a:r>
              <a:rPr lang="en-US" sz="2400" b="1" dirty="0">
                <a:solidFill>
                  <a:schemeClr val="accent1"/>
                </a:solidFill>
              </a:rPr>
              <a:t>84.51%</a:t>
            </a:r>
            <a:endParaRPr lang="en-US" sz="2400" dirty="0"/>
          </a:p>
        </p:txBody>
      </p:sp>
      <p:sp>
        <p:nvSpPr>
          <p:cNvPr id="32" name="Text 30"/>
          <p:cNvSpPr txBox="1"/>
          <p:nvPr/>
        </p:nvSpPr>
        <p:spPr>
          <a:xfrm>
            <a:off x="2304288" y="5379415"/>
            <a:ext cx="1335024" cy="419710"/>
          </a:xfrm>
          <a:prstGeom prst="rect">
            <a:avLst/>
          </a:prstGeom>
          <a:noFill/>
          <a:ln/>
        </p:spPr>
        <p:txBody>
          <a:bodyPr wrap="square" lIns="0" tIns="0" rIns="0" bIns="0" rtlCol="0" anchor="t"/>
          <a:lstStyle/>
          <a:p>
            <a:pPr marL="0" indent="0" algn="ctr">
              <a:buNone/>
            </a:pPr>
            <a:r>
              <a:rPr lang="en-US" sz="1300" dirty="0">
                <a:solidFill>
                  <a:schemeClr val="tx1"/>
                </a:solidFill>
              </a:rPr>
              <a:t>Macro F1</a:t>
            </a:r>
            <a:endParaRPr lang="en-US" sz="1300" dirty="0"/>
          </a:p>
        </p:txBody>
      </p:sp>
      <p:sp>
        <p:nvSpPr>
          <p:cNvPr id="33" name="Shape 31"/>
          <p:cNvSpPr/>
          <p:nvPr/>
        </p:nvSpPr>
        <p:spPr>
          <a:xfrm>
            <a:off x="3877056" y="4663440"/>
            <a:ext cx="1517904" cy="1234440"/>
          </a:xfrm>
          <a:prstGeom prst="roundRect">
            <a:avLst>
              <a:gd name="adj" fmla="val 5926"/>
            </a:avLst>
          </a:prstGeom>
          <a:solidFill>
            <a:schemeClr val="bg2"/>
          </a:solidFill>
          <a:ln w="12700">
            <a:solidFill>
              <a:schemeClr val="bg2"/>
            </a:solidFill>
            <a:prstDash val="solid"/>
          </a:ln>
        </p:spPr>
      </p:sp>
      <p:sp>
        <p:nvSpPr>
          <p:cNvPr id="34" name="Text 32"/>
          <p:cNvSpPr txBox="1"/>
          <p:nvPr/>
        </p:nvSpPr>
        <p:spPr>
          <a:xfrm>
            <a:off x="3877056" y="4860950"/>
            <a:ext cx="1517904" cy="518465"/>
          </a:xfrm>
          <a:prstGeom prst="rect">
            <a:avLst/>
          </a:prstGeom>
          <a:noFill/>
          <a:ln/>
        </p:spPr>
        <p:txBody>
          <a:bodyPr wrap="square" lIns="0" tIns="0" rIns="0" bIns="0" rtlCol="0" anchor="ctr"/>
          <a:lstStyle/>
          <a:p>
            <a:pPr marL="0" indent="0" algn="ctr">
              <a:buNone/>
            </a:pPr>
            <a:r>
              <a:rPr lang="en-US" sz="2400" b="1" dirty="0">
                <a:solidFill>
                  <a:schemeClr val="accent1"/>
                </a:solidFill>
              </a:rPr>
              <a:t>83.54%</a:t>
            </a:r>
            <a:endParaRPr lang="en-US" sz="2400" dirty="0"/>
          </a:p>
        </p:txBody>
      </p:sp>
      <p:sp>
        <p:nvSpPr>
          <p:cNvPr id="35" name="Text 33"/>
          <p:cNvSpPr txBox="1"/>
          <p:nvPr/>
        </p:nvSpPr>
        <p:spPr>
          <a:xfrm>
            <a:off x="3968496" y="5379415"/>
            <a:ext cx="1335024" cy="419710"/>
          </a:xfrm>
          <a:prstGeom prst="rect">
            <a:avLst/>
          </a:prstGeom>
          <a:noFill/>
          <a:ln/>
        </p:spPr>
        <p:txBody>
          <a:bodyPr wrap="square" lIns="0" tIns="0" rIns="0" bIns="0" rtlCol="0" anchor="t"/>
          <a:lstStyle/>
          <a:p>
            <a:pPr marL="0" indent="0" algn="ctr">
              <a:buNone/>
            </a:pPr>
            <a:r>
              <a:rPr lang="en-US" sz="1300" dirty="0">
                <a:solidFill>
                  <a:schemeClr val="tx1"/>
                </a:solidFill>
              </a:rPr>
              <a:t>Precision</a:t>
            </a:r>
            <a:endParaRPr lang="en-US" sz="1300" dirty="0"/>
          </a:p>
        </p:txBody>
      </p:sp>
      <p:sp>
        <p:nvSpPr>
          <p:cNvPr id="36" name="Shape 34"/>
          <p:cNvSpPr/>
          <p:nvPr/>
        </p:nvSpPr>
        <p:spPr>
          <a:xfrm>
            <a:off x="5541264" y="4663440"/>
            <a:ext cx="1517904" cy="1234440"/>
          </a:xfrm>
          <a:prstGeom prst="roundRect">
            <a:avLst>
              <a:gd name="adj" fmla="val 5926"/>
            </a:avLst>
          </a:prstGeom>
          <a:solidFill>
            <a:schemeClr val="bg2"/>
          </a:solidFill>
          <a:ln w="12700">
            <a:solidFill>
              <a:schemeClr val="bg2"/>
            </a:solidFill>
            <a:prstDash val="solid"/>
          </a:ln>
        </p:spPr>
      </p:sp>
      <p:sp>
        <p:nvSpPr>
          <p:cNvPr id="37" name="Text 35"/>
          <p:cNvSpPr txBox="1"/>
          <p:nvPr/>
        </p:nvSpPr>
        <p:spPr>
          <a:xfrm>
            <a:off x="5541264" y="4860950"/>
            <a:ext cx="1517904" cy="518465"/>
          </a:xfrm>
          <a:prstGeom prst="rect">
            <a:avLst/>
          </a:prstGeom>
          <a:noFill/>
          <a:ln/>
        </p:spPr>
        <p:txBody>
          <a:bodyPr wrap="square" lIns="0" tIns="0" rIns="0" bIns="0" rtlCol="0" anchor="ctr"/>
          <a:lstStyle/>
          <a:p>
            <a:pPr marL="0" indent="0" algn="ctr">
              <a:buNone/>
            </a:pPr>
            <a:r>
              <a:rPr lang="en-US" sz="2400" b="1" dirty="0">
                <a:solidFill>
                  <a:schemeClr val="accent1"/>
                </a:solidFill>
              </a:rPr>
              <a:t>87.03%</a:t>
            </a:r>
            <a:endParaRPr lang="en-US" sz="2400" dirty="0"/>
          </a:p>
        </p:txBody>
      </p:sp>
      <p:sp>
        <p:nvSpPr>
          <p:cNvPr id="38" name="Text 36"/>
          <p:cNvSpPr txBox="1"/>
          <p:nvPr/>
        </p:nvSpPr>
        <p:spPr>
          <a:xfrm>
            <a:off x="5632704" y="5379415"/>
            <a:ext cx="1335024" cy="419710"/>
          </a:xfrm>
          <a:prstGeom prst="rect">
            <a:avLst/>
          </a:prstGeom>
          <a:noFill/>
          <a:ln/>
        </p:spPr>
        <p:txBody>
          <a:bodyPr wrap="square" lIns="0" tIns="0" rIns="0" bIns="0" rtlCol="0" anchor="t"/>
          <a:lstStyle/>
          <a:p>
            <a:pPr marL="0" indent="0" algn="ctr">
              <a:buNone/>
            </a:pPr>
            <a:r>
              <a:rPr lang="en-US" sz="1300" dirty="0">
                <a:solidFill>
                  <a:schemeClr val="tx1"/>
                </a:solidFill>
              </a:rPr>
              <a:t>Recall</a:t>
            </a:r>
            <a:endParaRPr lang="en-US" sz="1300" dirty="0"/>
          </a:p>
        </p:txBody>
      </p:sp>
      <p:sp>
        <p:nvSpPr>
          <p:cNvPr id="39" name="Text 37"/>
          <p:cNvSpPr txBox="1"/>
          <p:nvPr/>
        </p:nvSpPr>
        <p:spPr>
          <a:xfrm>
            <a:off x="548640" y="5989320"/>
            <a:ext cx="6583680" cy="274320"/>
          </a:xfrm>
          <a:prstGeom prst="rect">
            <a:avLst/>
          </a:prstGeom>
          <a:noFill/>
          <a:ln/>
        </p:spPr>
        <p:txBody>
          <a:bodyPr wrap="square" lIns="0" tIns="0" rIns="0" bIns="0" rtlCol="0" anchor="t"/>
          <a:lstStyle/>
          <a:p>
            <a:pPr marL="0" indent="0">
              <a:buNone/>
            </a:pPr>
            <a:r>
              <a:rPr lang="en-US" sz="1300" dirty="0">
                <a:solidFill>
                  <a:schemeClr val="accent5"/>
                </a:solidFill>
              </a:rPr>
              <a:t>Hamming Loss = 0.0231</a:t>
            </a:r>
            <a:endParaRPr lang="en-US" sz="1300" dirty="0"/>
          </a:p>
        </p:txBody>
      </p:sp>
      <p:sp>
        <p:nvSpPr>
          <p:cNvPr id="40" name="Shape 38"/>
          <p:cNvSpPr/>
          <p:nvPr/>
        </p:nvSpPr>
        <p:spPr>
          <a:xfrm>
            <a:off x="7406640" y="1371600"/>
            <a:ext cx="4206240" cy="4846320"/>
          </a:xfrm>
          <a:prstGeom prst="roundRect">
            <a:avLst>
              <a:gd name="adj" fmla="val 1739"/>
            </a:avLst>
          </a:prstGeom>
          <a:solidFill>
            <a:schemeClr val="bg2"/>
          </a:solidFill>
          <a:ln w="12700">
            <a:solidFill>
              <a:schemeClr val="bg2"/>
            </a:solidFill>
            <a:prstDash val="solid"/>
          </a:ln>
        </p:spPr>
      </p:sp>
      <p:sp>
        <p:nvSpPr>
          <p:cNvPr id="41" name="Text 39"/>
          <p:cNvSpPr txBox="1"/>
          <p:nvPr/>
        </p:nvSpPr>
        <p:spPr>
          <a:xfrm>
            <a:off x="7589520" y="1508760"/>
            <a:ext cx="3840480" cy="365760"/>
          </a:xfrm>
          <a:prstGeom prst="rect">
            <a:avLst/>
          </a:prstGeom>
          <a:noFill/>
          <a:ln/>
        </p:spPr>
        <p:txBody>
          <a:bodyPr wrap="square" lIns="0" tIns="0" rIns="0" bIns="0" rtlCol="0" anchor="t"/>
          <a:lstStyle/>
          <a:p>
            <a:pPr marL="0" indent="0">
              <a:buNone/>
            </a:pPr>
            <a:r>
              <a:rPr lang="en-US" sz="1500" b="1" dirty="0">
                <a:solidFill>
                  <a:schemeClr val="tx2"/>
                </a:solidFill>
              </a:rPr>
              <a:t>F1 by aspect: strongest and weakest</a:t>
            </a:r>
            <a:endParaRPr lang="en-US" sz="1500" dirty="0"/>
          </a:p>
        </p:txBody>
      </p:sp>
      <p:graphicFrame>
        <p:nvGraphicFramePr>
          <p:cNvPr id="42" name="Chart 0"/>
          <p:cNvGraphicFramePr/>
          <p:nvPr/>
        </p:nvGraphicFramePr>
        <p:xfrm>
          <a:off x="7498080" y="1920240"/>
          <a:ext cx="402336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43"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7480"/>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Sentiment Classification</a:t>
            </a:r>
            <a:endParaRPr lang="en-US" sz="3400" dirty="0"/>
          </a:p>
        </p:txBody>
      </p:sp>
      <p:sp>
        <p:nvSpPr>
          <p:cNvPr id="3" name="Text 1"/>
          <p:cNvSpPr txBox="1"/>
          <p:nvPr/>
        </p:nvSpPr>
        <p:spPr>
          <a:xfrm>
            <a:off x="548640" y="1234440"/>
            <a:ext cx="6766560" cy="365760"/>
          </a:xfrm>
          <a:prstGeom prst="rect">
            <a:avLst/>
          </a:prstGeom>
          <a:noFill/>
          <a:ln/>
        </p:spPr>
        <p:txBody>
          <a:bodyPr wrap="square" lIns="0" tIns="0" rIns="0" bIns="0" rtlCol="0" anchor="t"/>
          <a:lstStyle/>
          <a:p>
            <a:pPr marL="0" indent="0">
              <a:buNone/>
            </a:pPr>
            <a:r>
              <a:rPr lang="en-US" sz="1600" dirty="0">
                <a:solidFill>
                  <a:schemeClr val="accent5"/>
                </a:solidFill>
              </a:rPr>
              <a:t>Three classes: Positive · Negative · Neutral</a:t>
            </a:r>
            <a:endParaRPr lang="en-US" sz="1600" dirty="0"/>
          </a:p>
        </p:txBody>
      </p:sp>
      <p:sp>
        <p:nvSpPr>
          <p:cNvPr id="4" name="Text 2"/>
          <p:cNvSpPr txBox="1"/>
          <p:nvPr/>
        </p:nvSpPr>
        <p:spPr>
          <a:xfrm>
            <a:off x="548640" y="1783080"/>
            <a:ext cx="6766560" cy="365760"/>
          </a:xfrm>
          <a:prstGeom prst="rect">
            <a:avLst/>
          </a:prstGeom>
          <a:noFill/>
          <a:ln/>
        </p:spPr>
        <p:txBody>
          <a:bodyPr wrap="square" lIns="0" tIns="0" rIns="0" bIns="0" rtlCol="0" anchor="t"/>
          <a:lstStyle/>
          <a:p>
            <a:pPr marL="0" indent="0">
              <a:buNone/>
            </a:pPr>
            <a:r>
              <a:rPr lang="en-US" sz="1800" b="1" dirty="0">
                <a:solidFill>
                  <a:schemeClr val="tx2"/>
                </a:solidFill>
              </a:rPr>
              <a:t>Models compared</a:t>
            </a:r>
            <a:endParaRPr lang="en-US" sz="1800" dirty="0"/>
          </a:p>
        </p:txBody>
      </p:sp>
      <p:sp>
        <p:nvSpPr>
          <p:cNvPr id="5" name="Shape 3"/>
          <p:cNvSpPr/>
          <p:nvPr/>
        </p:nvSpPr>
        <p:spPr>
          <a:xfrm>
            <a:off x="548640" y="2286000"/>
            <a:ext cx="6766560" cy="640080"/>
          </a:xfrm>
          <a:prstGeom prst="roundRect">
            <a:avLst>
              <a:gd name="adj" fmla="val 11429"/>
            </a:avLst>
          </a:prstGeom>
          <a:solidFill>
            <a:srgbClr val="0B7A75"/>
          </a:solidFill>
          <a:ln w="12700">
            <a:solidFill>
              <a:srgbClr val="0B7A75"/>
            </a:solidFill>
            <a:prstDash val="solid"/>
          </a:ln>
        </p:spPr>
      </p:sp>
      <p:sp>
        <p:nvSpPr>
          <p:cNvPr id="6" name="Text 4"/>
          <p:cNvSpPr txBox="1"/>
          <p:nvPr/>
        </p:nvSpPr>
        <p:spPr>
          <a:xfrm>
            <a:off x="822960" y="2286000"/>
            <a:ext cx="4114800" cy="640080"/>
          </a:xfrm>
          <a:prstGeom prst="rect">
            <a:avLst/>
          </a:prstGeom>
          <a:noFill/>
          <a:ln/>
        </p:spPr>
        <p:txBody>
          <a:bodyPr wrap="square" lIns="0" tIns="0" rIns="0" bIns="0" rtlCol="0" anchor="ctr"/>
          <a:lstStyle/>
          <a:p>
            <a:pPr marL="0" indent="0">
              <a:buNone/>
            </a:pPr>
            <a:r>
              <a:rPr lang="en-US" sz="1800" b="1" dirty="0">
                <a:solidFill>
                  <a:schemeClr val="bg1"/>
                </a:solidFill>
              </a:rPr>
              <a:t>Logistic Regression</a:t>
            </a:r>
            <a:endParaRPr lang="en-US" sz="1800" dirty="0"/>
          </a:p>
        </p:txBody>
      </p:sp>
      <p:sp>
        <p:nvSpPr>
          <p:cNvPr id="7" name="Shape 5"/>
          <p:cNvSpPr/>
          <p:nvPr/>
        </p:nvSpPr>
        <p:spPr>
          <a:xfrm>
            <a:off x="5394960" y="2423160"/>
            <a:ext cx="1737360" cy="365760"/>
          </a:xfrm>
          <a:prstGeom prst="roundRect">
            <a:avLst>
              <a:gd name="adj" fmla="val 125000"/>
            </a:avLst>
          </a:prstGeom>
          <a:solidFill>
            <a:srgbClr val="F2A33A"/>
          </a:solidFill>
          <a:ln w="12700">
            <a:solidFill>
              <a:srgbClr val="F2A33A"/>
            </a:solidFill>
            <a:prstDash val="solid"/>
          </a:ln>
        </p:spPr>
      </p:sp>
      <p:sp>
        <p:nvSpPr>
          <p:cNvPr id="8" name="Text 6"/>
          <p:cNvSpPr txBox="1"/>
          <p:nvPr/>
        </p:nvSpPr>
        <p:spPr>
          <a:xfrm>
            <a:off x="5394960" y="2423160"/>
            <a:ext cx="1737360" cy="365760"/>
          </a:xfrm>
          <a:prstGeom prst="rect">
            <a:avLst/>
          </a:prstGeom>
          <a:noFill/>
          <a:ln/>
        </p:spPr>
        <p:txBody>
          <a:bodyPr wrap="square" lIns="0" tIns="0" rIns="0" bIns="0" rtlCol="0" anchor="ctr"/>
          <a:lstStyle/>
          <a:p>
            <a:pPr marL="0" indent="0" algn="ctr">
              <a:buNone/>
            </a:pPr>
            <a:r>
              <a:rPr lang="en-US" sz="1400" b="1" dirty="0">
                <a:solidFill>
                  <a:schemeClr val="tx2"/>
                </a:solidFill>
              </a:rPr>
              <a:t>Selected</a:t>
            </a:r>
            <a:endParaRPr lang="en-US" sz="1400" dirty="0"/>
          </a:p>
        </p:txBody>
      </p:sp>
      <p:sp>
        <p:nvSpPr>
          <p:cNvPr id="9" name="Shape 7"/>
          <p:cNvSpPr/>
          <p:nvPr/>
        </p:nvSpPr>
        <p:spPr>
          <a:xfrm>
            <a:off x="548640" y="3063240"/>
            <a:ext cx="6766560" cy="640080"/>
          </a:xfrm>
          <a:prstGeom prst="roundRect">
            <a:avLst>
              <a:gd name="adj" fmla="val 11429"/>
            </a:avLst>
          </a:prstGeom>
          <a:solidFill>
            <a:schemeClr val="bg2"/>
          </a:solidFill>
          <a:ln w="12700">
            <a:solidFill>
              <a:schemeClr val="bg2"/>
            </a:solidFill>
            <a:prstDash val="solid"/>
          </a:ln>
        </p:spPr>
      </p:sp>
      <p:sp>
        <p:nvSpPr>
          <p:cNvPr id="10" name="Text 8"/>
          <p:cNvSpPr txBox="1"/>
          <p:nvPr/>
        </p:nvSpPr>
        <p:spPr>
          <a:xfrm>
            <a:off x="822960" y="3063240"/>
            <a:ext cx="4114800" cy="640080"/>
          </a:xfrm>
          <a:prstGeom prst="rect">
            <a:avLst/>
          </a:prstGeom>
          <a:noFill/>
          <a:ln/>
        </p:spPr>
        <p:txBody>
          <a:bodyPr wrap="square" lIns="0" tIns="0" rIns="0" bIns="0" rtlCol="0" anchor="ctr"/>
          <a:lstStyle/>
          <a:p>
            <a:pPr marL="0" indent="0">
              <a:buNone/>
            </a:pPr>
            <a:r>
              <a:rPr lang="en-US" sz="1800" b="1" dirty="0">
                <a:solidFill>
                  <a:schemeClr val="tx2"/>
                </a:solidFill>
              </a:rPr>
              <a:t>Balanced Linear SVM</a:t>
            </a:r>
            <a:endParaRPr lang="en-US" sz="1800" dirty="0"/>
          </a:p>
        </p:txBody>
      </p:sp>
      <p:sp>
        <p:nvSpPr>
          <p:cNvPr id="11" name="Shape 9"/>
          <p:cNvSpPr/>
          <p:nvPr/>
        </p:nvSpPr>
        <p:spPr>
          <a:xfrm>
            <a:off x="548640" y="3840480"/>
            <a:ext cx="6766560" cy="640080"/>
          </a:xfrm>
          <a:prstGeom prst="roundRect">
            <a:avLst>
              <a:gd name="adj" fmla="val 11429"/>
            </a:avLst>
          </a:prstGeom>
          <a:solidFill>
            <a:schemeClr val="bg2"/>
          </a:solidFill>
          <a:ln w="12700">
            <a:solidFill>
              <a:schemeClr val="bg2"/>
            </a:solidFill>
            <a:prstDash val="solid"/>
          </a:ln>
        </p:spPr>
      </p:sp>
      <p:sp>
        <p:nvSpPr>
          <p:cNvPr id="12" name="Text 10"/>
          <p:cNvSpPr txBox="1"/>
          <p:nvPr/>
        </p:nvSpPr>
        <p:spPr>
          <a:xfrm>
            <a:off x="822960" y="3840480"/>
            <a:ext cx="4114800" cy="640080"/>
          </a:xfrm>
          <a:prstGeom prst="rect">
            <a:avLst/>
          </a:prstGeom>
          <a:noFill/>
          <a:ln/>
        </p:spPr>
        <p:txBody>
          <a:bodyPr wrap="square" lIns="0" tIns="0" rIns="0" bIns="0" rtlCol="0" anchor="ctr"/>
          <a:lstStyle/>
          <a:p>
            <a:pPr marL="0" indent="0">
              <a:buNone/>
            </a:pPr>
            <a:r>
              <a:rPr lang="en-US" sz="1800" b="1" dirty="0">
                <a:solidFill>
                  <a:schemeClr val="tx2"/>
                </a:solidFill>
              </a:rPr>
              <a:t>Unbalanced Linear SVM</a:t>
            </a:r>
            <a:endParaRPr lang="en-US" sz="1800" dirty="0"/>
          </a:p>
        </p:txBody>
      </p:sp>
      <p:sp>
        <p:nvSpPr>
          <p:cNvPr id="13" name="Shape 11"/>
          <p:cNvSpPr/>
          <p:nvPr/>
        </p:nvSpPr>
        <p:spPr>
          <a:xfrm>
            <a:off x="548640" y="4754880"/>
            <a:ext cx="6766560" cy="1463040"/>
          </a:xfrm>
          <a:prstGeom prst="roundRect">
            <a:avLst>
              <a:gd name="adj" fmla="val 5000"/>
            </a:avLst>
          </a:prstGeom>
          <a:solidFill>
            <a:schemeClr val="bg2"/>
          </a:solidFill>
          <a:ln w="12700">
            <a:solidFill>
              <a:schemeClr val="bg2"/>
            </a:solidFill>
            <a:prstDash val="solid"/>
          </a:ln>
        </p:spPr>
      </p:sp>
      <p:sp>
        <p:nvSpPr>
          <p:cNvPr id="14" name="Text 12"/>
          <p:cNvSpPr txBox="1"/>
          <p:nvPr/>
        </p:nvSpPr>
        <p:spPr>
          <a:xfrm>
            <a:off x="822960" y="4846320"/>
            <a:ext cx="6217920" cy="320040"/>
          </a:xfrm>
          <a:prstGeom prst="rect">
            <a:avLst/>
          </a:prstGeom>
          <a:noFill/>
          <a:ln/>
        </p:spPr>
        <p:txBody>
          <a:bodyPr wrap="square" lIns="0" tIns="0" rIns="0" bIns="0" rtlCol="0" anchor="t"/>
          <a:lstStyle/>
          <a:p>
            <a:pPr marL="0" indent="0">
              <a:buNone/>
            </a:pPr>
            <a:r>
              <a:rPr lang="en-US" sz="1600" b="1" dirty="0">
                <a:solidFill>
                  <a:schemeClr val="tx2"/>
                </a:solidFill>
              </a:rPr>
              <a:t>Why Logistic Regression?</a:t>
            </a:r>
            <a:endParaRPr lang="en-US" sz="1600" dirty="0"/>
          </a:p>
        </p:txBody>
      </p:sp>
      <p:sp>
        <p:nvSpPr>
          <p:cNvPr id="15" name="Text 13"/>
          <p:cNvSpPr txBox="1"/>
          <p:nvPr/>
        </p:nvSpPr>
        <p:spPr>
          <a:xfrm>
            <a:off x="822960" y="5212080"/>
            <a:ext cx="6309360" cy="96012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Linear SVM had higher accuracy</a:t>
            </a:r>
            <a:endParaRPr lang="en-US" sz="1400" dirty="0"/>
          </a:p>
          <a:p>
            <a:pPr marL="342900" indent="-342900">
              <a:spcAft>
                <a:spcPts val="300"/>
              </a:spcAft>
              <a:buSzPct val="100000"/>
              <a:buChar char="•"/>
            </a:pPr>
            <a:r>
              <a:rPr lang="en-US" sz="1400" dirty="0">
                <a:solidFill>
                  <a:schemeClr val="tx1"/>
                </a:solidFill>
              </a:rPr>
              <a:t>LR gave the best Macro F1 and best Neutral performance on validation</a:t>
            </a:r>
            <a:endParaRPr lang="en-US" sz="1400" dirty="0"/>
          </a:p>
          <a:p>
            <a:pPr marL="342900" indent="-342900">
              <a:spcAft>
                <a:spcPts val="300"/>
              </a:spcAft>
              <a:buSzPct val="100000"/>
              <a:buChar char="•"/>
            </a:pPr>
            <a:r>
              <a:rPr lang="en-US" sz="1400" dirty="0">
                <a:solidFill>
                  <a:schemeClr val="tx1"/>
                </a:solidFill>
              </a:rPr>
              <a:t>Its class probabilities allow Neutral threshold tuning</a:t>
            </a:r>
            <a:endParaRPr lang="en-US" sz="1400" dirty="0"/>
          </a:p>
        </p:txBody>
      </p:sp>
      <p:sp>
        <p:nvSpPr>
          <p:cNvPr id="16" name="Text 14"/>
          <p:cNvSpPr txBox="1"/>
          <p:nvPr/>
        </p:nvSpPr>
        <p:spPr>
          <a:xfrm>
            <a:off x="7680960" y="1783080"/>
            <a:ext cx="3931920" cy="365760"/>
          </a:xfrm>
          <a:prstGeom prst="rect">
            <a:avLst/>
          </a:prstGeom>
          <a:noFill/>
          <a:ln/>
        </p:spPr>
        <p:txBody>
          <a:bodyPr wrap="square" lIns="0" tIns="0" rIns="0" bIns="0" rtlCol="0" anchor="t"/>
          <a:lstStyle/>
          <a:p>
            <a:pPr marL="0" indent="0">
              <a:buNone/>
            </a:pPr>
            <a:r>
              <a:rPr lang="en-US" sz="1800" b="1" dirty="0">
                <a:solidFill>
                  <a:schemeClr val="tx2"/>
                </a:solidFill>
              </a:rPr>
              <a:t>Final test results</a:t>
            </a:r>
            <a:endParaRPr lang="en-US" sz="1800" dirty="0"/>
          </a:p>
        </p:txBody>
      </p:sp>
      <p:sp>
        <p:nvSpPr>
          <p:cNvPr id="17" name="Shape 15"/>
          <p:cNvSpPr/>
          <p:nvPr/>
        </p:nvSpPr>
        <p:spPr>
          <a:xfrm>
            <a:off x="7680960" y="2286000"/>
            <a:ext cx="3931920" cy="1097280"/>
          </a:xfrm>
          <a:prstGeom prst="roundRect">
            <a:avLst>
              <a:gd name="adj" fmla="val 6667"/>
            </a:avLst>
          </a:prstGeom>
          <a:solidFill>
            <a:schemeClr val="bg2"/>
          </a:solidFill>
          <a:ln w="12700">
            <a:solidFill>
              <a:schemeClr val="bg2"/>
            </a:solidFill>
            <a:prstDash val="solid"/>
          </a:ln>
        </p:spPr>
      </p:sp>
      <p:sp>
        <p:nvSpPr>
          <p:cNvPr id="18" name="Text 16"/>
          <p:cNvSpPr txBox="1"/>
          <p:nvPr/>
        </p:nvSpPr>
        <p:spPr>
          <a:xfrm>
            <a:off x="7680960" y="2461565"/>
            <a:ext cx="3931920" cy="460858"/>
          </a:xfrm>
          <a:prstGeom prst="rect">
            <a:avLst/>
          </a:prstGeom>
          <a:noFill/>
          <a:ln/>
        </p:spPr>
        <p:txBody>
          <a:bodyPr wrap="square" lIns="0" tIns="0" rIns="0" bIns="0" rtlCol="0" anchor="ctr"/>
          <a:lstStyle/>
          <a:p>
            <a:pPr marL="0" indent="0" algn="ctr">
              <a:buNone/>
            </a:pPr>
            <a:r>
              <a:rPr lang="en-US" sz="3200" b="1" dirty="0">
                <a:solidFill>
                  <a:schemeClr val="accent1"/>
                </a:solidFill>
              </a:rPr>
              <a:t>89.04%</a:t>
            </a:r>
            <a:endParaRPr lang="en-US" sz="3200" dirty="0"/>
          </a:p>
        </p:txBody>
      </p:sp>
      <p:sp>
        <p:nvSpPr>
          <p:cNvPr id="19" name="Text 17"/>
          <p:cNvSpPr txBox="1"/>
          <p:nvPr/>
        </p:nvSpPr>
        <p:spPr>
          <a:xfrm>
            <a:off x="7772400" y="2922422"/>
            <a:ext cx="3749040" cy="373075"/>
          </a:xfrm>
          <a:prstGeom prst="rect">
            <a:avLst/>
          </a:prstGeom>
          <a:noFill/>
          <a:ln/>
        </p:spPr>
        <p:txBody>
          <a:bodyPr wrap="square" lIns="0" tIns="0" rIns="0" bIns="0" rtlCol="0" anchor="t"/>
          <a:lstStyle/>
          <a:p>
            <a:pPr marL="0" indent="0" algn="ctr">
              <a:buNone/>
            </a:pPr>
            <a:r>
              <a:rPr lang="en-US" sz="1400" dirty="0">
                <a:solidFill>
                  <a:schemeClr val="tx1"/>
                </a:solidFill>
              </a:rPr>
              <a:t>Accuracy</a:t>
            </a:r>
            <a:endParaRPr lang="en-US" sz="1400" dirty="0"/>
          </a:p>
        </p:txBody>
      </p:sp>
      <p:sp>
        <p:nvSpPr>
          <p:cNvPr id="20" name="Shape 18"/>
          <p:cNvSpPr/>
          <p:nvPr/>
        </p:nvSpPr>
        <p:spPr>
          <a:xfrm>
            <a:off x="7680960" y="3520440"/>
            <a:ext cx="3931920" cy="1097280"/>
          </a:xfrm>
          <a:prstGeom prst="roundRect">
            <a:avLst>
              <a:gd name="adj" fmla="val 6667"/>
            </a:avLst>
          </a:prstGeom>
          <a:solidFill>
            <a:schemeClr val="bg2"/>
          </a:solidFill>
          <a:ln w="12700">
            <a:solidFill>
              <a:schemeClr val="bg2"/>
            </a:solidFill>
            <a:prstDash val="solid"/>
          </a:ln>
        </p:spPr>
      </p:sp>
      <p:sp>
        <p:nvSpPr>
          <p:cNvPr id="21" name="Text 19"/>
          <p:cNvSpPr txBox="1"/>
          <p:nvPr/>
        </p:nvSpPr>
        <p:spPr>
          <a:xfrm>
            <a:off x="7680960" y="3696005"/>
            <a:ext cx="3931920" cy="460858"/>
          </a:xfrm>
          <a:prstGeom prst="rect">
            <a:avLst/>
          </a:prstGeom>
          <a:noFill/>
          <a:ln/>
        </p:spPr>
        <p:txBody>
          <a:bodyPr wrap="square" lIns="0" tIns="0" rIns="0" bIns="0" rtlCol="0" anchor="ctr"/>
          <a:lstStyle/>
          <a:p>
            <a:pPr marL="0" indent="0" algn="ctr">
              <a:buNone/>
            </a:pPr>
            <a:r>
              <a:rPr lang="en-US" sz="3200" b="1" dirty="0">
                <a:solidFill>
                  <a:schemeClr val="accent1"/>
                </a:solidFill>
              </a:rPr>
              <a:t>69.43%</a:t>
            </a:r>
            <a:endParaRPr lang="en-US" sz="3200" dirty="0"/>
          </a:p>
        </p:txBody>
      </p:sp>
      <p:sp>
        <p:nvSpPr>
          <p:cNvPr id="22" name="Text 20"/>
          <p:cNvSpPr txBox="1"/>
          <p:nvPr/>
        </p:nvSpPr>
        <p:spPr>
          <a:xfrm>
            <a:off x="7772400" y="4156862"/>
            <a:ext cx="3749040" cy="373075"/>
          </a:xfrm>
          <a:prstGeom prst="rect">
            <a:avLst/>
          </a:prstGeom>
          <a:noFill/>
          <a:ln/>
        </p:spPr>
        <p:txBody>
          <a:bodyPr wrap="square" lIns="0" tIns="0" rIns="0" bIns="0" rtlCol="0" anchor="t"/>
          <a:lstStyle/>
          <a:p>
            <a:pPr marL="0" indent="0" algn="ctr">
              <a:buNone/>
            </a:pPr>
            <a:r>
              <a:rPr lang="en-US" sz="1400" dirty="0">
                <a:solidFill>
                  <a:schemeClr val="tx1"/>
                </a:solidFill>
              </a:rPr>
              <a:t>Macro F1</a:t>
            </a:r>
            <a:endParaRPr lang="en-US" sz="1400" dirty="0"/>
          </a:p>
        </p:txBody>
      </p:sp>
      <p:sp>
        <p:nvSpPr>
          <p:cNvPr id="23" name="Shape 21"/>
          <p:cNvSpPr/>
          <p:nvPr/>
        </p:nvSpPr>
        <p:spPr>
          <a:xfrm>
            <a:off x="7680960" y="4754880"/>
            <a:ext cx="3931920" cy="1097280"/>
          </a:xfrm>
          <a:prstGeom prst="roundRect">
            <a:avLst>
              <a:gd name="adj" fmla="val 6667"/>
            </a:avLst>
          </a:prstGeom>
          <a:solidFill>
            <a:schemeClr val="bg2"/>
          </a:solidFill>
          <a:ln w="12700">
            <a:solidFill>
              <a:schemeClr val="bg2"/>
            </a:solidFill>
            <a:prstDash val="solid"/>
          </a:ln>
        </p:spPr>
      </p:sp>
      <p:sp>
        <p:nvSpPr>
          <p:cNvPr id="24" name="Text 22"/>
          <p:cNvSpPr txBox="1"/>
          <p:nvPr/>
        </p:nvSpPr>
        <p:spPr>
          <a:xfrm>
            <a:off x="7680960" y="4930445"/>
            <a:ext cx="3931920" cy="460858"/>
          </a:xfrm>
          <a:prstGeom prst="rect">
            <a:avLst/>
          </a:prstGeom>
          <a:noFill/>
          <a:ln/>
        </p:spPr>
        <p:txBody>
          <a:bodyPr wrap="square" lIns="0" tIns="0" rIns="0" bIns="0" rtlCol="0" anchor="ctr"/>
          <a:lstStyle/>
          <a:p>
            <a:pPr marL="0" indent="0" algn="ctr">
              <a:buNone/>
            </a:pPr>
            <a:r>
              <a:rPr lang="en-US" sz="3200" b="1" dirty="0">
                <a:solidFill>
                  <a:schemeClr val="accent1"/>
                </a:solidFill>
              </a:rPr>
              <a:t>89.81%</a:t>
            </a:r>
            <a:endParaRPr lang="en-US" sz="3200" dirty="0"/>
          </a:p>
        </p:txBody>
      </p:sp>
      <p:sp>
        <p:nvSpPr>
          <p:cNvPr id="25" name="Text 23"/>
          <p:cNvSpPr txBox="1"/>
          <p:nvPr/>
        </p:nvSpPr>
        <p:spPr>
          <a:xfrm>
            <a:off x="7772400" y="5391302"/>
            <a:ext cx="3749040" cy="373075"/>
          </a:xfrm>
          <a:prstGeom prst="rect">
            <a:avLst/>
          </a:prstGeom>
          <a:noFill/>
          <a:ln/>
        </p:spPr>
        <p:txBody>
          <a:bodyPr wrap="square" lIns="0" tIns="0" rIns="0" bIns="0" rtlCol="0" anchor="t"/>
          <a:lstStyle/>
          <a:p>
            <a:pPr marL="0" indent="0" algn="ctr">
              <a:buNone/>
            </a:pPr>
            <a:r>
              <a:rPr lang="en-US" sz="1400" dirty="0">
                <a:solidFill>
                  <a:schemeClr val="tx1"/>
                </a:solidFill>
              </a:rPr>
              <a:t>Weighted F1</a:t>
            </a:r>
            <a:endParaRPr lang="en-US" sz="1400" dirty="0"/>
          </a:p>
        </p:txBody>
      </p:sp>
      <p:sp>
        <p:nvSpPr>
          <p:cNvPr id="26" name="Text 24"/>
          <p:cNvSpPr txBox="1"/>
          <p:nvPr/>
        </p:nvSpPr>
        <p:spPr>
          <a:xfrm>
            <a:off x="7680960" y="5943600"/>
            <a:ext cx="3931920" cy="365760"/>
          </a:xfrm>
          <a:prstGeom prst="rect">
            <a:avLst/>
          </a:prstGeom>
          <a:noFill/>
          <a:ln/>
        </p:spPr>
        <p:txBody>
          <a:bodyPr wrap="square" lIns="0" tIns="0" rIns="0" bIns="0" rtlCol="0" anchor="t"/>
          <a:lstStyle/>
          <a:p>
            <a:pPr marL="0" indent="0">
              <a:buNone/>
            </a:pPr>
            <a:r>
              <a:rPr lang="en-US" sz="1200" dirty="0">
                <a:solidFill>
                  <a:schemeClr val="accent5"/>
                </a:solidFill>
              </a:rPr>
              <a:t>23,101 sentiment samples; 4 ambiguous multi-label reviews excluded</a:t>
            </a:r>
            <a:endParaRPr lang="en-US" sz="1200" dirty="0"/>
          </a:p>
        </p:txBody>
      </p:sp>
      <p:sp>
        <p:nvSpPr>
          <p:cNvPr id="27"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7480"/>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Neutral Threshold &amp; Aspect Sentiment</a:t>
            </a:r>
            <a:endParaRPr lang="en-US" sz="3400" dirty="0"/>
          </a:p>
        </p:txBody>
      </p:sp>
      <p:sp>
        <p:nvSpPr>
          <p:cNvPr id="3" name="Shape 1"/>
          <p:cNvSpPr/>
          <p:nvPr/>
        </p:nvSpPr>
        <p:spPr>
          <a:xfrm>
            <a:off x="548640" y="1371600"/>
            <a:ext cx="5394960" cy="3429000"/>
          </a:xfrm>
          <a:prstGeom prst="roundRect">
            <a:avLst>
              <a:gd name="adj" fmla="val 2133"/>
            </a:avLst>
          </a:prstGeom>
          <a:solidFill>
            <a:schemeClr val="bg2"/>
          </a:solidFill>
          <a:ln w="12700">
            <a:solidFill>
              <a:schemeClr val="bg2"/>
            </a:solidFill>
            <a:prstDash val="solid"/>
          </a:ln>
        </p:spPr>
      </p:sp>
      <p:sp>
        <p:nvSpPr>
          <p:cNvPr id="4" name="Text 2"/>
          <p:cNvSpPr txBox="1"/>
          <p:nvPr/>
        </p:nvSpPr>
        <p:spPr>
          <a:xfrm>
            <a:off x="777240" y="1508760"/>
            <a:ext cx="4937760" cy="365760"/>
          </a:xfrm>
          <a:prstGeom prst="rect">
            <a:avLst/>
          </a:prstGeom>
          <a:noFill/>
          <a:ln/>
        </p:spPr>
        <p:txBody>
          <a:bodyPr wrap="square" lIns="0" tIns="0" rIns="0" bIns="0" rtlCol="0" anchor="t"/>
          <a:lstStyle/>
          <a:p>
            <a:pPr marL="0" indent="0">
              <a:buNone/>
            </a:pPr>
            <a:r>
              <a:rPr lang="en-US" sz="1800" b="1" dirty="0">
                <a:solidFill>
                  <a:schemeClr val="tx2"/>
                </a:solidFill>
              </a:rPr>
              <a:t>Neutral threshold tuning</a:t>
            </a:r>
            <a:endParaRPr lang="en-US" sz="1800" dirty="0"/>
          </a:p>
        </p:txBody>
      </p:sp>
      <p:sp>
        <p:nvSpPr>
          <p:cNvPr id="5" name="Text 3"/>
          <p:cNvSpPr txBox="1"/>
          <p:nvPr/>
        </p:nvSpPr>
        <p:spPr>
          <a:xfrm>
            <a:off x="777240" y="1965960"/>
            <a:ext cx="4937760" cy="11430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Neutral is only 3.44% of the data</a:t>
            </a:r>
            <a:endParaRPr lang="en-US" sz="1400" dirty="0"/>
          </a:p>
          <a:p>
            <a:pPr marL="342900" indent="-342900">
              <a:spcAft>
                <a:spcPts val="400"/>
              </a:spcAft>
              <a:buSzPct val="100000"/>
              <a:buChar char="•"/>
            </a:pPr>
            <a:r>
              <a:rPr lang="en-US" sz="1400" dirty="0">
                <a:solidFill>
                  <a:schemeClr val="tx1"/>
                </a:solidFill>
              </a:rPr>
              <a:t>Picking the highest probability gave poor Neutral detection</a:t>
            </a:r>
            <a:endParaRPr lang="en-US" sz="1400" dirty="0"/>
          </a:p>
          <a:p>
            <a:pPr marL="342900" indent="-342900">
              <a:spcAft>
                <a:spcPts val="400"/>
              </a:spcAft>
              <a:buSzPct val="100000"/>
              <a:buChar char="•"/>
            </a:pPr>
            <a:r>
              <a:rPr lang="en-US" sz="1400" dirty="0">
                <a:solidFill>
                  <a:schemeClr val="tx1"/>
                </a:solidFill>
              </a:rPr>
              <a:t>Threshold tuned on the validation set</a:t>
            </a:r>
            <a:endParaRPr lang="en-US" sz="1400" dirty="0"/>
          </a:p>
        </p:txBody>
      </p:sp>
      <p:sp>
        <p:nvSpPr>
          <p:cNvPr id="6" name="Shape 4"/>
          <p:cNvSpPr/>
          <p:nvPr/>
        </p:nvSpPr>
        <p:spPr>
          <a:xfrm>
            <a:off x="777240" y="3291840"/>
            <a:ext cx="1554480" cy="1325880"/>
          </a:xfrm>
          <a:prstGeom prst="roundRect">
            <a:avLst>
              <a:gd name="adj" fmla="val 5517"/>
            </a:avLst>
          </a:prstGeom>
          <a:solidFill>
            <a:srgbClr val="0B3C49"/>
          </a:solidFill>
          <a:ln w="12700">
            <a:solidFill>
              <a:srgbClr val="0B3C49"/>
            </a:solidFill>
            <a:prstDash val="solid"/>
          </a:ln>
        </p:spPr>
      </p:sp>
      <p:sp>
        <p:nvSpPr>
          <p:cNvPr id="7" name="Text 5"/>
          <p:cNvSpPr txBox="1"/>
          <p:nvPr/>
        </p:nvSpPr>
        <p:spPr>
          <a:xfrm>
            <a:off x="777240" y="3383280"/>
            <a:ext cx="1554480" cy="731520"/>
          </a:xfrm>
          <a:prstGeom prst="rect">
            <a:avLst/>
          </a:prstGeom>
          <a:noFill/>
          <a:ln/>
        </p:spPr>
        <p:txBody>
          <a:bodyPr wrap="square" lIns="0" tIns="0" rIns="0" bIns="0" rtlCol="0" anchor="ctr"/>
          <a:lstStyle/>
          <a:p>
            <a:pPr marL="0" indent="0" algn="ctr">
              <a:buNone/>
            </a:pPr>
            <a:r>
              <a:rPr lang="en-US" sz="3600" b="1" dirty="0">
                <a:solidFill>
                  <a:schemeClr val="accent2"/>
                </a:solidFill>
              </a:rPr>
              <a:t>0.44</a:t>
            </a:r>
            <a:endParaRPr lang="en-US" sz="3600" dirty="0"/>
          </a:p>
        </p:txBody>
      </p:sp>
      <p:sp>
        <p:nvSpPr>
          <p:cNvPr id="8" name="Text 6"/>
          <p:cNvSpPr txBox="1"/>
          <p:nvPr/>
        </p:nvSpPr>
        <p:spPr>
          <a:xfrm>
            <a:off x="777240" y="4114800"/>
            <a:ext cx="1554480" cy="365760"/>
          </a:xfrm>
          <a:prstGeom prst="rect">
            <a:avLst/>
          </a:prstGeom>
          <a:noFill/>
          <a:ln/>
        </p:spPr>
        <p:txBody>
          <a:bodyPr wrap="square" lIns="0" tIns="0" rIns="0" bIns="0" rtlCol="0" anchor="t"/>
          <a:lstStyle/>
          <a:p>
            <a:pPr marL="0" indent="0" algn="ctr">
              <a:buNone/>
            </a:pPr>
            <a:r>
              <a:rPr lang="en-US" sz="1200" dirty="0">
                <a:solidFill>
                  <a:schemeClr val="bg1"/>
                </a:solidFill>
              </a:rPr>
              <a:t>Neutral threshold</a:t>
            </a:r>
            <a:endParaRPr lang="en-US" sz="1200" dirty="0"/>
          </a:p>
        </p:txBody>
      </p:sp>
      <p:sp>
        <p:nvSpPr>
          <p:cNvPr id="9" name="Shape 7"/>
          <p:cNvSpPr/>
          <p:nvPr/>
        </p:nvSpPr>
        <p:spPr>
          <a:xfrm>
            <a:off x="2514600" y="3291840"/>
            <a:ext cx="3200400" cy="1325880"/>
          </a:xfrm>
          <a:prstGeom prst="roundRect">
            <a:avLst>
              <a:gd name="adj" fmla="val 5517"/>
            </a:avLst>
          </a:prstGeom>
          <a:solidFill>
            <a:schemeClr val="bg1"/>
          </a:solidFill>
          <a:ln w="12700">
            <a:solidFill>
              <a:schemeClr val="bg1"/>
            </a:solidFill>
            <a:prstDash val="solid"/>
          </a:ln>
        </p:spPr>
      </p:sp>
      <p:sp>
        <p:nvSpPr>
          <p:cNvPr id="10" name="Text 8"/>
          <p:cNvSpPr txBox="1"/>
          <p:nvPr/>
        </p:nvSpPr>
        <p:spPr>
          <a:xfrm>
            <a:off x="2651760" y="3364992"/>
            <a:ext cx="2926080" cy="274320"/>
          </a:xfrm>
          <a:prstGeom prst="rect">
            <a:avLst/>
          </a:prstGeom>
          <a:noFill/>
          <a:ln/>
        </p:spPr>
        <p:txBody>
          <a:bodyPr wrap="square" lIns="0" tIns="0" rIns="0" bIns="0" rtlCol="0" anchor="t"/>
          <a:lstStyle/>
          <a:p>
            <a:pPr marL="0" indent="0">
              <a:buNone/>
            </a:pPr>
            <a:r>
              <a:rPr lang="en-US" sz="1200" b="1" dirty="0">
                <a:solidFill>
                  <a:schemeClr val="accent5"/>
                </a:solidFill>
              </a:rPr>
              <a:t>Validation results</a:t>
            </a:r>
            <a:endParaRPr lang="en-US" sz="1200" dirty="0"/>
          </a:p>
        </p:txBody>
      </p:sp>
      <p:sp>
        <p:nvSpPr>
          <p:cNvPr id="11" name="Text 9"/>
          <p:cNvSpPr txBox="1"/>
          <p:nvPr/>
        </p:nvSpPr>
        <p:spPr>
          <a:xfrm>
            <a:off x="2651760" y="3703320"/>
            <a:ext cx="2971800" cy="822960"/>
          </a:xfrm>
          <a:prstGeom prst="rect">
            <a:avLst/>
          </a:prstGeom>
          <a:noFill/>
          <a:ln/>
        </p:spPr>
        <p:txBody>
          <a:bodyPr wrap="square" lIns="0" tIns="0" rIns="0" bIns="0" rtlCol="0" anchor="t"/>
          <a:lstStyle/>
          <a:p>
            <a:pPr marL="0" indent="0">
              <a:spcAft>
                <a:spcPts val="600"/>
              </a:spcAft>
              <a:buNone/>
            </a:pPr>
            <a:r>
              <a:rPr lang="en-US" sz="1400" b="1" dirty="0">
                <a:solidFill>
                  <a:schemeClr val="tx1"/>
                </a:solidFill>
              </a:rPr>
              <a:t>Macro F1  </a:t>
            </a:r>
            <a:r>
              <a:rPr lang="en-US" sz="1400" dirty="0">
                <a:solidFill>
                  <a:schemeClr val="tx1"/>
                </a:solidFill>
              </a:rPr>
              <a:t>0.7106 → 0.7142</a:t>
            </a:r>
            <a:endParaRPr lang="en-US" sz="1400" dirty="0"/>
          </a:p>
          <a:p>
            <a:pPr marL="0" indent="0">
              <a:spcAft>
                <a:spcPts val="600"/>
              </a:spcAft>
              <a:buNone/>
            </a:pPr>
            <a:r>
              <a:rPr lang="en-US" sz="1400" b="1" dirty="0">
                <a:solidFill>
                  <a:schemeClr val="tx1"/>
                </a:solidFill>
              </a:rPr>
              <a:t>Neutral F1  </a:t>
            </a:r>
            <a:r>
              <a:rPr lang="en-US" sz="1400" dirty="0">
                <a:solidFill>
                  <a:schemeClr val="tx1"/>
                </a:solidFill>
              </a:rPr>
              <a:t>0.3046 → 0.3129</a:t>
            </a:r>
            <a:endParaRPr lang="en-US" sz="1400" dirty="0"/>
          </a:p>
        </p:txBody>
      </p:sp>
      <p:sp>
        <p:nvSpPr>
          <p:cNvPr id="12" name="Shape 10"/>
          <p:cNvSpPr/>
          <p:nvPr/>
        </p:nvSpPr>
        <p:spPr>
          <a:xfrm>
            <a:off x="6217920" y="1371600"/>
            <a:ext cx="5394960" cy="3429000"/>
          </a:xfrm>
          <a:prstGeom prst="roundRect">
            <a:avLst>
              <a:gd name="adj" fmla="val 2133"/>
            </a:avLst>
          </a:prstGeom>
          <a:solidFill>
            <a:schemeClr val="bg2"/>
          </a:solidFill>
          <a:ln w="12700">
            <a:solidFill>
              <a:schemeClr val="bg2"/>
            </a:solidFill>
            <a:prstDash val="solid"/>
          </a:ln>
        </p:spPr>
      </p:sp>
      <p:sp>
        <p:nvSpPr>
          <p:cNvPr id="13" name="Text 11"/>
          <p:cNvSpPr txBox="1"/>
          <p:nvPr/>
        </p:nvSpPr>
        <p:spPr>
          <a:xfrm>
            <a:off x="6446520" y="1508760"/>
            <a:ext cx="4937760" cy="365760"/>
          </a:xfrm>
          <a:prstGeom prst="rect">
            <a:avLst/>
          </a:prstGeom>
          <a:noFill/>
          <a:ln/>
        </p:spPr>
        <p:txBody>
          <a:bodyPr wrap="square" lIns="0" tIns="0" rIns="0" bIns="0" rtlCol="0" anchor="t"/>
          <a:lstStyle/>
          <a:p>
            <a:pPr marL="0" indent="0">
              <a:buNone/>
            </a:pPr>
            <a:r>
              <a:rPr lang="en-US" sz="1800" b="1" dirty="0">
                <a:solidFill>
                  <a:schemeClr val="tx2"/>
                </a:solidFill>
              </a:rPr>
              <a:t>Local-context extraction</a:t>
            </a:r>
            <a:endParaRPr lang="en-US" sz="1800" dirty="0"/>
          </a:p>
        </p:txBody>
      </p:sp>
      <p:sp>
        <p:nvSpPr>
          <p:cNvPr id="14" name="Shape 12"/>
          <p:cNvSpPr/>
          <p:nvPr/>
        </p:nvSpPr>
        <p:spPr>
          <a:xfrm>
            <a:off x="6446520" y="2286000"/>
            <a:ext cx="1097280" cy="411480"/>
          </a:xfrm>
          <a:prstGeom prst="roundRect">
            <a:avLst>
              <a:gd name="adj" fmla="val 111111"/>
            </a:avLst>
          </a:prstGeom>
          <a:solidFill>
            <a:srgbClr val="238A5E"/>
          </a:solidFill>
          <a:ln w="12700">
            <a:solidFill>
              <a:srgbClr val="238A5E"/>
            </a:solidFill>
            <a:prstDash val="solid"/>
          </a:ln>
        </p:spPr>
      </p:sp>
      <p:sp>
        <p:nvSpPr>
          <p:cNvPr id="15" name="Text 13"/>
          <p:cNvSpPr txBox="1"/>
          <p:nvPr/>
        </p:nvSpPr>
        <p:spPr>
          <a:xfrm>
            <a:off x="6446520" y="2286000"/>
            <a:ext cx="1097280" cy="411480"/>
          </a:xfrm>
          <a:prstGeom prst="rect">
            <a:avLst/>
          </a:prstGeom>
          <a:noFill/>
          <a:ln/>
        </p:spPr>
        <p:txBody>
          <a:bodyPr wrap="square" lIns="0" tIns="0" rIns="0" bIns="0" rtlCol="0" anchor="ctr"/>
          <a:lstStyle/>
          <a:p>
            <a:pPr marL="0" indent="0" algn="ctr">
              <a:buNone/>
            </a:pPr>
            <a:r>
              <a:rPr lang="en-US" sz="1400" b="1" dirty="0">
                <a:solidFill>
                  <a:schemeClr val="bg1"/>
                </a:solidFill>
              </a:rPr>
              <a:t>Room</a:t>
            </a:r>
            <a:endParaRPr lang="en-US" sz="1400" dirty="0"/>
          </a:p>
        </p:txBody>
      </p:sp>
      <p:sp>
        <p:nvSpPr>
          <p:cNvPr id="16" name="Shape 14"/>
          <p:cNvSpPr/>
          <p:nvPr/>
        </p:nvSpPr>
        <p:spPr>
          <a:xfrm>
            <a:off x="7635240" y="2340864"/>
            <a:ext cx="320040" cy="292608"/>
          </a:xfrm>
          <a:prstGeom prst="rightArrow">
            <a:avLst/>
          </a:prstGeom>
          <a:solidFill>
            <a:schemeClr val="accent5"/>
          </a:solidFill>
          <a:ln w="12700">
            <a:solidFill>
              <a:schemeClr val="accent5"/>
            </a:solidFill>
            <a:prstDash val="solid"/>
          </a:ln>
        </p:spPr>
      </p:sp>
      <p:sp>
        <p:nvSpPr>
          <p:cNvPr id="17" name="Shape 15"/>
          <p:cNvSpPr/>
          <p:nvPr/>
        </p:nvSpPr>
        <p:spPr>
          <a:xfrm>
            <a:off x="8046720" y="2103120"/>
            <a:ext cx="3337560" cy="777240"/>
          </a:xfrm>
          <a:prstGeom prst="roundRect">
            <a:avLst>
              <a:gd name="adj" fmla="val 9412"/>
            </a:avLst>
          </a:prstGeom>
          <a:solidFill>
            <a:schemeClr val="bg1"/>
          </a:solidFill>
          <a:ln w="12700">
            <a:solidFill>
              <a:schemeClr val="bg1"/>
            </a:solidFill>
            <a:prstDash val="solid"/>
          </a:ln>
        </p:spPr>
      </p:sp>
      <p:sp>
        <p:nvSpPr>
          <p:cNvPr id="18" name="Text 16"/>
          <p:cNvSpPr txBox="1"/>
          <p:nvPr/>
        </p:nvSpPr>
        <p:spPr>
          <a:xfrm>
            <a:off x="8183880" y="2103120"/>
            <a:ext cx="3108960" cy="777240"/>
          </a:xfrm>
          <a:prstGeom prst="rect">
            <a:avLst/>
          </a:prstGeom>
          <a:noFill/>
          <a:ln/>
        </p:spPr>
        <p:txBody>
          <a:bodyPr wrap="square" lIns="0" tIns="0" rIns="0" bIns="0" rtlCol="0" anchor="ctr"/>
          <a:lstStyle/>
          <a:p>
            <a:pPr marL="0" indent="0">
              <a:buNone/>
            </a:pPr>
            <a:r>
              <a:rPr lang="en-US" sz="1400" i="1" dirty="0">
                <a:solidFill>
                  <a:schemeClr val="tx1"/>
                </a:solidFill>
              </a:rPr>
              <a:t>“the room was clean and comfortable”</a:t>
            </a:r>
            <a:endParaRPr lang="en-US" sz="1400" dirty="0"/>
          </a:p>
        </p:txBody>
      </p:sp>
      <p:sp>
        <p:nvSpPr>
          <p:cNvPr id="19" name="Shape 17"/>
          <p:cNvSpPr/>
          <p:nvPr/>
        </p:nvSpPr>
        <p:spPr>
          <a:xfrm>
            <a:off x="6446520" y="3383280"/>
            <a:ext cx="1097280" cy="411480"/>
          </a:xfrm>
          <a:prstGeom prst="roundRect">
            <a:avLst>
              <a:gd name="adj" fmla="val 111111"/>
            </a:avLst>
          </a:prstGeom>
          <a:solidFill>
            <a:srgbClr val="C23B3B"/>
          </a:solidFill>
          <a:ln w="12700">
            <a:solidFill>
              <a:srgbClr val="C23B3B"/>
            </a:solidFill>
            <a:prstDash val="solid"/>
          </a:ln>
        </p:spPr>
      </p:sp>
      <p:sp>
        <p:nvSpPr>
          <p:cNvPr id="20" name="Text 18"/>
          <p:cNvSpPr txBox="1"/>
          <p:nvPr/>
        </p:nvSpPr>
        <p:spPr>
          <a:xfrm>
            <a:off x="6446520" y="3383280"/>
            <a:ext cx="1097280" cy="411480"/>
          </a:xfrm>
          <a:prstGeom prst="rect">
            <a:avLst/>
          </a:prstGeom>
          <a:noFill/>
          <a:ln/>
        </p:spPr>
        <p:txBody>
          <a:bodyPr wrap="square" lIns="0" tIns="0" rIns="0" bIns="0" rtlCol="0" anchor="ctr"/>
          <a:lstStyle/>
          <a:p>
            <a:pPr marL="0" indent="0" algn="ctr">
              <a:buNone/>
            </a:pPr>
            <a:r>
              <a:rPr lang="en-US" sz="1400" b="1" dirty="0">
                <a:solidFill>
                  <a:schemeClr val="bg1"/>
                </a:solidFill>
              </a:rPr>
              <a:t>Staff</a:t>
            </a:r>
            <a:endParaRPr lang="en-US" sz="1400" dirty="0"/>
          </a:p>
        </p:txBody>
      </p:sp>
      <p:sp>
        <p:nvSpPr>
          <p:cNvPr id="21" name="Shape 19"/>
          <p:cNvSpPr/>
          <p:nvPr/>
        </p:nvSpPr>
        <p:spPr>
          <a:xfrm>
            <a:off x="7635240" y="3438144"/>
            <a:ext cx="320040" cy="292608"/>
          </a:xfrm>
          <a:prstGeom prst="rightArrow">
            <a:avLst/>
          </a:prstGeom>
          <a:solidFill>
            <a:schemeClr val="accent5"/>
          </a:solidFill>
          <a:ln w="12700">
            <a:solidFill>
              <a:schemeClr val="accent5"/>
            </a:solidFill>
            <a:prstDash val="solid"/>
          </a:ln>
        </p:spPr>
      </p:sp>
      <p:sp>
        <p:nvSpPr>
          <p:cNvPr id="22" name="Shape 20"/>
          <p:cNvSpPr/>
          <p:nvPr/>
        </p:nvSpPr>
        <p:spPr>
          <a:xfrm>
            <a:off x="8046720" y="3200400"/>
            <a:ext cx="3337560" cy="777240"/>
          </a:xfrm>
          <a:prstGeom prst="roundRect">
            <a:avLst>
              <a:gd name="adj" fmla="val 9412"/>
            </a:avLst>
          </a:prstGeom>
          <a:solidFill>
            <a:schemeClr val="bg1"/>
          </a:solidFill>
          <a:ln w="12700">
            <a:solidFill>
              <a:schemeClr val="bg1"/>
            </a:solidFill>
            <a:prstDash val="solid"/>
          </a:ln>
        </p:spPr>
      </p:sp>
      <p:sp>
        <p:nvSpPr>
          <p:cNvPr id="23" name="Text 21"/>
          <p:cNvSpPr txBox="1"/>
          <p:nvPr/>
        </p:nvSpPr>
        <p:spPr>
          <a:xfrm>
            <a:off x="8183880" y="3200400"/>
            <a:ext cx="3108960" cy="777240"/>
          </a:xfrm>
          <a:prstGeom prst="rect">
            <a:avLst/>
          </a:prstGeom>
          <a:noFill/>
          <a:ln/>
        </p:spPr>
        <p:txBody>
          <a:bodyPr wrap="square" lIns="0" tIns="0" rIns="0" bIns="0" rtlCol="0" anchor="ctr"/>
          <a:lstStyle/>
          <a:p>
            <a:pPr marL="0" indent="0">
              <a:buNone/>
            </a:pPr>
            <a:r>
              <a:rPr lang="en-US" sz="1400" i="1" dirty="0">
                <a:solidFill>
                  <a:schemeClr val="tx1"/>
                </a:solidFill>
              </a:rPr>
              <a:t>“the staff were unfriendly”</a:t>
            </a:r>
            <a:endParaRPr lang="en-US" sz="1400" dirty="0"/>
          </a:p>
        </p:txBody>
      </p:sp>
      <p:sp>
        <p:nvSpPr>
          <p:cNvPr id="24" name="Text 22"/>
          <p:cNvSpPr txBox="1"/>
          <p:nvPr/>
        </p:nvSpPr>
        <p:spPr>
          <a:xfrm>
            <a:off x="6446520" y="4343400"/>
            <a:ext cx="4937760" cy="365760"/>
          </a:xfrm>
          <a:prstGeom prst="rect">
            <a:avLst/>
          </a:prstGeom>
          <a:noFill/>
          <a:ln/>
        </p:spPr>
        <p:txBody>
          <a:bodyPr wrap="square" lIns="0" tIns="0" rIns="0" bIns="0" rtlCol="0" anchor="t"/>
          <a:lstStyle/>
          <a:p>
            <a:pPr marL="0" indent="0">
              <a:buNone/>
            </a:pPr>
            <a:r>
              <a:rPr lang="en-US" sz="1400" dirty="0">
                <a:solidFill>
                  <a:schemeClr val="accent5"/>
                </a:solidFill>
              </a:rPr>
              <a:t>Sentiment classifier is applied to each local context.</a:t>
            </a:r>
            <a:endParaRPr lang="en-US" sz="1400" dirty="0"/>
          </a:p>
        </p:txBody>
      </p:sp>
      <p:sp>
        <p:nvSpPr>
          <p:cNvPr id="25" name="Shape 23"/>
          <p:cNvSpPr/>
          <p:nvPr/>
        </p:nvSpPr>
        <p:spPr>
          <a:xfrm>
            <a:off x="548640" y="5029200"/>
            <a:ext cx="11064240" cy="1188720"/>
          </a:xfrm>
          <a:prstGeom prst="roundRect">
            <a:avLst>
              <a:gd name="adj" fmla="val 6154"/>
            </a:avLst>
          </a:prstGeom>
          <a:solidFill>
            <a:srgbClr val="FDF0DA"/>
          </a:solidFill>
          <a:ln w="12700">
            <a:solidFill>
              <a:srgbClr val="FDF0DA"/>
            </a:solidFill>
            <a:prstDash val="solid"/>
          </a:ln>
        </p:spPr>
      </p:sp>
      <p:sp>
        <p:nvSpPr>
          <p:cNvPr id="26" name="Shape 24"/>
          <p:cNvSpPr/>
          <p:nvPr/>
        </p:nvSpPr>
        <p:spPr>
          <a:xfrm>
            <a:off x="822960" y="5376672"/>
            <a:ext cx="502920" cy="502920"/>
          </a:xfrm>
          <a:prstGeom prst="ellipse">
            <a:avLst/>
          </a:prstGeom>
          <a:solidFill>
            <a:srgbClr val="F2A33A"/>
          </a:solidFill>
          <a:ln w="12700">
            <a:solidFill>
              <a:srgbClr val="F2A33A"/>
            </a:solidFill>
            <a:prstDash val="solid"/>
          </a:ln>
        </p:spPr>
      </p:sp>
      <p:pic>
        <p:nvPicPr>
          <p:cNvPr id="27" name="Image 0" descr="FaExclamationTriangle"/>
          <p:cNvPicPr>
            <a:picLocks noChangeAspect="1"/>
          </p:cNvPicPr>
          <p:nvPr/>
        </p:nvPicPr>
        <p:blipFill>
          <a:blip r:embed="rId3"/>
          <a:stretch>
            <a:fillRect/>
          </a:stretch>
        </p:blipFill>
        <p:spPr>
          <a:xfrm>
            <a:off x="948690" y="5502402"/>
            <a:ext cx="251460" cy="251460"/>
          </a:xfrm>
          <a:prstGeom prst="rect">
            <a:avLst/>
          </a:prstGeom>
        </p:spPr>
      </p:pic>
      <p:sp>
        <p:nvSpPr>
          <p:cNvPr id="28" name="Text 25"/>
          <p:cNvSpPr txBox="1"/>
          <p:nvPr/>
        </p:nvSpPr>
        <p:spPr>
          <a:xfrm>
            <a:off x="1600200" y="5029200"/>
            <a:ext cx="9784080" cy="1188720"/>
          </a:xfrm>
          <a:prstGeom prst="rect">
            <a:avLst/>
          </a:prstGeom>
          <a:noFill/>
          <a:ln/>
        </p:spPr>
        <p:txBody>
          <a:bodyPr wrap="square" lIns="0" tIns="0" rIns="0" bIns="0" rtlCol="0" anchor="ctr"/>
          <a:lstStyle/>
          <a:p>
            <a:pPr marL="0" indent="0">
              <a:buNone/>
            </a:pPr>
            <a:r>
              <a:rPr lang="en-US" sz="1700" b="1" dirty="0">
                <a:solidFill>
                  <a:schemeClr val="tx2"/>
                </a:solidFill>
              </a:rPr>
              <a:t>The dataset provides sentence-level sentiment labels. </a:t>
            </a:r>
            <a:r>
              <a:rPr lang="en-US" sz="1700" dirty="0">
                <a:solidFill>
                  <a:schemeClr val="tx2"/>
                </a:solidFill>
              </a:rPr>
              <a:t>Aspect-level sentiment is therefore INFERRED from local context, not learned from gold aspect-specific sentiment labels.</a:t>
            </a:r>
            <a:endParaRPr lang="en-US" sz="1700" dirty="0"/>
          </a:p>
        </p:txBody>
      </p:sp>
      <p:sp>
        <p:nvSpPr>
          <p:cNvPr id="29"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7480"/>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Final ABSA Demonstration</a:t>
            </a:r>
            <a:endParaRPr lang="en-US" sz="3400" dirty="0"/>
          </a:p>
        </p:txBody>
      </p:sp>
      <p:sp>
        <p:nvSpPr>
          <p:cNvPr id="3" name="Shape 1"/>
          <p:cNvSpPr/>
          <p:nvPr/>
        </p:nvSpPr>
        <p:spPr>
          <a:xfrm>
            <a:off x="548640" y="1371600"/>
            <a:ext cx="11064240" cy="1188720"/>
          </a:xfrm>
          <a:prstGeom prst="roundRect">
            <a:avLst>
              <a:gd name="adj" fmla="val 6154"/>
            </a:avLst>
          </a:prstGeom>
          <a:solidFill>
            <a:schemeClr val="bg2"/>
          </a:solidFill>
          <a:ln w="12700">
            <a:solidFill>
              <a:schemeClr val="bg2"/>
            </a:solidFill>
            <a:prstDash val="solid"/>
          </a:ln>
        </p:spPr>
      </p:sp>
      <p:sp>
        <p:nvSpPr>
          <p:cNvPr id="4" name="Text 2"/>
          <p:cNvSpPr txBox="1"/>
          <p:nvPr/>
        </p:nvSpPr>
        <p:spPr>
          <a:xfrm>
            <a:off x="822960" y="1371600"/>
            <a:ext cx="10515600" cy="1188720"/>
          </a:xfrm>
          <a:prstGeom prst="rect">
            <a:avLst/>
          </a:prstGeom>
          <a:noFill/>
          <a:ln/>
        </p:spPr>
        <p:txBody>
          <a:bodyPr wrap="square" lIns="0" tIns="0" rIns="0" bIns="0" rtlCol="0" anchor="ctr"/>
          <a:lstStyle/>
          <a:p>
            <a:pPr marL="0" indent="0" algn="ctr">
              <a:buNone/>
            </a:pPr>
            <a:r>
              <a:rPr lang="en-US" sz="2600" b="1" i="1" dirty="0">
                <a:solidFill>
                  <a:schemeClr val="accent3"/>
                </a:solidFill>
              </a:rPr>
              <a:t>“The room was clean and comfortable,</a:t>
            </a:r>
            <a:r>
              <a:rPr lang="en-US" sz="2600" b="1" i="1" dirty="0">
                <a:solidFill>
                  <a:schemeClr val="accent4"/>
                </a:solidFill>
              </a:rPr>
              <a:t> but the staff were unfriendly.”</a:t>
            </a:r>
            <a:endParaRPr lang="en-US" sz="2600" dirty="0"/>
          </a:p>
        </p:txBody>
      </p:sp>
      <p:sp>
        <p:nvSpPr>
          <p:cNvPr id="5" name="Text 3"/>
          <p:cNvSpPr txBox="1"/>
          <p:nvPr/>
        </p:nvSpPr>
        <p:spPr>
          <a:xfrm>
            <a:off x="548640" y="2834640"/>
            <a:ext cx="7315200" cy="365760"/>
          </a:xfrm>
          <a:prstGeom prst="rect">
            <a:avLst/>
          </a:prstGeom>
          <a:noFill/>
          <a:ln/>
        </p:spPr>
        <p:txBody>
          <a:bodyPr wrap="square" lIns="0" tIns="0" rIns="0" bIns="0" rtlCol="0" anchor="t"/>
          <a:lstStyle/>
          <a:p>
            <a:pPr marL="0" indent="0">
              <a:buNone/>
            </a:pPr>
            <a:r>
              <a:rPr lang="en-US" sz="1600" b="1" dirty="0">
                <a:solidFill>
                  <a:schemeClr val="accent5"/>
                </a:solidFill>
              </a:rPr>
              <a:t>Detected aspects and inferred sentiment</a:t>
            </a:r>
            <a:endParaRPr lang="en-US" sz="1600" dirty="0"/>
          </a:p>
        </p:txBody>
      </p:sp>
      <p:sp>
        <p:nvSpPr>
          <p:cNvPr id="6" name="Shape 4"/>
          <p:cNvSpPr/>
          <p:nvPr/>
        </p:nvSpPr>
        <p:spPr>
          <a:xfrm>
            <a:off x="548640" y="3291840"/>
            <a:ext cx="2423160" cy="1828800"/>
          </a:xfrm>
          <a:prstGeom prst="roundRect">
            <a:avLst>
              <a:gd name="adj" fmla="val 4000"/>
            </a:avLst>
          </a:prstGeom>
          <a:solidFill>
            <a:schemeClr val="bg2"/>
          </a:solidFill>
          <a:ln w="12700">
            <a:solidFill>
              <a:schemeClr val="bg2"/>
            </a:solidFill>
            <a:prstDash val="solid"/>
          </a:ln>
        </p:spPr>
      </p:sp>
      <p:sp>
        <p:nvSpPr>
          <p:cNvPr id="7" name="Shape 5"/>
          <p:cNvSpPr/>
          <p:nvPr/>
        </p:nvSpPr>
        <p:spPr>
          <a:xfrm>
            <a:off x="731520" y="3474720"/>
            <a:ext cx="594360" cy="594360"/>
          </a:xfrm>
          <a:prstGeom prst="ellipse">
            <a:avLst/>
          </a:prstGeom>
          <a:solidFill>
            <a:srgbClr val="238A5E"/>
          </a:solidFill>
          <a:ln w="12700">
            <a:solidFill>
              <a:srgbClr val="238A5E"/>
            </a:solidFill>
            <a:prstDash val="solid"/>
          </a:ln>
        </p:spPr>
      </p:sp>
      <p:pic>
        <p:nvPicPr>
          <p:cNvPr id="8" name="Image 0" descr="FaBroom"/>
          <p:cNvPicPr>
            <a:picLocks noChangeAspect="1"/>
          </p:cNvPicPr>
          <p:nvPr/>
        </p:nvPicPr>
        <p:blipFill>
          <a:blip r:embed="rId3"/>
          <a:stretch>
            <a:fillRect/>
          </a:stretch>
        </p:blipFill>
        <p:spPr>
          <a:xfrm>
            <a:off x="880110" y="3623310"/>
            <a:ext cx="297180" cy="297180"/>
          </a:xfrm>
          <a:prstGeom prst="rect">
            <a:avLst/>
          </a:prstGeom>
        </p:spPr>
      </p:pic>
      <p:sp>
        <p:nvSpPr>
          <p:cNvPr id="9" name="Text 6"/>
          <p:cNvSpPr txBox="1"/>
          <p:nvPr/>
        </p:nvSpPr>
        <p:spPr>
          <a:xfrm>
            <a:off x="1463040" y="3474720"/>
            <a:ext cx="1417320" cy="594360"/>
          </a:xfrm>
          <a:prstGeom prst="rect">
            <a:avLst/>
          </a:prstGeom>
          <a:noFill/>
          <a:ln/>
        </p:spPr>
        <p:txBody>
          <a:bodyPr wrap="square" lIns="0" tIns="0" rIns="0" bIns="0" rtlCol="0" anchor="ctr"/>
          <a:lstStyle/>
          <a:p>
            <a:pPr marL="0" indent="0">
              <a:buNone/>
            </a:pPr>
            <a:r>
              <a:rPr lang="en-US" sz="2000" b="1" dirty="0">
                <a:solidFill>
                  <a:schemeClr val="tx2"/>
                </a:solidFill>
              </a:rPr>
              <a:t>Clean</a:t>
            </a:r>
            <a:endParaRPr lang="en-US" sz="2000" dirty="0"/>
          </a:p>
        </p:txBody>
      </p:sp>
      <p:sp>
        <p:nvSpPr>
          <p:cNvPr id="10" name="Shape 7"/>
          <p:cNvSpPr/>
          <p:nvPr/>
        </p:nvSpPr>
        <p:spPr>
          <a:xfrm>
            <a:off x="731520" y="4343400"/>
            <a:ext cx="2057400" cy="502920"/>
          </a:xfrm>
          <a:prstGeom prst="roundRect">
            <a:avLst>
              <a:gd name="adj" fmla="val 90909"/>
            </a:avLst>
          </a:prstGeom>
          <a:solidFill>
            <a:srgbClr val="238A5E"/>
          </a:solidFill>
          <a:ln w="12700">
            <a:solidFill>
              <a:srgbClr val="238A5E"/>
            </a:solidFill>
            <a:prstDash val="solid"/>
          </a:ln>
        </p:spPr>
      </p:sp>
      <p:sp>
        <p:nvSpPr>
          <p:cNvPr id="11" name="Text 8"/>
          <p:cNvSpPr txBox="1"/>
          <p:nvPr/>
        </p:nvSpPr>
        <p:spPr>
          <a:xfrm>
            <a:off x="731520" y="4343400"/>
            <a:ext cx="2057400" cy="502920"/>
          </a:xfrm>
          <a:prstGeom prst="rect">
            <a:avLst/>
          </a:prstGeom>
          <a:noFill/>
          <a:ln/>
        </p:spPr>
        <p:txBody>
          <a:bodyPr wrap="square" lIns="0" tIns="0" rIns="0" bIns="0" rtlCol="0" anchor="ctr"/>
          <a:lstStyle/>
          <a:p>
            <a:pPr marL="0" indent="0" algn="ctr">
              <a:buNone/>
            </a:pPr>
            <a:r>
              <a:rPr lang="en-US" sz="1800" b="1" dirty="0">
                <a:solidFill>
                  <a:schemeClr val="bg1"/>
                </a:solidFill>
              </a:rPr>
              <a:t>Positive</a:t>
            </a:r>
            <a:endParaRPr lang="en-US" sz="1800" dirty="0"/>
          </a:p>
        </p:txBody>
      </p:sp>
      <p:sp>
        <p:nvSpPr>
          <p:cNvPr id="12" name="Shape 9"/>
          <p:cNvSpPr/>
          <p:nvPr/>
        </p:nvSpPr>
        <p:spPr>
          <a:xfrm>
            <a:off x="3429000" y="3291840"/>
            <a:ext cx="2423160" cy="1828800"/>
          </a:xfrm>
          <a:prstGeom prst="roundRect">
            <a:avLst>
              <a:gd name="adj" fmla="val 4000"/>
            </a:avLst>
          </a:prstGeom>
          <a:solidFill>
            <a:schemeClr val="bg2"/>
          </a:solidFill>
          <a:ln w="12700">
            <a:solidFill>
              <a:schemeClr val="bg2"/>
            </a:solidFill>
            <a:prstDash val="solid"/>
          </a:ln>
        </p:spPr>
      </p:sp>
      <p:sp>
        <p:nvSpPr>
          <p:cNvPr id="13" name="Shape 10"/>
          <p:cNvSpPr/>
          <p:nvPr/>
        </p:nvSpPr>
        <p:spPr>
          <a:xfrm>
            <a:off x="3611880" y="3474720"/>
            <a:ext cx="594360" cy="594360"/>
          </a:xfrm>
          <a:prstGeom prst="ellipse">
            <a:avLst/>
          </a:prstGeom>
          <a:solidFill>
            <a:srgbClr val="238A5E"/>
          </a:solidFill>
          <a:ln w="12700">
            <a:solidFill>
              <a:srgbClr val="238A5E"/>
            </a:solidFill>
            <a:prstDash val="solid"/>
          </a:ln>
        </p:spPr>
      </p:sp>
      <p:pic>
        <p:nvPicPr>
          <p:cNvPr id="14" name="Image 1" descr="FaCouch"/>
          <p:cNvPicPr>
            <a:picLocks noChangeAspect="1"/>
          </p:cNvPicPr>
          <p:nvPr/>
        </p:nvPicPr>
        <p:blipFill>
          <a:blip r:embed="rId4"/>
          <a:stretch>
            <a:fillRect/>
          </a:stretch>
        </p:blipFill>
        <p:spPr>
          <a:xfrm>
            <a:off x="3760470" y="3623310"/>
            <a:ext cx="297180" cy="297180"/>
          </a:xfrm>
          <a:prstGeom prst="rect">
            <a:avLst/>
          </a:prstGeom>
        </p:spPr>
      </p:pic>
      <p:sp>
        <p:nvSpPr>
          <p:cNvPr id="15" name="Text 11"/>
          <p:cNvSpPr txBox="1"/>
          <p:nvPr/>
        </p:nvSpPr>
        <p:spPr>
          <a:xfrm>
            <a:off x="4343400" y="3474720"/>
            <a:ext cx="1417320" cy="594360"/>
          </a:xfrm>
          <a:prstGeom prst="rect">
            <a:avLst/>
          </a:prstGeom>
          <a:noFill/>
          <a:ln/>
        </p:spPr>
        <p:txBody>
          <a:bodyPr wrap="square" lIns="0" tIns="0" rIns="0" bIns="0" rtlCol="0" anchor="ctr"/>
          <a:lstStyle/>
          <a:p>
            <a:pPr marL="0" indent="0">
              <a:buNone/>
            </a:pPr>
            <a:r>
              <a:rPr lang="en-US" sz="2000" b="1" dirty="0">
                <a:solidFill>
                  <a:schemeClr val="tx2"/>
                </a:solidFill>
              </a:rPr>
              <a:t>Comfort</a:t>
            </a:r>
            <a:endParaRPr lang="en-US" sz="2000" dirty="0"/>
          </a:p>
        </p:txBody>
      </p:sp>
      <p:sp>
        <p:nvSpPr>
          <p:cNvPr id="16" name="Shape 12"/>
          <p:cNvSpPr/>
          <p:nvPr/>
        </p:nvSpPr>
        <p:spPr>
          <a:xfrm>
            <a:off x="3611880" y="4343400"/>
            <a:ext cx="2057400" cy="502920"/>
          </a:xfrm>
          <a:prstGeom prst="roundRect">
            <a:avLst>
              <a:gd name="adj" fmla="val 90909"/>
            </a:avLst>
          </a:prstGeom>
          <a:solidFill>
            <a:srgbClr val="238A5E"/>
          </a:solidFill>
          <a:ln w="12700">
            <a:solidFill>
              <a:srgbClr val="238A5E"/>
            </a:solidFill>
            <a:prstDash val="solid"/>
          </a:ln>
        </p:spPr>
      </p:sp>
      <p:sp>
        <p:nvSpPr>
          <p:cNvPr id="17" name="Text 13"/>
          <p:cNvSpPr txBox="1"/>
          <p:nvPr/>
        </p:nvSpPr>
        <p:spPr>
          <a:xfrm>
            <a:off x="3611880" y="4343400"/>
            <a:ext cx="2057400" cy="502920"/>
          </a:xfrm>
          <a:prstGeom prst="rect">
            <a:avLst/>
          </a:prstGeom>
          <a:noFill/>
          <a:ln/>
        </p:spPr>
        <p:txBody>
          <a:bodyPr wrap="square" lIns="0" tIns="0" rIns="0" bIns="0" rtlCol="0" anchor="ctr"/>
          <a:lstStyle/>
          <a:p>
            <a:pPr marL="0" indent="0" algn="ctr">
              <a:buNone/>
            </a:pPr>
            <a:r>
              <a:rPr lang="en-US" sz="1800" b="1" dirty="0">
                <a:solidFill>
                  <a:schemeClr val="bg1"/>
                </a:solidFill>
              </a:rPr>
              <a:t>Positive</a:t>
            </a:r>
            <a:endParaRPr lang="en-US" sz="1800" dirty="0"/>
          </a:p>
        </p:txBody>
      </p:sp>
      <p:sp>
        <p:nvSpPr>
          <p:cNvPr id="18" name="Shape 14"/>
          <p:cNvSpPr/>
          <p:nvPr/>
        </p:nvSpPr>
        <p:spPr>
          <a:xfrm>
            <a:off x="6309360" y="3291840"/>
            <a:ext cx="2423160" cy="1828800"/>
          </a:xfrm>
          <a:prstGeom prst="roundRect">
            <a:avLst>
              <a:gd name="adj" fmla="val 4000"/>
            </a:avLst>
          </a:prstGeom>
          <a:solidFill>
            <a:schemeClr val="bg2"/>
          </a:solidFill>
          <a:ln w="12700">
            <a:solidFill>
              <a:schemeClr val="bg2"/>
            </a:solidFill>
            <a:prstDash val="solid"/>
          </a:ln>
        </p:spPr>
      </p:sp>
      <p:sp>
        <p:nvSpPr>
          <p:cNvPr id="19" name="Shape 15"/>
          <p:cNvSpPr/>
          <p:nvPr/>
        </p:nvSpPr>
        <p:spPr>
          <a:xfrm>
            <a:off x="6492240" y="3474720"/>
            <a:ext cx="594360" cy="594360"/>
          </a:xfrm>
          <a:prstGeom prst="ellipse">
            <a:avLst/>
          </a:prstGeom>
          <a:solidFill>
            <a:srgbClr val="238A5E"/>
          </a:solidFill>
          <a:ln w="12700">
            <a:solidFill>
              <a:srgbClr val="238A5E"/>
            </a:solidFill>
            <a:prstDash val="solid"/>
          </a:ln>
        </p:spPr>
      </p:sp>
      <p:pic>
        <p:nvPicPr>
          <p:cNvPr id="20" name="Image 2" descr="FaBed"/>
          <p:cNvPicPr>
            <a:picLocks noChangeAspect="1"/>
          </p:cNvPicPr>
          <p:nvPr/>
        </p:nvPicPr>
        <p:blipFill>
          <a:blip r:embed="rId5"/>
          <a:stretch>
            <a:fillRect/>
          </a:stretch>
        </p:blipFill>
        <p:spPr>
          <a:xfrm>
            <a:off x="6640830" y="3623310"/>
            <a:ext cx="297180" cy="297180"/>
          </a:xfrm>
          <a:prstGeom prst="rect">
            <a:avLst/>
          </a:prstGeom>
        </p:spPr>
      </p:pic>
      <p:sp>
        <p:nvSpPr>
          <p:cNvPr id="21" name="Text 16"/>
          <p:cNvSpPr txBox="1"/>
          <p:nvPr/>
        </p:nvSpPr>
        <p:spPr>
          <a:xfrm>
            <a:off x="7223760" y="3474720"/>
            <a:ext cx="1417320" cy="594360"/>
          </a:xfrm>
          <a:prstGeom prst="rect">
            <a:avLst/>
          </a:prstGeom>
          <a:noFill/>
          <a:ln/>
        </p:spPr>
        <p:txBody>
          <a:bodyPr wrap="square" lIns="0" tIns="0" rIns="0" bIns="0" rtlCol="0" anchor="ctr"/>
          <a:lstStyle/>
          <a:p>
            <a:pPr marL="0" indent="0">
              <a:buNone/>
            </a:pPr>
            <a:r>
              <a:rPr lang="en-US" sz="2000" b="1" dirty="0">
                <a:solidFill>
                  <a:schemeClr val="tx2"/>
                </a:solidFill>
              </a:rPr>
              <a:t>Room</a:t>
            </a:r>
            <a:endParaRPr lang="en-US" sz="2000" dirty="0"/>
          </a:p>
        </p:txBody>
      </p:sp>
      <p:sp>
        <p:nvSpPr>
          <p:cNvPr id="22" name="Shape 17"/>
          <p:cNvSpPr/>
          <p:nvPr/>
        </p:nvSpPr>
        <p:spPr>
          <a:xfrm>
            <a:off x="6492240" y="4343400"/>
            <a:ext cx="2057400" cy="502920"/>
          </a:xfrm>
          <a:prstGeom prst="roundRect">
            <a:avLst>
              <a:gd name="adj" fmla="val 90909"/>
            </a:avLst>
          </a:prstGeom>
          <a:solidFill>
            <a:srgbClr val="238A5E"/>
          </a:solidFill>
          <a:ln w="12700">
            <a:solidFill>
              <a:srgbClr val="238A5E"/>
            </a:solidFill>
            <a:prstDash val="solid"/>
          </a:ln>
        </p:spPr>
      </p:sp>
      <p:sp>
        <p:nvSpPr>
          <p:cNvPr id="23" name="Text 18"/>
          <p:cNvSpPr txBox="1"/>
          <p:nvPr/>
        </p:nvSpPr>
        <p:spPr>
          <a:xfrm>
            <a:off x="6492240" y="4343400"/>
            <a:ext cx="2057400" cy="502920"/>
          </a:xfrm>
          <a:prstGeom prst="rect">
            <a:avLst/>
          </a:prstGeom>
          <a:noFill/>
          <a:ln/>
        </p:spPr>
        <p:txBody>
          <a:bodyPr wrap="square" lIns="0" tIns="0" rIns="0" bIns="0" rtlCol="0" anchor="ctr"/>
          <a:lstStyle/>
          <a:p>
            <a:pPr marL="0" indent="0" algn="ctr">
              <a:buNone/>
            </a:pPr>
            <a:r>
              <a:rPr lang="en-US" sz="1800" b="1" dirty="0">
                <a:solidFill>
                  <a:schemeClr val="bg1"/>
                </a:solidFill>
              </a:rPr>
              <a:t>Positive</a:t>
            </a:r>
            <a:endParaRPr lang="en-US" sz="1800" dirty="0"/>
          </a:p>
        </p:txBody>
      </p:sp>
      <p:sp>
        <p:nvSpPr>
          <p:cNvPr id="24" name="Shape 19"/>
          <p:cNvSpPr/>
          <p:nvPr/>
        </p:nvSpPr>
        <p:spPr>
          <a:xfrm>
            <a:off x="9189720" y="3291840"/>
            <a:ext cx="2423160" cy="1828800"/>
          </a:xfrm>
          <a:prstGeom prst="roundRect">
            <a:avLst>
              <a:gd name="adj" fmla="val 4000"/>
            </a:avLst>
          </a:prstGeom>
          <a:solidFill>
            <a:schemeClr val="bg2"/>
          </a:solidFill>
          <a:ln w="12700">
            <a:solidFill>
              <a:schemeClr val="bg2"/>
            </a:solidFill>
            <a:prstDash val="solid"/>
          </a:ln>
        </p:spPr>
      </p:sp>
      <p:sp>
        <p:nvSpPr>
          <p:cNvPr id="25" name="Shape 20"/>
          <p:cNvSpPr/>
          <p:nvPr/>
        </p:nvSpPr>
        <p:spPr>
          <a:xfrm>
            <a:off x="9372600" y="3474720"/>
            <a:ext cx="594360" cy="594360"/>
          </a:xfrm>
          <a:prstGeom prst="ellipse">
            <a:avLst/>
          </a:prstGeom>
          <a:solidFill>
            <a:srgbClr val="C23B3B"/>
          </a:solidFill>
          <a:ln w="12700">
            <a:solidFill>
              <a:srgbClr val="C23B3B"/>
            </a:solidFill>
            <a:prstDash val="solid"/>
          </a:ln>
        </p:spPr>
      </p:sp>
      <p:pic>
        <p:nvPicPr>
          <p:cNvPr id="26" name="Image 3" descr="FaUserTie"/>
          <p:cNvPicPr>
            <a:picLocks noChangeAspect="1"/>
          </p:cNvPicPr>
          <p:nvPr/>
        </p:nvPicPr>
        <p:blipFill>
          <a:blip r:embed="rId6"/>
          <a:stretch>
            <a:fillRect/>
          </a:stretch>
        </p:blipFill>
        <p:spPr>
          <a:xfrm>
            <a:off x="9521190" y="3623310"/>
            <a:ext cx="297180" cy="297180"/>
          </a:xfrm>
          <a:prstGeom prst="rect">
            <a:avLst/>
          </a:prstGeom>
        </p:spPr>
      </p:pic>
      <p:sp>
        <p:nvSpPr>
          <p:cNvPr id="27" name="Text 21"/>
          <p:cNvSpPr txBox="1"/>
          <p:nvPr/>
        </p:nvSpPr>
        <p:spPr>
          <a:xfrm>
            <a:off x="10104120" y="3474720"/>
            <a:ext cx="1417320" cy="594360"/>
          </a:xfrm>
          <a:prstGeom prst="rect">
            <a:avLst/>
          </a:prstGeom>
          <a:noFill/>
          <a:ln/>
        </p:spPr>
        <p:txBody>
          <a:bodyPr wrap="square" lIns="0" tIns="0" rIns="0" bIns="0" rtlCol="0" anchor="ctr"/>
          <a:lstStyle/>
          <a:p>
            <a:pPr marL="0" indent="0">
              <a:buNone/>
            </a:pPr>
            <a:r>
              <a:rPr lang="en-US" sz="2000" b="1" dirty="0">
                <a:solidFill>
                  <a:schemeClr val="tx2"/>
                </a:solidFill>
              </a:rPr>
              <a:t>Staff</a:t>
            </a:r>
            <a:endParaRPr lang="en-US" sz="2000" dirty="0"/>
          </a:p>
        </p:txBody>
      </p:sp>
      <p:sp>
        <p:nvSpPr>
          <p:cNvPr id="28" name="Shape 22"/>
          <p:cNvSpPr/>
          <p:nvPr/>
        </p:nvSpPr>
        <p:spPr>
          <a:xfrm>
            <a:off x="9372600" y="4343400"/>
            <a:ext cx="2057400" cy="502920"/>
          </a:xfrm>
          <a:prstGeom prst="roundRect">
            <a:avLst>
              <a:gd name="adj" fmla="val 90909"/>
            </a:avLst>
          </a:prstGeom>
          <a:solidFill>
            <a:srgbClr val="C23B3B"/>
          </a:solidFill>
          <a:ln w="12700">
            <a:solidFill>
              <a:srgbClr val="C23B3B"/>
            </a:solidFill>
            <a:prstDash val="solid"/>
          </a:ln>
        </p:spPr>
      </p:sp>
      <p:sp>
        <p:nvSpPr>
          <p:cNvPr id="29" name="Text 23"/>
          <p:cNvSpPr txBox="1"/>
          <p:nvPr/>
        </p:nvSpPr>
        <p:spPr>
          <a:xfrm>
            <a:off x="9372600" y="4343400"/>
            <a:ext cx="2057400" cy="502920"/>
          </a:xfrm>
          <a:prstGeom prst="rect">
            <a:avLst/>
          </a:prstGeom>
          <a:noFill/>
          <a:ln/>
        </p:spPr>
        <p:txBody>
          <a:bodyPr wrap="square" lIns="0" tIns="0" rIns="0" bIns="0" rtlCol="0" anchor="ctr"/>
          <a:lstStyle/>
          <a:p>
            <a:pPr marL="0" indent="0" algn="ctr">
              <a:buNone/>
            </a:pPr>
            <a:r>
              <a:rPr lang="en-US" sz="1800" b="1" dirty="0">
                <a:solidFill>
                  <a:schemeClr val="bg1"/>
                </a:solidFill>
              </a:rPr>
              <a:t>Negative</a:t>
            </a:r>
            <a:endParaRPr lang="en-US" sz="1800" dirty="0"/>
          </a:p>
        </p:txBody>
      </p:sp>
      <p:sp>
        <p:nvSpPr>
          <p:cNvPr id="30" name="Shape 24"/>
          <p:cNvSpPr/>
          <p:nvPr/>
        </p:nvSpPr>
        <p:spPr>
          <a:xfrm>
            <a:off x="548640" y="5486400"/>
            <a:ext cx="1920240" cy="457200"/>
          </a:xfrm>
          <a:prstGeom prst="roundRect">
            <a:avLst>
              <a:gd name="adj" fmla="val 100000"/>
            </a:avLst>
          </a:prstGeom>
          <a:solidFill>
            <a:srgbClr val="0B3C49"/>
          </a:solidFill>
          <a:ln w="12700">
            <a:solidFill>
              <a:srgbClr val="0B3C49"/>
            </a:solidFill>
            <a:prstDash val="solid"/>
          </a:ln>
        </p:spPr>
      </p:sp>
      <p:sp>
        <p:nvSpPr>
          <p:cNvPr id="31" name="Text 25"/>
          <p:cNvSpPr txBox="1"/>
          <p:nvPr/>
        </p:nvSpPr>
        <p:spPr>
          <a:xfrm>
            <a:off x="548640" y="5486400"/>
            <a:ext cx="1920240" cy="457200"/>
          </a:xfrm>
          <a:prstGeom prst="rect">
            <a:avLst/>
          </a:prstGeom>
          <a:noFill/>
          <a:ln/>
        </p:spPr>
        <p:txBody>
          <a:bodyPr wrap="square" lIns="0" tIns="0" rIns="0" bIns="0" rtlCol="0" anchor="ctr"/>
          <a:lstStyle/>
          <a:p>
            <a:pPr marL="0" indent="0" algn="ctr">
              <a:buNone/>
            </a:pPr>
            <a:r>
              <a:rPr lang="en-US" sz="1300" b="1" dirty="0">
                <a:solidFill>
                  <a:schemeClr val="bg1"/>
                </a:solidFill>
              </a:rPr>
              <a:t>Detected aspect</a:t>
            </a:r>
            <a:endParaRPr lang="en-US" sz="1300" dirty="0"/>
          </a:p>
        </p:txBody>
      </p:sp>
      <p:sp>
        <p:nvSpPr>
          <p:cNvPr id="32" name="Shape 26"/>
          <p:cNvSpPr/>
          <p:nvPr/>
        </p:nvSpPr>
        <p:spPr>
          <a:xfrm>
            <a:off x="2496312" y="5577840"/>
            <a:ext cx="274320" cy="274320"/>
          </a:xfrm>
          <a:prstGeom prst="rightArrow">
            <a:avLst/>
          </a:prstGeom>
          <a:solidFill>
            <a:schemeClr val="accent5"/>
          </a:solidFill>
          <a:ln w="12700">
            <a:solidFill>
              <a:schemeClr val="accent5"/>
            </a:solidFill>
            <a:prstDash val="solid"/>
          </a:ln>
        </p:spPr>
      </p:sp>
      <p:sp>
        <p:nvSpPr>
          <p:cNvPr id="33" name="Shape 27"/>
          <p:cNvSpPr/>
          <p:nvPr/>
        </p:nvSpPr>
        <p:spPr>
          <a:xfrm>
            <a:off x="2834640" y="5486400"/>
            <a:ext cx="1920240" cy="457200"/>
          </a:xfrm>
          <a:prstGeom prst="roundRect">
            <a:avLst>
              <a:gd name="adj" fmla="val 100000"/>
            </a:avLst>
          </a:prstGeom>
          <a:solidFill>
            <a:srgbClr val="0B3C49"/>
          </a:solidFill>
          <a:ln w="12700">
            <a:solidFill>
              <a:srgbClr val="0B3C49"/>
            </a:solidFill>
            <a:prstDash val="solid"/>
          </a:ln>
        </p:spPr>
      </p:sp>
      <p:sp>
        <p:nvSpPr>
          <p:cNvPr id="34" name="Text 28"/>
          <p:cNvSpPr txBox="1"/>
          <p:nvPr/>
        </p:nvSpPr>
        <p:spPr>
          <a:xfrm>
            <a:off x="2834640" y="5486400"/>
            <a:ext cx="1920240" cy="457200"/>
          </a:xfrm>
          <a:prstGeom prst="rect">
            <a:avLst/>
          </a:prstGeom>
          <a:noFill/>
          <a:ln/>
        </p:spPr>
        <p:txBody>
          <a:bodyPr wrap="square" lIns="0" tIns="0" rIns="0" bIns="0" rtlCol="0" anchor="ctr"/>
          <a:lstStyle/>
          <a:p>
            <a:pPr marL="0" indent="0" algn="ctr">
              <a:buNone/>
            </a:pPr>
            <a:r>
              <a:rPr lang="en-US" sz="1300" b="1" dirty="0">
                <a:solidFill>
                  <a:schemeClr val="bg1"/>
                </a:solidFill>
              </a:rPr>
              <a:t>Local context</a:t>
            </a:r>
            <a:endParaRPr lang="en-US" sz="1300" dirty="0"/>
          </a:p>
        </p:txBody>
      </p:sp>
      <p:sp>
        <p:nvSpPr>
          <p:cNvPr id="35" name="Shape 29"/>
          <p:cNvSpPr/>
          <p:nvPr/>
        </p:nvSpPr>
        <p:spPr>
          <a:xfrm>
            <a:off x="4782312" y="5577840"/>
            <a:ext cx="274320" cy="274320"/>
          </a:xfrm>
          <a:prstGeom prst="rightArrow">
            <a:avLst/>
          </a:prstGeom>
          <a:solidFill>
            <a:schemeClr val="accent5"/>
          </a:solidFill>
          <a:ln w="12700">
            <a:solidFill>
              <a:schemeClr val="accent5"/>
            </a:solidFill>
            <a:prstDash val="solid"/>
          </a:ln>
        </p:spPr>
      </p:sp>
      <p:sp>
        <p:nvSpPr>
          <p:cNvPr id="36" name="Shape 30"/>
          <p:cNvSpPr/>
          <p:nvPr/>
        </p:nvSpPr>
        <p:spPr>
          <a:xfrm>
            <a:off x="5120640" y="5486400"/>
            <a:ext cx="1920240" cy="457200"/>
          </a:xfrm>
          <a:prstGeom prst="roundRect">
            <a:avLst>
              <a:gd name="adj" fmla="val 100000"/>
            </a:avLst>
          </a:prstGeom>
          <a:solidFill>
            <a:srgbClr val="0B3C49"/>
          </a:solidFill>
          <a:ln w="12700">
            <a:solidFill>
              <a:srgbClr val="0B3C49"/>
            </a:solidFill>
            <a:prstDash val="solid"/>
          </a:ln>
        </p:spPr>
      </p:sp>
      <p:sp>
        <p:nvSpPr>
          <p:cNvPr id="37" name="Text 31"/>
          <p:cNvSpPr txBox="1"/>
          <p:nvPr/>
        </p:nvSpPr>
        <p:spPr>
          <a:xfrm>
            <a:off x="5120640" y="5486400"/>
            <a:ext cx="1920240" cy="457200"/>
          </a:xfrm>
          <a:prstGeom prst="rect">
            <a:avLst/>
          </a:prstGeom>
          <a:noFill/>
          <a:ln/>
        </p:spPr>
        <p:txBody>
          <a:bodyPr wrap="square" lIns="0" tIns="0" rIns="0" bIns="0" rtlCol="0" anchor="ctr"/>
          <a:lstStyle/>
          <a:p>
            <a:pPr marL="0" indent="0" algn="ctr">
              <a:buNone/>
            </a:pPr>
            <a:r>
              <a:rPr lang="en-US" sz="1300" b="1" dirty="0">
                <a:solidFill>
                  <a:schemeClr val="bg1"/>
                </a:solidFill>
              </a:rPr>
              <a:t>TF-IDF</a:t>
            </a:r>
            <a:endParaRPr lang="en-US" sz="1300" dirty="0"/>
          </a:p>
        </p:txBody>
      </p:sp>
      <p:sp>
        <p:nvSpPr>
          <p:cNvPr id="38" name="Shape 32"/>
          <p:cNvSpPr/>
          <p:nvPr/>
        </p:nvSpPr>
        <p:spPr>
          <a:xfrm>
            <a:off x="7068312" y="5577840"/>
            <a:ext cx="274320" cy="274320"/>
          </a:xfrm>
          <a:prstGeom prst="rightArrow">
            <a:avLst/>
          </a:prstGeom>
          <a:solidFill>
            <a:schemeClr val="accent5"/>
          </a:solidFill>
          <a:ln w="12700">
            <a:solidFill>
              <a:schemeClr val="accent5"/>
            </a:solidFill>
            <a:prstDash val="solid"/>
          </a:ln>
        </p:spPr>
      </p:sp>
      <p:sp>
        <p:nvSpPr>
          <p:cNvPr id="39" name="Shape 33"/>
          <p:cNvSpPr/>
          <p:nvPr/>
        </p:nvSpPr>
        <p:spPr>
          <a:xfrm>
            <a:off x="7406640" y="5486400"/>
            <a:ext cx="1920240" cy="457200"/>
          </a:xfrm>
          <a:prstGeom prst="roundRect">
            <a:avLst>
              <a:gd name="adj" fmla="val 100000"/>
            </a:avLst>
          </a:prstGeom>
          <a:solidFill>
            <a:srgbClr val="0B7A75"/>
          </a:solidFill>
          <a:ln w="12700">
            <a:solidFill>
              <a:srgbClr val="0B7A75"/>
            </a:solidFill>
            <a:prstDash val="solid"/>
          </a:ln>
        </p:spPr>
      </p:sp>
      <p:sp>
        <p:nvSpPr>
          <p:cNvPr id="40" name="Text 34"/>
          <p:cNvSpPr txBox="1"/>
          <p:nvPr/>
        </p:nvSpPr>
        <p:spPr>
          <a:xfrm>
            <a:off x="7406640" y="5486400"/>
            <a:ext cx="1920240" cy="457200"/>
          </a:xfrm>
          <a:prstGeom prst="rect">
            <a:avLst/>
          </a:prstGeom>
          <a:noFill/>
          <a:ln/>
        </p:spPr>
        <p:txBody>
          <a:bodyPr wrap="square" lIns="0" tIns="0" rIns="0" bIns="0" rtlCol="0" anchor="ctr"/>
          <a:lstStyle/>
          <a:p>
            <a:pPr marL="0" indent="0" algn="ctr">
              <a:buNone/>
            </a:pPr>
            <a:r>
              <a:rPr lang="en-US" sz="1300" b="1" dirty="0">
                <a:solidFill>
                  <a:schemeClr val="bg1"/>
                </a:solidFill>
              </a:rPr>
              <a:t>Logistic Regression</a:t>
            </a:r>
            <a:endParaRPr lang="en-US" sz="1300" dirty="0"/>
          </a:p>
        </p:txBody>
      </p:sp>
      <p:sp>
        <p:nvSpPr>
          <p:cNvPr id="41" name="Shape 35"/>
          <p:cNvSpPr/>
          <p:nvPr/>
        </p:nvSpPr>
        <p:spPr>
          <a:xfrm>
            <a:off x="9354312" y="5577840"/>
            <a:ext cx="274320" cy="274320"/>
          </a:xfrm>
          <a:prstGeom prst="rightArrow">
            <a:avLst/>
          </a:prstGeom>
          <a:solidFill>
            <a:schemeClr val="accent5"/>
          </a:solidFill>
          <a:ln w="12700">
            <a:solidFill>
              <a:schemeClr val="accent5"/>
            </a:solidFill>
            <a:prstDash val="solid"/>
          </a:ln>
        </p:spPr>
      </p:sp>
      <p:sp>
        <p:nvSpPr>
          <p:cNvPr id="42" name="Shape 36"/>
          <p:cNvSpPr/>
          <p:nvPr/>
        </p:nvSpPr>
        <p:spPr>
          <a:xfrm>
            <a:off x="9692640" y="5486400"/>
            <a:ext cx="1920240" cy="457200"/>
          </a:xfrm>
          <a:prstGeom prst="roundRect">
            <a:avLst>
              <a:gd name="adj" fmla="val 100000"/>
            </a:avLst>
          </a:prstGeom>
          <a:solidFill>
            <a:srgbClr val="0B3C49"/>
          </a:solidFill>
          <a:ln w="12700">
            <a:solidFill>
              <a:srgbClr val="0B3C49"/>
            </a:solidFill>
            <a:prstDash val="solid"/>
          </a:ln>
        </p:spPr>
      </p:sp>
      <p:sp>
        <p:nvSpPr>
          <p:cNvPr id="43" name="Text 37"/>
          <p:cNvSpPr txBox="1"/>
          <p:nvPr/>
        </p:nvSpPr>
        <p:spPr>
          <a:xfrm>
            <a:off x="9692640" y="5486400"/>
            <a:ext cx="1920240" cy="457200"/>
          </a:xfrm>
          <a:prstGeom prst="rect">
            <a:avLst/>
          </a:prstGeom>
          <a:noFill/>
          <a:ln/>
        </p:spPr>
        <p:txBody>
          <a:bodyPr wrap="square" lIns="0" tIns="0" rIns="0" bIns="0" rtlCol="0" anchor="ctr"/>
          <a:lstStyle/>
          <a:p>
            <a:pPr marL="0" indent="0" algn="ctr">
              <a:buNone/>
            </a:pPr>
            <a:r>
              <a:rPr lang="en-US" sz="1300" b="1" dirty="0">
                <a:solidFill>
                  <a:schemeClr val="bg1"/>
                </a:solidFill>
              </a:rPr>
              <a:t>Pos / Neg / Neutral</a:t>
            </a:r>
            <a:endParaRPr lang="en-US" sz="1300" dirty="0"/>
          </a:p>
        </p:txBody>
      </p:sp>
      <p:sp>
        <p:nvSpPr>
          <p:cNvPr id="44"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7480"/>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Results &amp; Discussion</a:t>
            </a:r>
            <a:endParaRPr lang="en-US" sz="3400" dirty="0"/>
          </a:p>
        </p:txBody>
      </p:sp>
      <p:sp>
        <p:nvSpPr>
          <p:cNvPr id="3" name="Shape 1"/>
          <p:cNvSpPr/>
          <p:nvPr/>
        </p:nvSpPr>
        <p:spPr>
          <a:xfrm>
            <a:off x="548640" y="1371600"/>
            <a:ext cx="5760720" cy="3749040"/>
          </a:xfrm>
          <a:prstGeom prst="roundRect">
            <a:avLst>
              <a:gd name="adj" fmla="val 1951"/>
            </a:avLst>
          </a:prstGeom>
          <a:solidFill>
            <a:schemeClr val="bg2"/>
          </a:solidFill>
          <a:ln w="12700">
            <a:solidFill>
              <a:schemeClr val="bg2"/>
            </a:solidFill>
            <a:prstDash val="solid"/>
          </a:ln>
        </p:spPr>
      </p:sp>
      <p:sp>
        <p:nvSpPr>
          <p:cNvPr id="4" name="Text 2"/>
          <p:cNvSpPr txBox="1"/>
          <p:nvPr/>
        </p:nvSpPr>
        <p:spPr>
          <a:xfrm>
            <a:off x="777240" y="1481328"/>
            <a:ext cx="5303520" cy="365760"/>
          </a:xfrm>
          <a:prstGeom prst="rect">
            <a:avLst/>
          </a:prstGeom>
          <a:noFill/>
          <a:ln/>
        </p:spPr>
        <p:txBody>
          <a:bodyPr wrap="square" lIns="0" tIns="0" rIns="0" bIns="0" rtlCol="0" anchor="t"/>
          <a:lstStyle/>
          <a:p>
            <a:pPr marL="0" indent="0">
              <a:buNone/>
            </a:pPr>
            <a:r>
              <a:rPr lang="en-US" sz="1600" b="1" dirty="0">
                <a:solidFill>
                  <a:schemeClr val="tx2"/>
                </a:solidFill>
              </a:rPr>
              <a:t>Sentiment performance by class (test set)</a:t>
            </a:r>
            <a:endParaRPr lang="en-US" sz="1600" dirty="0"/>
          </a:p>
        </p:txBody>
      </p:sp>
      <p:pic>
        <p:nvPicPr>
          <p:cNvPr id="5" name="Image 0" descr="Precision, recall and F1 per sentiment class"/>
          <p:cNvPicPr>
            <a:picLocks noChangeAspect="1"/>
          </p:cNvPicPr>
          <p:nvPr/>
        </p:nvPicPr>
        <p:blipFill>
          <a:blip r:embed="rId3"/>
          <a:stretch>
            <a:fillRect/>
          </a:stretch>
        </p:blipFill>
        <p:spPr>
          <a:xfrm>
            <a:off x="1147899" y="1874520"/>
            <a:ext cx="4562203" cy="2514600"/>
          </a:xfrm>
          <a:prstGeom prst="rect">
            <a:avLst/>
          </a:prstGeom>
        </p:spPr>
      </p:pic>
      <p:sp>
        <p:nvSpPr>
          <p:cNvPr id="6" name="Shape 3"/>
          <p:cNvSpPr/>
          <p:nvPr/>
        </p:nvSpPr>
        <p:spPr>
          <a:xfrm>
            <a:off x="777240" y="4526280"/>
            <a:ext cx="1691640" cy="411480"/>
          </a:xfrm>
          <a:prstGeom prst="roundRect">
            <a:avLst>
              <a:gd name="adj" fmla="val 111111"/>
            </a:avLst>
          </a:prstGeom>
          <a:solidFill>
            <a:srgbClr val="238A5E"/>
          </a:solidFill>
          <a:ln w="12700">
            <a:solidFill>
              <a:srgbClr val="238A5E"/>
            </a:solidFill>
            <a:prstDash val="solid"/>
          </a:ln>
        </p:spPr>
      </p:sp>
      <p:sp>
        <p:nvSpPr>
          <p:cNvPr id="7" name="Text 4"/>
          <p:cNvSpPr txBox="1"/>
          <p:nvPr/>
        </p:nvSpPr>
        <p:spPr>
          <a:xfrm>
            <a:off x="777240" y="4526280"/>
            <a:ext cx="1691640" cy="411480"/>
          </a:xfrm>
          <a:prstGeom prst="rect">
            <a:avLst/>
          </a:prstGeom>
          <a:noFill/>
          <a:ln/>
        </p:spPr>
        <p:txBody>
          <a:bodyPr wrap="square" lIns="0" tIns="0" rIns="0" bIns="0" rtlCol="0" anchor="ctr"/>
          <a:lstStyle/>
          <a:p>
            <a:pPr marL="0" indent="0" algn="ctr">
              <a:buNone/>
            </a:pPr>
            <a:r>
              <a:rPr lang="en-US" sz="1300" b="1" dirty="0">
                <a:solidFill>
                  <a:schemeClr val="bg1"/>
                </a:solidFill>
              </a:rPr>
              <a:t>Positive F1 93.65%</a:t>
            </a:r>
            <a:endParaRPr lang="en-US" sz="1300" dirty="0"/>
          </a:p>
        </p:txBody>
      </p:sp>
      <p:sp>
        <p:nvSpPr>
          <p:cNvPr id="8" name="Shape 5"/>
          <p:cNvSpPr/>
          <p:nvPr/>
        </p:nvSpPr>
        <p:spPr>
          <a:xfrm>
            <a:off x="2560320" y="4526280"/>
            <a:ext cx="1691640" cy="411480"/>
          </a:xfrm>
          <a:prstGeom prst="roundRect">
            <a:avLst>
              <a:gd name="adj" fmla="val 111111"/>
            </a:avLst>
          </a:prstGeom>
          <a:solidFill>
            <a:srgbClr val="C23B3B"/>
          </a:solidFill>
          <a:ln w="12700">
            <a:solidFill>
              <a:srgbClr val="C23B3B"/>
            </a:solidFill>
            <a:prstDash val="solid"/>
          </a:ln>
        </p:spPr>
      </p:sp>
      <p:sp>
        <p:nvSpPr>
          <p:cNvPr id="9" name="Text 6"/>
          <p:cNvSpPr txBox="1"/>
          <p:nvPr/>
        </p:nvSpPr>
        <p:spPr>
          <a:xfrm>
            <a:off x="2560320" y="4526280"/>
            <a:ext cx="1691640" cy="411480"/>
          </a:xfrm>
          <a:prstGeom prst="rect">
            <a:avLst/>
          </a:prstGeom>
          <a:noFill/>
          <a:ln/>
        </p:spPr>
        <p:txBody>
          <a:bodyPr wrap="square" lIns="0" tIns="0" rIns="0" bIns="0" rtlCol="0" anchor="ctr"/>
          <a:lstStyle/>
          <a:p>
            <a:pPr marL="0" indent="0" algn="ctr">
              <a:buNone/>
            </a:pPr>
            <a:r>
              <a:rPr lang="en-US" sz="1300" b="1" dirty="0">
                <a:solidFill>
                  <a:schemeClr val="bg1"/>
                </a:solidFill>
              </a:rPr>
              <a:t>Negative F1 90.44%</a:t>
            </a:r>
            <a:endParaRPr lang="en-US" sz="1300" dirty="0"/>
          </a:p>
        </p:txBody>
      </p:sp>
      <p:sp>
        <p:nvSpPr>
          <p:cNvPr id="10" name="Shape 7"/>
          <p:cNvSpPr/>
          <p:nvPr/>
        </p:nvSpPr>
        <p:spPr>
          <a:xfrm>
            <a:off x="4343400" y="4526280"/>
            <a:ext cx="1691640" cy="411480"/>
          </a:xfrm>
          <a:prstGeom prst="roundRect">
            <a:avLst>
              <a:gd name="adj" fmla="val 111111"/>
            </a:avLst>
          </a:prstGeom>
          <a:solidFill>
            <a:srgbClr val="5F7480"/>
          </a:solidFill>
          <a:ln w="12700">
            <a:solidFill>
              <a:srgbClr val="5F7480"/>
            </a:solidFill>
            <a:prstDash val="solid"/>
          </a:ln>
        </p:spPr>
      </p:sp>
      <p:sp>
        <p:nvSpPr>
          <p:cNvPr id="11" name="Text 8"/>
          <p:cNvSpPr txBox="1"/>
          <p:nvPr/>
        </p:nvSpPr>
        <p:spPr>
          <a:xfrm>
            <a:off x="4343400" y="4526280"/>
            <a:ext cx="1691640" cy="411480"/>
          </a:xfrm>
          <a:prstGeom prst="rect">
            <a:avLst/>
          </a:prstGeom>
          <a:noFill/>
          <a:ln/>
        </p:spPr>
        <p:txBody>
          <a:bodyPr wrap="square" lIns="0" tIns="0" rIns="0" bIns="0" rtlCol="0" anchor="ctr"/>
          <a:lstStyle/>
          <a:p>
            <a:pPr marL="0" indent="0" algn="ctr">
              <a:buNone/>
            </a:pPr>
            <a:r>
              <a:rPr lang="en-US" sz="1300" b="1" dirty="0">
                <a:solidFill>
                  <a:schemeClr val="bg1"/>
                </a:solidFill>
              </a:rPr>
              <a:t>Neutral F1 24.20%</a:t>
            </a:r>
            <a:endParaRPr lang="en-US" sz="1300" dirty="0"/>
          </a:p>
        </p:txBody>
      </p:sp>
      <p:sp>
        <p:nvSpPr>
          <p:cNvPr id="12" name="Shape 9"/>
          <p:cNvSpPr/>
          <p:nvPr/>
        </p:nvSpPr>
        <p:spPr>
          <a:xfrm>
            <a:off x="6583680" y="1371600"/>
            <a:ext cx="2423160" cy="1737360"/>
          </a:xfrm>
          <a:prstGeom prst="roundRect">
            <a:avLst>
              <a:gd name="adj" fmla="val 4211"/>
            </a:avLst>
          </a:prstGeom>
          <a:solidFill>
            <a:schemeClr val="bg2"/>
          </a:solidFill>
          <a:ln w="12700">
            <a:solidFill>
              <a:schemeClr val="bg2"/>
            </a:solidFill>
            <a:prstDash val="solid"/>
          </a:ln>
        </p:spPr>
      </p:sp>
      <p:sp>
        <p:nvSpPr>
          <p:cNvPr id="13" name="Text 10"/>
          <p:cNvSpPr txBox="1"/>
          <p:nvPr/>
        </p:nvSpPr>
        <p:spPr>
          <a:xfrm>
            <a:off x="6583680" y="1649578"/>
            <a:ext cx="2423160" cy="729691"/>
          </a:xfrm>
          <a:prstGeom prst="rect">
            <a:avLst/>
          </a:prstGeom>
          <a:noFill/>
          <a:ln/>
        </p:spPr>
        <p:txBody>
          <a:bodyPr wrap="square" lIns="0" tIns="0" rIns="0" bIns="0" rtlCol="0" anchor="ctr"/>
          <a:lstStyle/>
          <a:p>
            <a:pPr marL="0" indent="0" algn="ctr">
              <a:buNone/>
            </a:pPr>
            <a:r>
              <a:rPr lang="en-US" sz="3200" b="1" dirty="0">
                <a:solidFill>
                  <a:schemeClr val="accent1"/>
                </a:solidFill>
              </a:rPr>
              <a:t>85.25%</a:t>
            </a:r>
            <a:endParaRPr lang="en-US" sz="3200" dirty="0"/>
          </a:p>
        </p:txBody>
      </p:sp>
      <p:sp>
        <p:nvSpPr>
          <p:cNvPr id="14" name="Text 11"/>
          <p:cNvSpPr txBox="1"/>
          <p:nvPr/>
        </p:nvSpPr>
        <p:spPr>
          <a:xfrm>
            <a:off x="6675120" y="2379269"/>
            <a:ext cx="2240280" cy="590702"/>
          </a:xfrm>
          <a:prstGeom prst="rect">
            <a:avLst/>
          </a:prstGeom>
          <a:noFill/>
          <a:ln/>
        </p:spPr>
        <p:txBody>
          <a:bodyPr wrap="square" lIns="0" tIns="0" rIns="0" bIns="0" rtlCol="0" anchor="t"/>
          <a:lstStyle/>
          <a:p>
            <a:pPr marL="0" indent="0" algn="ctr">
              <a:buNone/>
            </a:pPr>
            <a:r>
              <a:rPr lang="en-US" sz="1400" dirty="0">
                <a:solidFill>
                  <a:schemeClr val="tx1"/>
                </a:solidFill>
              </a:rPr>
              <a:t>Aspect Micro F1</a:t>
            </a:r>
            <a:endParaRPr lang="en-US" sz="1400" dirty="0"/>
          </a:p>
        </p:txBody>
      </p:sp>
      <p:sp>
        <p:nvSpPr>
          <p:cNvPr id="15" name="Shape 12"/>
          <p:cNvSpPr/>
          <p:nvPr/>
        </p:nvSpPr>
        <p:spPr>
          <a:xfrm>
            <a:off x="9189720" y="1371600"/>
            <a:ext cx="2423160" cy="1737360"/>
          </a:xfrm>
          <a:prstGeom prst="roundRect">
            <a:avLst>
              <a:gd name="adj" fmla="val 4211"/>
            </a:avLst>
          </a:prstGeom>
          <a:solidFill>
            <a:schemeClr val="bg2"/>
          </a:solidFill>
          <a:ln w="12700">
            <a:solidFill>
              <a:schemeClr val="bg2"/>
            </a:solidFill>
            <a:prstDash val="solid"/>
          </a:ln>
        </p:spPr>
      </p:sp>
      <p:sp>
        <p:nvSpPr>
          <p:cNvPr id="16" name="Text 13"/>
          <p:cNvSpPr txBox="1"/>
          <p:nvPr/>
        </p:nvSpPr>
        <p:spPr>
          <a:xfrm>
            <a:off x="9189720" y="1649578"/>
            <a:ext cx="2423160" cy="729691"/>
          </a:xfrm>
          <a:prstGeom prst="rect">
            <a:avLst/>
          </a:prstGeom>
          <a:noFill/>
          <a:ln/>
        </p:spPr>
        <p:txBody>
          <a:bodyPr wrap="square" lIns="0" tIns="0" rIns="0" bIns="0" rtlCol="0" anchor="ctr"/>
          <a:lstStyle/>
          <a:p>
            <a:pPr marL="0" indent="0" algn="ctr">
              <a:buNone/>
            </a:pPr>
            <a:r>
              <a:rPr lang="en-US" sz="3200" b="1" dirty="0">
                <a:solidFill>
                  <a:schemeClr val="accent1"/>
                </a:solidFill>
              </a:rPr>
              <a:t>84.51%</a:t>
            </a:r>
            <a:endParaRPr lang="en-US" sz="3200" dirty="0"/>
          </a:p>
        </p:txBody>
      </p:sp>
      <p:sp>
        <p:nvSpPr>
          <p:cNvPr id="17" name="Text 14"/>
          <p:cNvSpPr txBox="1"/>
          <p:nvPr/>
        </p:nvSpPr>
        <p:spPr>
          <a:xfrm>
            <a:off x="9281160" y="2379269"/>
            <a:ext cx="2240280" cy="590702"/>
          </a:xfrm>
          <a:prstGeom prst="rect">
            <a:avLst/>
          </a:prstGeom>
          <a:noFill/>
          <a:ln/>
        </p:spPr>
        <p:txBody>
          <a:bodyPr wrap="square" lIns="0" tIns="0" rIns="0" bIns="0" rtlCol="0" anchor="t"/>
          <a:lstStyle/>
          <a:p>
            <a:pPr marL="0" indent="0" algn="ctr">
              <a:buNone/>
            </a:pPr>
            <a:r>
              <a:rPr lang="en-US" sz="1400" dirty="0">
                <a:solidFill>
                  <a:schemeClr val="tx1"/>
                </a:solidFill>
              </a:rPr>
              <a:t>Aspect Macro F1</a:t>
            </a:r>
            <a:endParaRPr lang="en-US" sz="1400" dirty="0"/>
          </a:p>
        </p:txBody>
      </p:sp>
      <p:sp>
        <p:nvSpPr>
          <p:cNvPr id="18" name="Shape 15"/>
          <p:cNvSpPr/>
          <p:nvPr/>
        </p:nvSpPr>
        <p:spPr>
          <a:xfrm>
            <a:off x="6583680" y="3291840"/>
            <a:ext cx="2423160" cy="1737360"/>
          </a:xfrm>
          <a:prstGeom prst="roundRect">
            <a:avLst>
              <a:gd name="adj" fmla="val 4211"/>
            </a:avLst>
          </a:prstGeom>
          <a:solidFill>
            <a:schemeClr val="bg2"/>
          </a:solidFill>
          <a:ln w="12700">
            <a:solidFill>
              <a:schemeClr val="bg2"/>
            </a:solidFill>
            <a:prstDash val="solid"/>
          </a:ln>
        </p:spPr>
      </p:sp>
      <p:sp>
        <p:nvSpPr>
          <p:cNvPr id="19" name="Text 16"/>
          <p:cNvSpPr txBox="1"/>
          <p:nvPr/>
        </p:nvSpPr>
        <p:spPr>
          <a:xfrm>
            <a:off x="6583680" y="3569818"/>
            <a:ext cx="2423160" cy="729691"/>
          </a:xfrm>
          <a:prstGeom prst="rect">
            <a:avLst/>
          </a:prstGeom>
          <a:noFill/>
          <a:ln/>
        </p:spPr>
        <p:txBody>
          <a:bodyPr wrap="square" lIns="0" tIns="0" rIns="0" bIns="0" rtlCol="0" anchor="ctr"/>
          <a:lstStyle/>
          <a:p>
            <a:pPr marL="0" indent="0" algn="ctr">
              <a:buNone/>
            </a:pPr>
            <a:r>
              <a:rPr lang="en-US" sz="3200" b="1" dirty="0">
                <a:solidFill>
                  <a:schemeClr val="tx2"/>
                </a:solidFill>
              </a:rPr>
              <a:t>89.04%</a:t>
            </a:r>
            <a:endParaRPr lang="en-US" sz="3200" dirty="0"/>
          </a:p>
        </p:txBody>
      </p:sp>
      <p:sp>
        <p:nvSpPr>
          <p:cNvPr id="20" name="Text 17"/>
          <p:cNvSpPr txBox="1"/>
          <p:nvPr/>
        </p:nvSpPr>
        <p:spPr>
          <a:xfrm>
            <a:off x="6675120" y="4299509"/>
            <a:ext cx="2240280" cy="590702"/>
          </a:xfrm>
          <a:prstGeom prst="rect">
            <a:avLst/>
          </a:prstGeom>
          <a:noFill/>
          <a:ln/>
        </p:spPr>
        <p:txBody>
          <a:bodyPr wrap="square" lIns="0" tIns="0" rIns="0" bIns="0" rtlCol="0" anchor="t"/>
          <a:lstStyle/>
          <a:p>
            <a:pPr marL="0" indent="0" algn="ctr">
              <a:buNone/>
            </a:pPr>
            <a:r>
              <a:rPr lang="en-US" sz="1400" dirty="0">
                <a:solidFill>
                  <a:schemeClr val="tx1"/>
                </a:solidFill>
              </a:rPr>
              <a:t>Sentiment Accuracy</a:t>
            </a:r>
            <a:endParaRPr lang="en-US" sz="1400" dirty="0"/>
          </a:p>
        </p:txBody>
      </p:sp>
      <p:sp>
        <p:nvSpPr>
          <p:cNvPr id="21" name="Shape 18"/>
          <p:cNvSpPr/>
          <p:nvPr/>
        </p:nvSpPr>
        <p:spPr>
          <a:xfrm>
            <a:off x="9189720" y="3291840"/>
            <a:ext cx="2423160" cy="1737360"/>
          </a:xfrm>
          <a:prstGeom prst="roundRect">
            <a:avLst>
              <a:gd name="adj" fmla="val 4211"/>
            </a:avLst>
          </a:prstGeom>
          <a:solidFill>
            <a:schemeClr val="bg2"/>
          </a:solidFill>
          <a:ln w="12700">
            <a:solidFill>
              <a:schemeClr val="bg2"/>
            </a:solidFill>
            <a:prstDash val="solid"/>
          </a:ln>
        </p:spPr>
      </p:sp>
      <p:sp>
        <p:nvSpPr>
          <p:cNvPr id="22" name="Text 19"/>
          <p:cNvSpPr txBox="1"/>
          <p:nvPr/>
        </p:nvSpPr>
        <p:spPr>
          <a:xfrm>
            <a:off x="9189720" y="3569818"/>
            <a:ext cx="2423160" cy="729691"/>
          </a:xfrm>
          <a:prstGeom prst="rect">
            <a:avLst/>
          </a:prstGeom>
          <a:noFill/>
          <a:ln/>
        </p:spPr>
        <p:txBody>
          <a:bodyPr wrap="square" lIns="0" tIns="0" rIns="0" bIns="0" rtlCol="0" anchor="ctr"/>
          <a:lstStyle/>
          <a:p>
            <a:pPr marL="0" indent="0" algn="ctr">
              <a:buNone/>
            </a:pPr>
            <a:r>
              <a:rPr lang="en-US" sz="3200" b="1" dirty="0">
                <a:solidFill>
                  <a:schemeClr val="tx2"/>
                </a:solidFill>
              </a:rPr>
              <a:t>89.81%</a:t>
            </a:r>
            <a:endParaRPr lang="en-US" sz="3200" dirty="0"/>
          </a:p>
        </p:txBody>
      </p:sp>
      <p:sp>
        <p:nvSpPr>
          <p:cNvPr id="23" name="Text 20"/>
          <p:cNvSpPr txBox="1"/>
          <p:nvPr/>
        </p:nvSpPr>
        <p:spPr>
          <a:xfrm>
            <a:off x="9281160" y="4299509"/>
            <a:ext cx="2240280" cy="590702"/>
          </a:xfrm>
          <a:prstGeom prst="rect">
            <a:avLst/>
          </a:prstGeom>
          <a:noFill/>
          <a:ln/>
        </p:spPr>
        <p:txBody>
          <a:bodyPr wrap="square" lIns="0" tIns="0" rIns="0" bIns="0" rtlCol="0" anchor="t"/>
          <a:lstStyle/>
          <a:p>
            <a:pPr marL="0" indent="0" algn="ctr">
              <a:buNone/>
            </a:pPr>
            <a:r>
              <a:rPr lang="en-US" sz="1400" dirty="0">
                <a:solidFill>
                  <a:schemeClr val="tx1"/>
                </a:solidFill>
              </a:rPr>
              <a:t>Sentiment Weighted F1</a:t>
            </a:r>
            <a:endParaRPr lang="en-US" sz="1400" dirty="0"/>
          </a:p>
        </p:txBody>
      </p:sp>
      <p:sp>
        <p:nvSpPr>
          <p:cNvPr id="24" name="Shape 21"/>
          <p:cNvSpPr/>
          <p:nvPr/>
        </p:nvSpPr>
        <p:spPr>
          <a:xfrm>
            <a:off x="548640" y="5349240"/>
            <a:ext cx="11064240" cy="868680"/>
          </a:xfrm>
          <a:prstGeom prst="roundRect">
            <a:avLst>
              <a:gd name="adj" fmla="val 8421"/>
            </a:avLst>
          </a:prstGeom>
          <a:solidFill>
            <a:srgbClr val="FDF0DA"/>
          </a:solidFill>
          <a:ln w="12700">
            <a:solidFill>
              <a:srgbClr val="FDF0DA"/>
            </a:solidFill>
            <a:prstDash val="solid"/>
          </a:ln>
        </p:spPr>
      </p:sp>
      <p:sp>
        <p:nvSpPr>
          <p:cNvPr id="25" name="Text 22"/>
          <p:cNvSpPr txBox="1"/>
          <p:nvPr/>
        </p:nvSpPr>
        <p:spPr>
          <a:xfrm>
            <a:off x="822960" y="5349240"/>
            <a:ext cx="10515600" cy="868680"/>
          </a:xfrm>
          <a:prstGeom prst="rect">
            <a:avLst/>
          </a:prstGeom>
          <a:noFill/>
          <a:ln/>
        </p:spPr>
        <p:txBody>
          <a:bodyPr wrap="square" lIns="0" tIns="0" rIns="0" bIns="0" rtlCol="0" anchor="ctr"/>
          <a:lstStyle/>
          <a:p>
            <a:pPr marL="0" indent="0">
              <a:buNone/>
            </a:pPr>
            <a:r>
              <a:rPr lang="en-US" sz="1600" b="1" dirty="0">
                <a:solidFill>
                  <a:schemeClr val="tx2"/>
                </a:solidFill>
              </a:rPr>
              <a:t>Neutral is difficult (F1 24.20%): </a:t>
            </a:r>
            <a:r>
              <a:rPr lang="en-US" sz="1600" dirty="0">
                <a:solidFill>
                  <a:schemeClr val="tx2"/>
                </a:solidFill>
              </a:rPr>
              <a:t>only 3.44% of reviews are Neutral, a severe class imbalance. Positive and Negative are classified well.</a:t>
            </a:r>
            <a:endParaRPr lang="en-US" sz="1600" dirty="0"/>
          </a:p>
        </p:txBody>
      </p:sp>
      <p:sp>
        <p:nvSpPr>
          <p:cNvPr id="26"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7480"/>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Limitations &amp; Future Scope</a:t>
            </a:r>
            <a:endParaRPr lang="en-US" sz="3400" dirty="0"/>
          </a:p>
        </p:txBody>
      </p:sp>
      <p:sp>
        <p:nvSpPr>
          <p:cNvPr id="3" name="Shape 1"/>
          <p:cNvSpPr/>
          <p:nvPr/>
        </p:nvSpPr>
        <p:spPr>
          <a:xfrm>
            <a:off x="548640" y="1371600"/>
            <a:ext cx="5394960" cy="4846320"/>
          </a:xfrm>
          <a:prstGeom prst="roundRect">
            <a:avLst>
              <a:gd name="adj" fmla="val 1509"/>
            </a:avLst>
          </a:prstGeom>
          <a:solidFill>
            <a:schemeClr val="bg2"/>
          </a:solidFill>
          <a:ln w="12700">
            <a:solidFill>
              <a:schemeClr val="bg2"/>
            </a:solidFill>
            <a:prstDash val="solid"/>
          </a:ln>
        </p:spPr>
      </p:sp>
      <p:sp>
        <p:nvSpPr>
          <p:cNvPr id="4" name="Text 2"/>
          <p:cNvSpPr txBox="1"/>
          <p:nvPr/>
        </p:nvSpPr>
        <p:spPr>
          <a:xfrm>
            <a:off x="822960" y="1508760"/>
            <a:ext cx="4846320" cy="411480"/>
          </a:xfrm>
          <a:prstGeom prst="rect">
            <a:avLst/>
          </a:prstGeom>
          <a:noFill/>
          <a:ln/>
        </p:spPr>
        <p:txBody>
          <a:bodyPr wrap="square" lIns="0" tIns="0" rIns="0" bIns="0" rtlCol="0" anchor="t"/>
          <a:lstStyle/>
          <a:p>
            <a:pPr marL="0" indent="0">
              <a:buNone/>
            </a:pPr>
            <a:r>
              <a:rPr lang="en-US" sz="2000" b="1" dirty="0">
                <a:solidFill>
                  <a:schemeClr val="accent4"/>
                </a:solidFill>
              </a:rPr>
              <a:t>Limitations</a:t>
            </a:r>
            <a:endParaRPr lang="en-US" sz="2000" dirty="0"/>
          </a:p>
        </p:txBody>
      </p:sp>
      <p:sp>
        <p:nvSpPr>
          <p:cNvPr id="5" name="Shape 3"/>
          <p:cNvSpPr/>
          <p:nvPr/>
        </p:nvSpPr>
        <p:spPr>
          <a:xfrm>
            <a:off x="822960" y="2148840"/>
            <a:ext cx="502920" cy="502920"/>
          </a:xfrm>
          <a:prstGeom prst="ellipse">
            <a:avLst/>
          </a:prstGeom>
          <a:solidFill>
            <a:srgbClr val="C23B3B"/>
          </a:solidFill>
          <a:ln w="12700">
            <a:solidFill>
              <a:srgbClr val="C23B3B"/>
            </a:solidFill>
            <a:prstDash val="solid"/>
          </a:ln>
        </p:spPr>
      </p:sp>
      <p:pic>
        <p:nvPicPr>
          <p:cNvPr id="6" name="Image 0" descr="FaExclamationTriangle"/>
          <p:cNvPicPr>
            <a:picLocks noChangeAspect="1"/>
          </p:cNvPicPr>
          <p:nvPr/>
        </p:nvPicPr>
        <p:blipFill>
          <a:blip r:embed="rId3"/>
          <a:stretch>
            <a:fillRect/>
          </a:stretch>
        </p:blipFill>
        <p:spPr>
          <a:xfrm>
            <a:off x="948690" y="2274570"/>
            <a:ext cx="251460" cy="251460"/>
          </a:xfrm>
          <a:prstGeom prst="rect">
            <a:avLst/>
          </a:prstGeom>
        </p:spPr>
      </p:pic>
      <p:sp>
        <p:nvSpPr>
          <p:cNvPr id="7" name="Text 4"/>
          <p:cNvSpPr txBox="1"/>
          <p:nvPr/>
        </p:nvSpPr>
        <p:spPr>
          <a:xfrm>
            <a:off x="1508760" y="2075688"/>
            <a:ext cx="4206240" cy="685800"/>
          </a:xfrm>
          <a:prstGeom prst="rect">
            <a:avLst/>
          </a:prstGeom>
          <a:noFill/>
          <a:ln/>
        </p:spPr>
        <p:txBody>
          <a:bodyPr wrap="square" lIns="0" tIns="0" rIns="0" bIns="0" rtlCol="0" anchor="ctr"/>
          <a:lstStyle/>
          <a:p>
            <a:pPr marL="0" indent="0">
              <a:buNone/>
            </a:pPr>
            <a:r>
              <a:rPr lang="en-US" sz="1500" dirty="0">
                <a:solidFill>
                  <a:schemeClr val="tx1"/>
                </a:solidFill>
              </a:rPr>
              <a:t>Sentence-level, not aspect-specific, sentiment labels</a:t>
            </a:r>
            <a:endParaRPr lang="en-US" sz="1500" dirty="0"/>
          </a:p>
        </p:txBody>
      </p:sp>
      <p:sp>
        <p:nvSpPr>
          <p:cNvPr id="8" name="Shape 5"/>
          <p:cNvSpPr/>
          <p:nvPr/>
        </p:nvSpPr>
        <p:spPr>
          <a:xfrm>
            <a:off x="822960" y="3172968"/>
            <a:ext cx="502920" cy="502920"/>
          </a:xfrm>
          <a:prstGeom prst="ellipse">
            <a:avLst/>
          </a:prstGeom>
          <a:solidFill>
            <a:srgbClr val="C23B3B"/>
          </a:solidFill>
          <a:ln w="12700">
            <a:solidFill>
              <a:srgbClr val="C23B3B"/>
            </a:solidFill>
            <a:prstDash val="solid"/>
          </a:ln>
        </p:spPr>
      </p:sp>
      <p:pic>
        <p:nvPicPr>
          <p:cNvPr id="9" name="Image 1" descr="FaExclamationTriangle"/>
          <p:cNvPicPr>
            <a:picLocks noChangeAspect="1"/>
          </p:cNvPicPr>
          <p:nvPr/>
        </p:nvPicPr>
        <p:blipFill>
          <a:blip r:embed="rId3"/>
          <a:stretch>
            <a:fillRect/>
          </a:stretch>
        </p:blipFill>
        <p:spPr>
          <a:xfrm>
            <a:off x="948690" y="3298698"/>
            <a:ext cx="251460" cy="251460"/>
          </a:xfrm>
          <a:prstGeom prst="rect">
            <a:avLst/>
          </a:prstGeom>
        </p:spPr>
      </p:pic>
      <p:sp>
        <p:nvSpPr>
          <p:cNvPr id="10" name="Text 6"/>
          <p:cNvSpPr txBox="1"/>
          <p:nvPr/>
        </p:nvSpPr>
        <p:spPr>
          <a:xfrm>
            <a:off x="1508760" y="3099816"/>
            <a:ext cx="4206240" cy="685800"/>
          </a:xfrm>
          <a:prstGeom prst="rect">
            <a:avLst/>
          </a:prstGeom>
          <a:noFill/>
          <a:ln/>
        </p:spPr>
        <p:txBody>
          <a:bodyPr wrap="square" lIns="0" tIns="0" rIns="0" bIns="0" rtlCol="0" anchor="ctr"/>
          <a:lstStyle/>
          <a:p>
            <a:pPr marL="0" indent="0">
              <a:buNone/>
            </a:pPr>
            <a:r>
              <a:rPr lang="en-US" sz="1500" dirty="0">
                <a:solidFill>
                  <a:schemeClr val="tx1"/>
                </a:solidFill>
              </a:rPr>
              <a:t>Neutral class imbalance (Neutral F1 24.20%)</a:t>
            </a:r>
            <a:endParaRPr lang="en-US" sz="1500" dirty="0"/>
          </a:p>
        </p:txBody>
      </p:sp>
      <p:sp>
        <p:nvSpPr>
          <p:cNvPr id="11" name="Shape 7"/>
          <p:cNvSpPr/>
          <p:nvPr/>
        </p:nvSpPr>
        <p:spPr>
          <a:xfrm>
            <a:off x="822960" y="4197096"/>
            <a:ext cx="502920" cy="502920"/>
          </a:xfrm>
          <a:prstGeom prst="ellipse">
            <a:avLst/>
          </a:prstGeom>
          <a:solidFill>
            <a:srgbClr val="C23B3B"/>
          </a:solidFill>
          <a:ln w="12700">
            <a:solidFill>
              <a:srgbClr val="C23B3B"/>
            </a:solidFill>
            <a:prstDash val="solid"/>
          </a:ln>
        </p:spPr>
      </p:sp>
      <p:pic>
        <p:nvPicPr>
          <p:cNvPr id="12" name="Image 2" descr="FaExclamationTriangle"/>
          <p:cNvPicPr>
            <a:picLocks noChangeAspect="1"/>
          </p:cNvPicPr>
          <p:nvPr/>
        </p:nvPicPr>
        <p:blipFill>
          <a:blip r:embed="rId3"/>
          <a:stretch>
            <a:fillRect/>
          </a:stretch>
        </p:blipFill>
        <p:spPr>
          <a:xfrm>
            <a:off x="948690" y="4322826"/>
            <a:ext cx="251460" cy="251460"/>
          </a:xfrm>
          <a:prstGeom prst="rect">
            <a:avLst/>
          </a:prstGeom>
        </p:spPr>
      </p:pic>
      <p:sp>
        <p:nvSpPr>
          <p:cNvPr id="13" name="Text 8"/>
          <p:cNvSpPr txBox="1"/>
          <p:nvPr/>
        </p:nvSpPr>
        <p:spPr>
          <a:xfrm>
            <a:off x="1508760" y="4123944"/>
            <a:ext cx="4206240" cy="685800"/>
          </a:xfrm>
          <a:prstGeom prst="rect">
            <a:avLst/>
          </a:prstGeom>
          <a:noFill/>
          <a:ln/>
        </p:spPr>
        <p:txBody>
          <a:bodyPr wrap="square" lIns="0" tIns="0" rIns="0" bIns="0" rtlCol="0" anchor="ctr"/>
          <a:lstStyle/>
          <a:p>
            <a:pPr marL="0" indent="0">
              <a:buNone/>
            </a:pPr>
            <a:r>
              <a:rPr lang="en-US" sz="1500" dirty="0">
                <a:solidFill>
                  <a:schemeClr val="tx1"/>
                </a:solidFill>
              </a:rPr>
              <a:t>TF-IDF has limited semantic and context understanding</a:t>
            </a:r>
            <a:endParaRPr lang="en-US" sz="1500" dirty="0"/>
          </a:p>
        </p:txBody>
      </p:sp>
      <p:sp>
        <p:nvSpPr>
          <p:cNvPr id="14" name="Shape 9"/>
          <p:cNvSpPr/>
          <p:nvPr/>
        </p:nvSpPr>
        <p:spPr>
          <a:xfrm>
            <a:off x="822960" y="5221224"/>
            <a:ext cx="502920" cy="502920"/>
          </a:xfrm>
          <a:prstGeom prst="ellipse">
            <a:avLst/>
          </a:prstGeom>
          <a:solidFill>
            <a:srgbClr val="C23B3B"/>
          </a:solidFill>
          <a:ln w="12700">
            <a:solidFill>
              <a:srgbClr val="C23B3B"/>
            </a:solidFill>
            <a:prstDash val="solid"/>
          </a:ln>
        </p:spPr>
      </p:sp>
      <p:pic>
        <p:nvPicPr>
          <p:cNvPr id="15" name="Image 3" descr="FaExclamationTriangle"/>
          <p:cNvPicPr>
            <a:picLocks noChangeAspect="1"/>
          </p:cNvPicPr>
          <p:nvPr/>
        </p:nvPicPr>
        <p:blipFill>
          <a:blip r:embed="rId3"/>
          <a:stretch>
            <a:fillRect/>
          </a:stretch>
        </p:blipFill>
        <p:spPr>
          <a:xfrm>
            <a:off x="948690" y="5346954"/>
            <a:ext cx="251460" cy="251460"/>
          </a:xfrm>
          <a:prstGeom prst="rect">
            <a:avLst/>
          </a:prstGeom>
        </p:spPr>
      </p:pic>
      <p:sp>
        <p:nvSpPr>
          <p:cNvPr id="16" name="Text 10"/>
          <p:cNvSpPr txBox="1"/>
          <p:nvPr/>
        </p:nvSpPr>
        <p:spPr>
          <a:xfrm>
            <a:off x="1508760" y="5148072"/>
            <a:ext cx="4206240" cy="685800"/>
          </a:xfrm>
          <a:prstGeom prst="rect">
            <a:avLst/>
          </a:prstGeom>
          <a:noFill/>
          <a:ln/>
        </p:spPr>
        <p:txBody>
          <a:bodyPr wrap="square" lIns="0" tIns="0" rIns="0" bIns="0" rtlCol="0" anchor="ctr"/>
          <a:lstStyle/>
          <a:p>
            <a:pPr marL="0" indent="0">
              <a:buNone/>
            </a:pPr>
            <a:r>
              <a:rPr lang="en-US" sz="1500" dirty="0">
                <a:solidFill>
                  <a:schemeClr val="tx1"/>
                </a:solidFill>
              </a:rPr>
              <a:t>Complex or ambiguous language is hard to interpret</a:t>
            </a:r>
            <a:endParaRPr lang="en-US" sz="1500" dirty="0"/>
          </a:p>
        </p:txBody>
      </p:sp>
      <p:sp>
        <p:nvSpPr>
          <p:cNvPr id="17" name="Shape 11"/>
          <p:cNvSpPr/>
          <p:nvPr/>
        </p:nvSpPr>
        <p:spPr>
          <a:xfrm>
            <a:off x="6217920" y="1371600"/>
            <a:ext cx="5394960" cy="4846320"/>
          </a:xfrm>
          <a:prstGeom prst="roundRect">
            <a:avLst>
              <a:gd name="adj" fmla="val 1509"/>
            </a:avLst>
          </a:prstGeom>
          <a:solidFill>
            <a:schemeClr val="bg2"/>
          </a:solidFill>
          <a:ln w="12700">
            <a:solidFill>
              <a:schemeClr val="bg2"/>
            </a:solidFill>
            <a:prstDash val="solid"/>
          </a:ln>
        </p:spPr>
      </p:sp>
      <p:sp>
        <p:nvSpPr>
          <p:cNvPr id="18" name="Text 12"/>
          <p:cNvSpPr txBox="1"/>
          <p:nvPr/>
        </p:nvSpPr>
        <p:spPr>
          <a:xfrm>
            <a:off x="6492240" y="1508760"/>
            <a:ext cx="4846320" cy="411480"/>
          </a:xfrm>
          <a:prstGeom prst="rect">
            <a:avLst/>
          </a:prstGeom>
          <a:noFill/>
          <a:ln/>
        </p:spPr>
        <p:txBody>
          <a:bodyPr wrap="square" lIns="0" tIns="0" rIns="0" bIns="0" rtlCol="0" anchor="t"/>
          <a:lstStyle/>
          <a:p>
            <a:pPr marL="0" indent="0">
              <a:buNone/>
            </a:pPr>
            <a:r>
              <a:rPr lang="en-US" sz="2000" b="1" dirty="0">
                <a:solidFill>
                  <a:schemeClr val="accent1"/>
                </a:solidFill>
              </a:rPr>
              <a:t>Future scope</a:t>
            </a:r>
            <a:endParaRPr lang="en-US" sz="2000" dirty="0"/>
          </a:p>
        </p:txBody>
      </p:sp>
      <p:sp>
        <p:nvSpPr>
          <p:cNvPr id="19" name="Shape 13"/>
          <p:cNvSpPr/>
          <p:nvPr/>
        </p:nvSpPr>
        <p:spPr>
          <a:xfrm>
            <a:off x="6492240" y="2103120"/>
            <a:ext cx="457200" cy="457200"/>
          </a:xfrm>
          <a:prstGeom prst="ellipse">
            <a:avLst/>
          </a:prstGeom>
          <a:solidFill>
            <a:srgbClr val="0B7A75"/>
          </a:solidFill>
          <a:ln w="12700">
            <a:solidFill>
              <a:srgbClr val="0B7A75"/>
            </a:solidFill>
            <a:prstDash val="solid"/>
          </a:ln>
        </p:spPr>
      </p:sp>
      <p:pic>
        <p:nvPicPr>
          <p:cNvPr id="20" name="Image 4" descr="FaLightbulb"/>
          <p:cNvPicPr>
            <a:picLocks noChangeAspect="1"/>
          </p:cNvPicPr>
          <p:nvPr/>
        </p:nvPicPr>
        <p:blipFill>
          <a:blip r:embed="rId4"/>
          <a:stretch>
            <a:fillRect/>
          </a:stretch>
        </p:blipFill>
        <p:spPr>
          <a:xfrm>
            <a:off x="6606540" y="2217420"/>
            <a:ext cx="228600" cy="228600"/>
          </a:xfrm>
          <a:prstGeom prst="rect">
            <a:avLst/>
          </a:prstGeom>
        </p:spPr>
      </p:pic>
      <p:sp>
        <p:nvSpPr>
          <p:cNvPr id="21" name="Text 14"/>
          <p:cNvSpPr txBox="1"/>
          <p:nvPr/>
        </p:nvSpPr>
        <p:spPr>
          <a:xfrm>
            <a:off x="7178040" y="2103120"/>
            <a:ext cx="4206240" cy="457200"/>
          </a:xfrm>
          <a:prstGeom prst="rect">
            <a:avLst/>
          </a:prstGeom>
          <a:noFill/>
          <a:ln/>
        </p:spPr>
        <p:txBody>
          <a:bodyPr wrap="square" lIns="0" tIns="0" rIns="0" bIns="0" rtlCol="0" anchor="ctr"/>
          <a:lstStyle/>
          <a:p>
            <a:pPr marL="0" indent="0">
              <a:buNone/>
            </a:pPr>
            <a:r>
              <a:rPr lang="en-US" sz="1500" dirty="0">
                <a:solidFill>
                  <a:schemeClr val="tx1"/>
                </a:solidFill>
              </a:rPr>
              <a:t>BERT / RoBERTa transformer models</a:t>
            </a:r>
            <a:endParaRPr lang="en-US" sz="1500" dirty="0"/>
          </a:p>
        </p:txBody>
      </p:sp>
      <p:sp>
        <p:nvSpPr>
          <p:cNvPr id="22" name="Shape 15"/>
          <p:cNvSpPr/>
          <p:nvPr/>
        </p:nvSpPr>
        <p:spPr>
          <a:xfrm>
            <a:off x="6492240" y="2770632"/>
            <a:ext cx="457200" cy="457200"/>
          </a:xfrm>
          <a:prstGeom prst="ellipse">
            <a:avLst/>
          </a:prstGeom>
          <a:solidFill>
            <a:srgbClr val="0B7A75"/>
          </a:solidFill>
          <a:ln w="12700">
            <a:solidFill>
              <a:srgbClr val="0B7A75"/>
            </a:solidFill>
            <a:prstDash val="solid"/>
          </a:ln>
        </p:spPr>
      </p:sp>
      <p:pic>
        <p:nvPicPr>
          <p:cNvPr id="23" name="Image 5" descr="FaLightbulb"/>
          <p:cNvPicPr>
            <a:picLocks noChangeAspect="1"/>
          </p:cNvPicPr>
          <p:nvPr/>
        </p:nvPicPr>
        <p:blipFill>
          <a:blip r:embed="rId4"/>
          <a:stretch>
            <a:fillRect/>
          </a:stretch>
        </p:blipFill>
        <p:spPr>
          <a:xfrm>
            <a:off x="6606540" y="2884932"/>
            <a:ext cx="228600" cy="228600"/>
          </a:xfrm>
          <a:prstGeom prst="rect">
            <a:avLst/>
          </a:prstGeom>
        </p:spPr>
      </p:pic>
      <p:sp>
        <p:nvSpPr>
          <p:cNvPr id="24" name="Text 16"/>
          <p:cNvSpPr txBox="1"/>
          <p:nvPr/>
        </p:nvSpPr>
        <p:spPr>
          <a:xfrm>
            <a:off x="7178040" y="2770632"/>
            <a:ext cx="4206240" cy="457200"/>
          </a:xfrm>
          <a:prstGeom prst="rect">
            <a:avLst/>
          </a:prstGeom>
          <a:noFill/>
          <a:ln/>
        </p:spPr>
        <p:txBody>
          <a:bodyPr wrap="square" lIns="0" tIns="0" rIns="0" bIns="0" rtlCol="0" anchor="ctr"/>
          <a:lstStyle/>
          <a:p>
            <a:pPr marL="0" indent="0">
              <a:buNone/>
            </a:pPr>
            <a:r>
              <a:rPr lang="en-US" sz="1500" dirty="0">
                <a:solidFill>
                  <a:schemeClr val="tx1"/>
                </a:solidFill>
              </a:rPr>
              <a:t>Aspect-specific sentiment annotations</a:t>
            </a:r>
            <a:endParaRPr lang="en-US" sz="1500" dirty="0"/>
          </a:p>
        </p:txBody>
      </p:sp>
      <p:sp>
        <p:nvSpPr>
          <p:cNvPr id="25" name="Shape 17"/>
          <p:cNvSpPr/>
          <p:nvPr/>
        </p:nvSpPr>
        <p:spPr>
          <a:xfrm>
            <a:off x="6492240" y="3438144"/>
            <a:ext cx="457200" cy="457200"/>
          </a:xfrm>
          <a:prstGeom prst="ellipse">
            <a:avLst/>
          </a:prstGeom>
          <a:solidFill>
            <a:srgbClr val="0B7A75"/>
          </a:solidFill>
          <a:ln w="12700">
            <a:solidFill>
              <a:srgbClr val="0B7A75"/>
            </a:solidFill>
            <a:prstDash val="solid"/>
          </a:ln>
        </p:spPr>
      </p:sp>
      <p:pic>
        <p:nvPicPr>
          <p:cNvPr id="26" name="Image 6" descr="FaLightbulb"/>
          <p:cNvPicPr>
            <a:picLocks noChangeAspect="1"/>
          </p:cNvPicPr>
          <p:nvPr/>
        </p:nvPicPr>
        <p:blipFill>
          <a:blip r:embed="rId4"/>
          <a:stretch>
            <a:fillRect/>
          </a:stretch>
        </p:blipFill>
        <p:spPr>
          <a:xfrm>
            <a:off x="6606540" y="3552444"/>
            <a:ext cx="228600" cy="228600"/>
          </a:xfrm>
          <a:prstGeom prst="rect">
            <a:avLst/>
          </a:prstGeom>
        </p:spPr>
      </p:pic>
      <p:sp>
        <p:nvSpPr>
          <p:cNvPr id="27" name="Text 18"/>
          <p:cNvSpPr txBox="1"/>
          <p:nvPr/>
        </p:nvSpPr>
        <p:spPr>
          <a:xfrm>
            <a:off x="7178040" y="3438144"/>
            <a:ext cx="4206240" cy="457200"/>
          </a:xfrm>
          <a:prstGeom prst="rect">
            <a:avLst/>
          </a:prstGeom>
          <a:noFill/>
          <a:ln/>
        </p:spPr>
        <p:txBody>
          <a:bodyPr wrap="square" lIns="0" tIns="0" rIns="0" bIns="0" rtlCol="0" anchor="ctr"/>
          <a:lstStyle/>
          <a:p>
            <a:pPr marL="0" indent="0">
              <a:buNone/>
            </a:pPr>
            <a:r>
              <a:rPr lang="en-US" sz="1500" dirty="0">
                <a:solidFill>
                  <a:schemeClr val="tx1"/>
                </a:solidFill>
              </a:rPr>
              <a:t>Better imbalance handling</a:t>
            </a:r>
            <a:endParaRPr lang="en-US" sz="1500" dirty="0"/>
          </a:p>
        </p:txBody>
      </p:sp>
      <p:sp>
        <p:nvSpPr>
          <p:cNvPr id="28" name="Shape 19"/>
          <p:cNvSpPr/>
          <p:nvPr/>
        </p:nvSpPr>
        <p:spPr>
          <a:xfrm>
            <a:off x="6492240" y="4105656"/>
            <a:ext cx="457200" cy="457200"/>
          </a:xfrm>
          <a:prstGeom prst="ellipse">
            <a:avLst/>
          </a:prstGeom>
          <a:solidFill>
            <a:srgbClr val="0B7A75"/>
          </a:solidFill>
          <a:ln w="12700">
            <a:solidFill>
              <a:srgbClr val="0B7A75"/>
            </a:solidFill>
            <a:prstDash val="solid"/>
          </a:ln>
        </p:spPr>
      </p:sp>
      <p:pic>
        <p:nvPicPr>
          <p:cNvPr id="29" name="Image 7" descr="FaLightbulb"/>
          <p:cNvPicPr>
            <a:picLocks noChangeAspect="1"/>
          </p:cNvPicPr>
          <p:nvPr/>
        </p:nvPicPr>
        <p:blipFill>
          <a:blip r:embed="rId4"/>
          <a:stretch>
            <a:fillRect/>
          </a:stretch>
        </p:blipFill>
        <p:spPr>
          <a:xfrm>
            <a:off x="6606540" y="4219956"/>
            <a:ext cx="228600" cy="228600"/>
          </a:xfrm>
          <a:prstGeom prst="rect">
            <a:avLst/>
          </a:prstGeom>
        </p:spPr>
      </p:pic>
      <p:sp>
        <p:nvSpPr>
          <p:cNvPr id="30" name="Text 20"/>
          <p:cNvSpPr txBox="1"/>
          <p:nvPr/>
        </p:nvSpPr>
        <p:spPr>
          <a:xfrm>
            <a:off x="7178040" y="4105656"/>
            <a:ext cx="4206240" cy="457200"/>
          </a:xfrm>
          <a:prstGeom prst="rect">
            <a:avLst/>
          </a:prstGeom>
          <a:noFill/>
          <a:ln/>
        </p:spPr>
        <p:txBody>
          <a:bodyPr wrap="square" lIns="0" tIns="0" rIns="0" bIns="0" rtlCol="0" anchor="ctr"/>
          <a:lstStyle/>
          <a:p>
            <a:pPr marL="0" indent="0">
              <a:buNone/>
            </a:pPr>
            <a:r>
              <a:rPr lang="en-US" sz="1500" dirty="0">
                <a:solidFill>
                  <a:schemeClr val="tx1"/>
                </a:solidFill>
              </a:rPr>
              <a:t>Context-aware models</a:t>
            </a:r>
            <a:endParaRPr lang="en-US" sz="1500" dirty="0"/>
          </a:p>
        </p:txBody>
      </p:sp>
      <p:sp>
        <p:nvSpPr>
          <p:cNvPr id="31" name="Shape 21"/>
          <p:cNvSpPr/>
          <p:nvPr/>
        </p:nvSpPr>
        <p:spPr>
          <a:xfrm>
            <a:off x="6492240" y="4773168"/>
            <a:ext cx="457200" cy="457200"/>
          </a:xfrm>
          <a:prstGeom prst="ellipse">
            <a:avLst/>
          </a:prstGeom>
          <a:solidFill>
            <a:srgbClr val="0B7A75"/>
          </a:solidFill>
          <a:ln w="12700">
            <a:solidFill>
              <a:srgbClr val="0B7A75"/>
            </a:solidFill>
            <a:prstDash val="solid"/>
          </a:ln>
        </p:spPr>
      </p:sp>
      <p:pic>
        <p:nvPicPr>
          <p:cNvPr id="32" name="Image 8" descr="FaLightbulb"/>
          <p:cNvPicPr>
            <a:picLocks noChangeAspect="1"/>
          </p:cNvPicPr>
          <p:nvPr/>
        </p:nvPicPr>
        <p:blipFill>
          <a:blip r:embed="rId4"/>
          <a:stretch>
            <a:fillRect/>
          </a:stretch>
        </p:blipFill>
        <p:spPr>
          <a:xfrm>
            <a:off x="6606540" y="4887468"/>
            <a:ext cx="228600" cy="228600"/>
          </a:xfrm>
          <a:prstGeom prst="rect">
            <a:avLst/>
          </a:prstGeom>
        </p:spPr>
      </p:pic>
      <p:sp>
        <p:nvSpPr>
          <p:cNvPr id="33" name="Text 22"/>
          <p:cNvSpPr txBox="1"/>
          <p:nvPr/>
        </p:nvSpPr>
        <p:spPr>
          <a:xfrm>
            <a:off x="7178040" y="4773168"/>
            <a:ext cx="4206240" cy="457200"/>
          </a:xfrm>
          <a:prstGeom prst="rect">
            <a:avLst/>
          </a:prstGeom>
          <a:noFill/>
          <a:ln/>
        </p:spPr>
        <p:txBody>
          <a:bodyPr wrap="square" lIns="0" tIns="0" rIns="0" bIns="0" rtlCol="0" anchor="ctr"/>
          <a:lstStyle/>
          <a:p>
            <a:pPr marL="0" indent="0">
              <a:buNone/>
            </a:pPr>
            <a:r>
              <a:rPr lang="en-US" sz="1500" dirty="0">
                <a:solidFill>
                  <a:schemeClr val="tx1"/>
                </a:solidFill>
              </a:rPr>
              <a:t>Explainable ABSA</a:t>
            </a:r>
            <a:endParaRPr lang="en-US" sz="1500" dirty="0"/>
          </a:p>
        </p:txBody>
      </p:sp>
      <p:sp>
        <p:nvSpPr>
          <p:cNvPr id="34" name="Shape 23"/>
          <p:cNvSpPr/>
          <p:nvPr/>
        </p:nvSpPr>
        <p:spPr>
          <a:xfrm>
            <a:off x="6492240" y="5440680"/>
            <a:ext cx="457200" cy="457200"/>
          </a:xfrm>
          <a:prstGeom prst="ellipse">
            <a:avLst/>
          </a:prstGeom>
          <a:solidFill>
            <a:srgbClr val="0B7A75"/>
          </a:solidFill>
          <a:ln w="12700">
            <a:solidFill>
              <a:srgbClr val="0B7A75"/>
            </a:solidFill>
            <a:prstDash val="solid"/>
          </a:ln>
        </p:spPr>
      </p:sp>
      <p:pic>
        <p:nvPicPr>
          <p:cNvPr id="35" name="Image 9" descr="FaLightbulb"/>
          <p:cNvPicPr>
            <a:picLocks noChangeAspect="1"/>
          </p:cNvPicPr>
          <p:nvPr/>
        </p:nvPicPr>
        <p:blipFill>
          <a:blip r:embed="rId4"/>
          <a:stretch>
            <a:fillRect/>
          </a:stretch>
        </p:blipFill>
        <p:spPr>
          <a:xfrm>
            <a:off x="6606540" y="5554980"/>
            <a:ext cx="228600" cy="228600"/>
          </a:xfrm>
          <a:prstGeom prst="rect">
            <a:avLst/>
          </a:prstGeom>
        </p:spPr>
      </p:pic>
      <p:sp>
        <p:nvSpPr>
          <p:cNvPr id="36" name="Text 24"/>
          <p:cNvSpPr txBox="1"/>
          <p:nvPr/>
        </p:nvSpPr>
        <p:spPr>
          <a:xfrm>
            <a:off x="7178040" y="5440680"/>
            <a:ext cx="4206240" cy="457200"/>
          </a:xfrm>
          <a:prstGeom prst="rect">
            <a:avLst/>
          </a:prstGeom>
          <a:noFill/>
          <a:ln/>
        </p:spPr>
        <p:txBody>
          <a:bodyPr wrap="square" lIns="0" tIns="0" rIns="0" bIns="0" rtlCol="0" anchor="ctr"/>
          <a:lstStyle/>
          <a:p>
            <a:pPr marL="0" indent="0">
              <a:buNone/>
            </a:pPr>
            <a:r>
              <a:rPr lang="en-US" sz="1500" dirty="0">
                <a:solidFill>
                  <a:schemeClr val="tx1"/>
                </a:solidFill>
              </a:rPr>
              <a:t>Real-time hotel review dashboard</a:t>
            </a:r>
            <a:endParaRPr lang="en-US" sz="1500" dirty="0"/>
          </a:p>
        </p:txBody>
      </p:sp>
      <p:sp>
        <p:nvSpPr>
          <p:cNvPr id="37"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7480"/>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bg1"/>
                </a:solidFill>
              </a:rPr>
              <a:t>Conclusion</a:t>
            </a:r>
            <a:endParaRPr lang="en-US" sz="3400" dirty="0"/>
          </a:p>
        </p:txBody>
      </p:sp>
      <p:sp>
        <p:nvSpPr>
          <p:cNvPr id="3" name="Shape 1"/>
          <p:cNvSpPr/>
          <p:nvPr/>
        </p:nvSpPr>
        <p:spPr>
          <a:xfrm>
            <a:off x="548640" y="1463040"/>
            <a:ext cx="5394960" cy="1600200"/>
          </a:xfrm>
          <a:prstGeom prst="roundRect">
            <a:avLst>
              <a:gd name="adj" fmla="val 4571"/>
            </a:avLst>
          </a:prstGeom>
          <a:solidFill>
            <a:srgbClr val="134F5E"/>
          </a:solidFill>
          <a:ln w="12700">
            <a:solidFill>
              <a:srgbClr val="134F5E"/>
            </a:solidFill>
            <a:prstDash val="solid"/>
          </a:ln>
        </p:spPr>
      </p:sp>
      <p:sp>
        <p:nvSpPr>
          <p:cNvPr id="4" name="Shape 2"/>
          <p:cNvSpPr/>
          <p:nvPr/>
        </p:nvSpPr>
        <p:spPr>
          <a:xfrm>
            <a:off x="777240" y="1737360"/>
            <a:ext cx="594360" cy="594360"/>
          </a:xfrm>
          <a:prstGeom prst="ellipse">
            <a:avLst/>
          </a:prstGeom>
          <a:solidFill>
            <a:srgbClr val="F2A33A"/>
          </a:solidFill>
          <a:ln w="12700">
            <a:solidFill>
              <a:srgbClr val="F2A33A"/>
            </a:solidFill>
            <a:prstDash val="solid"/>
          </a:ln>
        </p:spPr>
      </p:sp>
      <p:pic>
        <p:nvPicPr>
          <p:cNvPr id="5" name="Image 0" descr="FaProjectDiagram"/>
          <p:cNvPicPr>
            <a:picLocks noChangeAspect="1"/>
          </p:cNvPicPr>
          <p:nvPr/>
        </p:nvPicPr>
        <p:blipFill>
          <a:blip r:embed="rId3"/>
          <a:stretch>
            <a:fillRect/>
          </a:stretch>
        </p:blipFill>
        <p:spPr>
          <a:xfrm>
            <a:off x="925830" y="1885950"/>
            <a:ext cx="297180" cy="297180"/>
          </a:xfrm>
          <a:prstGeom prst="rect">
            <a:avLst/>
          </a:prstGeom>
        </p:spPr>
      </p:pic>
      <p:sp>
        <p:nvSpPr>
          <p:cNvPr id="6" name="Text 3"/>
          <p:cNvSpPr txBox="1"/>
          <p:nvPr/>
        </p:nvSpPr>
        <p:spPr>
          <a:xfrm>
            <a:off x="1600200" y="1645920"/>
            <a:ext cx="4114800" cy="365760"/>
          </a:xfrm>
          <a:prstGeom prst="rect">
            <a:avLst/>
          </a:prstGeom>
          <a:noFill/>
          <a:ln/>
        </p:spPr>
        <p:txBody>
          <a:bodyPr wrap="square" lIns="0" tIns="0" rIns="0" bIns="0" rtlCol="0" anchor="t"/>
          <a:lstStyle/>
          <a:p>
            <a:pPr marL="0" indent="0">
              <a:buNone/>
            </a:pPr>
            <a:r>
              <a:rPr lang="en-US" sz="1800" b="1" dirty="0">
                <a:solidFill>
                  <a:schemeClr val="bg1"/>
                </a:solidFill>
              </a:rPr>
              <a:t>End-to-end ABSA system</a:t>
            </a:r>
            <a:endParaRPr lang="en-US" sz="1800" dirty="0"/>
          </a:p>
        </p:txBody>
      </p:sp>
      <p:sp>
        <p:nvSpPr>
          <p:cNvPr id="7" name="Text 4"/>
          <p:cNvSpPr txBox="1"/>
          <p:nvPr/>
        </p:nvSpPr>
        <p:spPr>
          <a:xfrm>
            <a:off x="1600200" y="2057400"/>
            <a:ext cx="4114800" cy="914400"/>
          </a:xfrm>
          <a:prstGeom prst="rect">
            <a:avLst/>
          </a:prstGeom>
          <a:noFill/>
          <a:ln/>
        </p:spPr>
        <p:txBody>
          <a:bodyPr wrap="square" lIns="0" tIns="0" rIns="0" bIns="0" rtlCol="0" anchor="t"/>
          <a:lstStyle/>
          <a:p>
            <a:pPr marL="0" indent="0">
              <a:buNone/>
            </a:pPr>
            <a:r>
              <a:rPr lang="en-US" sz="1400" dirty="0">
                <a:solidFill>
                  <a:schemeClr val="bg2"/>
                </a:solidFill>
              </a:rPr>
              <a:t>TF-IDF + One-vs-Rest Linear SVM (21 aspects) + Logistic Regression (3-class sentiment).</a:t>
            </a:r>
            <a:endParaRPr lang="en-US" sz="1400" dirty="0"/>
          </a:p>
        </p:txBody>
      </p:sp>
      <p:sp>
        <p:nvSpPr>
          <p:cNvPr id="8" name="Shape 5"/>
          <p:cNvSpPr/>
          <p:nvPr/>
        </p:nvSpPr>
        <p:spPr>
          <a:xfrm>
            <a:off x="6217920" y="1463040"/>
            <a:ext cx="5394960" cy="1600200"/>
          </a:xfrm>
          <a:prstGeom prst="roundRect">
            <a:avLst>
              <a:gd name="adj" fmla="val 4571"/>
            </a:avLst>
          </a:prstGeom>
          <a:solidFill>
            <a:srgbClr val="134F5E"/>
          </a:solidFill>
          <a:ln w="12700">
            <a:solidFill>
              <a:srgbClr val="134F5E"/>
            </a:solidFill>
            <a:prstDash val="solid"/>
          </a:ln>
        </p:spPr>
      </p:sp>
      <p:sp>
        <p:nvSpPr>
          <p:cNvPr id="9" name="Shape 6"/>
          <p:cNvSpPr/>
          <p:nvPr/>
        </p:nvSpPr>
        <p:spPr>
          <a:xfrm>
            <a:off x="6446520" y="1737360"/>
            <a:ext cx="594360" cy="594360"/>
          </a:xfrm>
          <a:prstGeom prst="ellipse">
            <a:avLst/>
          </a:prstGeom>
          <a:solidFill>
            <a:srgbClr val="F2A33A"/>
          </a:solidFill>
          <a:ln w="12700">
            <a:solidFill>
              <a:srgbClr val="F2A33A"/>
            </a:solidFill>
            <a:prstDash val="solid"/>
          </a:ln>
        </p:spPr>
      </p:sp>
      <p:pic>
        <p:nvPicPr>
          <p:cNvPr id="10" name="Image 1" descr="FaTags"/>
          <p:cNvPicPr>
            <a:picLocks noChangeAspect="1"/>
          </p:cNvPicPr>
          <p:nvPr/>
        </p:nvPicPr>
        <p:blipFill>
          <a:blip r:embed="rId4"/>
          <a:stretch>
            <a:fillRect/>
          </a:stretch>
        </p:blipFill>
        <p:spPr>
          <a:xfrm>
            <a:off x="6595110" y="1885950"/>
            <a:ext cx="297180" cy="297180"/>
          </a:xfrm>
          <a:prstGeom prst="rect">
            <a:avLst/>
          </a:prstGeom>
        </p:spPr>
      </p:pic>
      <p:sp>
        <p:nvSpPr>
          <p:cNvPr id="11" name="Text 7"/>
          <p:cNvSpPr txBox="1"/>
          <p:nvPr/>
        </p:nvSpPr>
        <p:spPr>
          <a:xfrm>
            <a:off x="7269480" y="1645920"/>
            <a:ext cx="4114800" cy="365760"/>
          </a:xfrm>
          <a:prstGeom prst="rect">
            <a:avLst/>
          </a:prstGeom>
          <a:noFill/>
          <a:ln/>
        </p:spPr>
        <p:txBody>
          <a:bodyPr wrap="square" lIns="0" tIns="0" rIns="0" bIns="0" rtlCol="0" anchor="t"/>
          <a:lstStyle/>
          <a:p>
            <a:pPr marL="0" indent="0">
              <a:buNone/>
            </a:pPr>
            <a:r>
              <a:rPr lang="en-US" sz="1800" b="1" dirty="0">
                <a:solidFill>
                  <a:schemeClr val="bg1"/>
                </a:solidFill>
              </a:rPr>
              <a:t>Aspect detection</a:t>
            </a:r>
            <a:endParaRPr lang="en-US" sz="1800" dirty="0"/>
          </a:p>
        </p:txBody>
      </p:sp>
      <p:sp>
        <p:nvSpPr>
          <p:cNvPr id="12" name="Text 8"/>
          <p:cNvSpPr txBox="1"/>
          <p:nvPr/>
        </p:nvSpPr>
        <p:spPr>
          <a:xfrm>
            <a:off x="7269480" y="2057400"/>
            <a:ext cx="4114800" cy="914400"/>
          </a:xfrm>
          <a:prstGeom prst="rect">
            <a:avLst/>
          </a:prstGeom>
          <a:noFill/>
          <a:ln/>
        </p:spPr>
        <p:txBody>
          <a:bodyPr wrap="square" lIns="0" tIns="0" rIns="0" bIns="0" rtlCol="0" anchor="t"/>
          <a:lstStyle/>
          <a:p>
            <a:pPr marL="0" indent="0">
              <a:buNone/>
            </a:pPr>
            <a:r>
              <a:rPr lang="en-US" sz="1400" dirty="0">
                <a:solidFill>
                  <a:schemeClr val="bg2"/>
                </a:solidFill>
              </a:rPr>
              <a:t>Micro F1 0.8525 and Macro F1 0.8451 on unseen test data.</a:t>
            </a:r>
            <a:endParaRPr lang="en-US" sz="1400" dirty="0"/>
          </a:p>
        </p:txBody>
      </p:sp>
      <p:sp>
        <p:nvSpPr>
          <p:cNvPr id="13" name="Shape 9"/>
          <p:cNvSpPr/>
          <p:nvPr/>
        </p:nvSpPr>
        <p:spPr>
          <a:xfrm>
            <a:off x="548640" y="3246120"/>
            <a:ext cx="5394960" cy="1600200"/>
          </a:xfrm>
          <a:prstGeom prst="roundRect">
            <a:avLst>
              <a:gd name="adj" fmla="val 4571"/>
            </a:avLst>
          </a:prstGeom>
          <a:solidFill>
            <a:srgbClr val="134F5E"/>
          </a:solidFill>
          <a:ln w="12700">
            <a:solidFill>
              <a:srgbClr val="134F5E"/>
            </a:solidFill>
            <a:prstDash val="solid"/>
          </a:ln>
        </p:spPr>
      </p:sp>
      <p:sp>
        <p:nvSpPr>
          <p:cNvPr id="14" name="Shape 10"/>
          <p:cNvSpPr/>
          <p:nvPr/>
        </p:nvSpPr>
        <p:spPr>
          <a:xfrm>
            <a:off x="777240" y="3520440"/>
            <a:ext cx="594360" cy="594360"/>
          </a:xfrm>
          <a:prstGeom prst="ellipse">
            <a:avLst/>
          </a:prstGeom>
          <a:solidFill>
            <a:srgbClr val="F2A33A"/>
          </a:solidFill>
          <a:ln w="12700">
            <a:solidFill>
              <a:srgbClr val="F2A33A"/>
            </a:solidFill>
            <a:prstDash val="solid"/>
          </a:ln>
        </p:spPr>
      </p:sp>
      <p:pic>
        <p:nvPicPr>
          <p:cNvPr id="15" name="Image 2" descr="FaSmile"/>
          <p:cNvPicPr>
            <a:picLocks noChangeAspect="1"/>
          </p:cNvPicPr>
          <p:nvPr/>
        </p:nvPicPr>
        <p:blipFill>
          <a:blip r:embed="rId5"/>
          <a:stretch>
            <a:fillRect/>
          </a:stretch>
        </p:blipFill>
        <p:spPr>
          <a:xfrm>
            <a:off x="925830" y="3669030"/>
            <a:ext cx="297180" cy="297180"/>
          </a:xfrm>
          <a:prstGeom prst="rect">
            <a:avLst/>
          </a:prstGeom>
        </p:spPr>
      </p:pic>
      <p:sp>
        <p:nvSpPr>
          <p:cNvPr id="16" name="Text 11"/>
          <p:cNvSpPr txBox="1"/>
          <p:nvPr/>
        </p:nvSpPr>
        <p:spPr>
          <a:xfrm>
            <a:off x="1600200" y="3429000"/>
            <a:ext cx="4114800" cy="365760"/>
          </a:xfrm>
          <a:prstGeom prst="rect">
            <a:avLst/>
          </a:prstGeom>
          <a:noFill/>
          <a:ln/>
        </p:spPr>
        <p:txBody>
          <a:bodyPr wrap="square" lIns="0" tIns="0" rIns="0" bIns="0" rtlCol="0" anchor="t"/>
          <a:lstStyle/>
          <a:p>
            <a:pPr marL="0" indent="0">
              <a:buNone/>
            </a:pPr>
            <a:r>
              <a:rPr lang="en-US" sz="1800" b="1" dirty="0">
                <a:solidFill>
                  <a:schemeClr val="bg1"/>
                </a:solidFill>
              </a:rPr>
              <a:t>Sentiment classification</a:t>
            </a:r>
            <a:endParaRPr lang="en-US" sz="1800" dirty="0"/>
          </a:p>
        </p:txBody>
      </p:sp>
      <p:sp>
        <p:nvSpPr>
          <p:cNvPr id="17" name="Text 12"/>
          <p:cNvSpPr txBox="1"/>
          <p:nvPr/>
        </p:nvSpPr>
        <p:spPr>
          <a:xfrm>
            <a:off x="1600200" y="3840480"/>
            <a:ext cx="4114800" cy="914400"/>
          </a:xfrm>
          <a:prstGeom prst="rect">
            <a:avLst/>
          </a:prstGeom>
          <a:noFill/>
          <a:ln/>
        </p:spPr>
        <p:txBody>
          <a:bodyPr wrap="square" lIns="0" tIns="0" rIns="0" bIns="0" rtlCol="0" anchor="t"/>
          <a:lstStyle/>
          <a:p>
            <a:pPr marL="0" indent="0">
              <a:buNone/>
            </a:pPr>
            <a:r>
              <a:rPr lang="en-US" sz="1400" dirty="0">
                <a:solidFill>
                  <a:schemeClr val="bg2"/>
                </a:solidFill>
              </a:rPr>
              <a:t>89.04% accuracy, 0.8981 weighted F1; Neutral threshold 0.44, Neutral F1 0.2420.</a:t>
            </a:r>
            <a:endParaRPr lang="en-US" sz="1400" dirty="0"/>
          </a:p>
        </p:txBody>
      </p:sp>
      <p:sp>
        <p:nvSpPr>
          <p:cNvPr id="18" name="Shape 13"/>
          <p:cNvSpPr/>
          <p:nvPr/>
        </p:nvSpPr>
        <p:spPr>
          <a:xfrm>
            <a:off x="6217920" y="3246120"/>
            <a:ext cx="5394960" cy="1600200"/>
          </a:xfrm>
          <a:prstGeom prst="roundRect">
            <a:avLst>
              <a:gd name="adj" fmla="val 4571"/>
            </a:avLst>
          </a:prstGeom>
          <a:solidFill>
            <a:srgbClr val="134F5E"/>
          </a:solidFill>
          <a:ln w="12700">
            <a:solidFill>
              <a:srgbClr val="134F5E"/>
            </a:solidFill>
            <a:prstDash val="solid"/>
          </a:ln>
        </p:spPr>
      </p:sp>
      <p:sp>
        <p:nvSpPr>
          <p:cNvPr id="19" name="Shape 14"/>
          <p:cNvSpPr/>
          <p:nvPr/>
        </p:nvSpPr>
        <p:spPr>
          <a:xfrm>
            <a:off x="6446520" y="3520440"/>
            <a:ext cx="594360" cy="594360"/>
          </a:xfrm>
          <a:prstGeom prst="ellipse">
            <a:avLst/>
          </a:prstGeom>
          <a:solidFill>
            <a:srgbClr val="F2A33A"/>
          </a:solidFill>
          <a:ln w="12700">
            <a:solidFill>
              <a:srgbClr val="F2A33A"/>
            </a:solidFill>
            <a:prstDash val="solid"/>
          </a:ln>
        </p:spPr>
      </p:sp>
      <p:pic>
        <p:nvPicPr>
          <p:cNvPr id="20" name="Image 3" descr="FaLayerGroup"/>
          <p:cNvPicPr>
            <a:picLocks noChangeAspect="1"/>
          </p:cNvPicPr>
          <p:nvPr/>
        </p:nvPicPr>
        <p:blipFill>
          <a:blip r:embed="rId6"/>
          <a:stretch>
            <a:fillRect/>
          </a:stretch>
        </p:blipFill>
        <p:spPr>
          <a:xfrm>
            <a:off x="6595110" y="3669030"/>
            <a:ext cx="297180" cy="297180"/>
          </a:xfrm>
          <a:prstGeom prst="rect">
            <a:avLst/>
          </a:prstGeom>
        </p:spPr>
      </p:pic>
      <p:sp>
        <p:nvSpPr>
          <p:cNvPr id="21" name="Text 15"/>
          <p:cNvSpPr txBox="1"/>
          <p:nvPr/>
        </p:nvSpPr>
        <p:spPr>
          <a:xfrm>
            <a:off x="7269480" y="3429000"/>
            <a:ext cx="4114800" cy="365760"/>
          </a:xfrm>
          <a:prstGeom prst="rect">
            <a:avLst/>
          </a:prstGeom>
          <a:noFill/>
          <a:ln/>
        </p:spPr>
        <p:txBody>
          <a:bodyPr wrap="square" lIns="0" tIns="0" rIns="0" bIns="0" rtlCol="0" anchor="t"/>
          <a:lstStyle/>
          <a:p>
            <a:pPr marL="0" indent="0">
              <a:buNone/>
            </a:pPr>
            <a:r>
              <a:rPr lang="en-US" sz="1800" b="1" dirty="0">
                <a:solidFill>
                  <a:schemeClr val="bg1"/>
                </a:solidFill>
              </a:rPr>
              <a:t>Aspect-level sentiment</a:t>
            </a:r>
            <a:endParaRPr lang="en-US" sz="1800" dirty="0"/>
          </a:p>
        </p:txBody>
      </p:sp>
      <p:sp>
        <p:nvSpPr>
          <p:cNvPr id="22" name="Text 16"/>
          <p:cNvSpPr txBox="1"/>
          <p:nvPr/>
        </p:nvSpPr>
        <p:spPr>
          <a:xfrm>
            <a:off x="7269480" y="3840480"/>
            <a:ext cx="4114800" cy="914400"/>
          </a:xfrm>
          <a:prstGeom prst="rect">
            <a:avLst/>
          </a:prstGeom>
          <a:noFill/>
          <a:ln/>
        </p:spPr>
        <p:txBody>
          <a:bodyPr wrap="square" lIns="0" tIns="0" rIns="0" bIns="0" rtlCol="0" anchor="t"/>
          <a:lstStyle/>
          <a:p>
            <a:pPr marL="0" indent="0">
              <a:buNone/>
            </a:pPr>
            <a:r>
              <a:rPr lang="en-US" sz="1400" dirty="0">
                <a:solidFill>
                  <a:schemeClr val="bg2"/>
                </a:solidFill>
              </a:rPr>
              <a:t>Local context gives different sentiments for different aspects in one review.</a:t>
            </a:r>
            <a:endParaRPr lang="en-US" sz="1400" dirty="0"/>
          </a:p>
        </p:txBody>
      </p:sp>
      <p:sp>
        <p:nvSpPr>
          <p:cNvPr id="23" name="Text 17"/>
          <p:cNvSpPr txBox="1"/>
          <p:nvPr/>
        </p:nvSpPr>
        <p:spPr>
          <a:xfrm>
            <a:off x="548640" y="5257800"/>
            <a:ext cx="11064240" cy="640080"/>
          </a:xfrm>
          <a:prstGeom prst="rect">
            <a:avLst/>
          </a:prstGeom>
          <a:noFill/>
          <a:ln/>
        </p:spPr>
        <p:txBody>
          <a:bodyPr wrap="square" lIns="0" tIns="0" rIns="0" bIns="0" rtlCol="0" anchor="ctr"/>
          <a:lstStyle/>
          <a:p>
            <a:pPr marL="0" indent="0">
              <a:buNone/>
            </a:pPr>
            <a:r>
              <a:rPr lang="en-US" sz="1800" i="1" dirty="0">
                <a:solidFill>
                  <a:schemeClr val="accent2"/>
                </a:solidFill>
              </a:rPr>
              <a:t>Practical value: turns unstructured hotel reviews into structured insight for customers and hotel management.</a:t>
            </a:r>
            <a:endParaRPr lang="en-US" sz="1800" dirty="0"/>
          </a:p>
        </p:txBody>
      </p:sp>
      <p:sp>
        <p:nvSpPr>
          <p:cNvPr id="24" name="Text 18"/>
          <p:cNvSpPr txBox="1"/>
          <p:nvPr/>
        </p:nvSpPr>
        <p:spPr>
          <a:xfrm>
            <a:off x="548640" y="5943600"/>
            <a:ext cx="5486400" cy="365760"/>
          </a:xfrm>
          <a:prstGeom prst="rect">
            <a:avLst/>
          </a:prstGeom>
          <a:noFill/>
          <a:ln/>
        </p:spPr>
        <p:txBody>
          <a:bodyPr wrap="square" lIns="0" tIns="0" rIns="0" bIns="0" rtlCol="0" anchor="t"/>
          <a:lstStyle/>
          <a:p>
            <a:pPr marL="0" indent="0">
              <a:buNone/>
            </a:pPr>
            <a:r>
              <a:rPr lang="en-US" sz="1600" b="1" dirty="0">
                <a:solidFill>
                  <a:schemeClr val="bg1"/>
                </a:solidFill>
              </a:rPr>
              <a:t>Thank you  ·  Questions?</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FC1C0"/>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Backup: Additional EDA</a:t>
            </a:r>
            <a:endParaRPr lang="en-US" sz="3400" dirty="0"/>
          </a:p>
        </p:txBody>
      </p:sp>
      <p:sp>
        <p:nvSpPr>
          <p:cNvPr id="3" name="Shape 1"/>
          <p:cNvSpPr/>
          <p:nvPr/>
        </p:nvSpPr>
        <p:spPr>
          <a:xfrm>
            <a:off x="10241280" y="502920"/>
            <a:ext cx="1371600" cy="347472"/>
          </a:xfrm>
          <a:prstGeom prst="roundRect">
            <a:avLst>
              <a:gd name="adj" fmla="val 131579"/>
            </a:avLst>
          </a:prstGeom>
          <a:solidFill>
            <a:srgbClr val="F2A33A"/>
          </a:solidFill>
          <a:ln w="12700">
            <a:solidFill>
              <a:srgbClr val="F2A33A"/>
            </a:solidFill>
            <a:prstDash val="solid"/>
          </a:ln>
        </p:spPr>
      </p:sp>
      <p:sp>
        <p:nvSpPr>
          <p:cNvPr id="4" name="Text 2"/>
          <p:cNvSpPr txBox="1"/>
          <p:nvPr/>
        </p:nvSpPr>
        <p:spPr>
          <a:xfrm>
            <a:off x="10241280" y="502920"/>
            <a:ext cx="1371600" cy="347472"/>
          </a:xfrm>
          <a:prstGeom prst="rect">
            <a:avLst/>
          </a:prstGeom>
          <a:noFill/>
          <a:ln/>
        </p:spPr>
        <p:txBody>
          <a:bodyPr wrap="square" lIns="0" tIns="0" rIns="0" bIns="0" rtlCol="0" anchor="ctr"/>
          <a:lstStyle/>
          <a:p>
            <a:pPr marL="0" indent="0" algn="ctr">
              <a:buNone/>
            </a:pPr>
            <a:r>
              <a:rPr lang="en-US" sz="1200" b="1" dirty="0">
                <a:solidFill>
                  <a:schemeClr val="tx2"/>
                </a:solidFill>
              </a:rPr>
              <a:t>BACKUP</a:t>
            </a:r>
            <a:endParaRPr lang="en-US" sz="1200" dirty="0"/>
          </a:p>
        </p:txBody>
      </p:sp>
      <p:sp>
        <p:nvSpPr>
          <p:cNvPr id="5" name="Shape 3"/>
          <p:cNvSpPr/>
          <p:nvPr/>
        </p:nvSpPr>
        <p:spPr>
          <a:xfrm>
            <a:off x="548640" y="1371600"/>
            <a:ext cx="5760720" cy="4846320"/>
          </a:xfrm>
          <a:prstGeom prst="roundRect">
            <a:avLst>
              <a:gd name="adj" fmla="val 1509"/>
            </a:avLst>
          </a:prstGeom>
          <a:solidFill>
            <a:schemeClr val="bg2"/>
          </a:solidFill>
          <a:ln w="12700">
            <a:solidFill>
              <a:schemeClr val="bg2"/>
            </a:solidFill>
            <a:prstDash val="solid"/>
          </a:ln>
        </p:spPr>
      </p:sp>
      <p:pic>
        <p:nvPicPr>
          <p:cNvPr id="6" name="Image 0" descr="Aspect co-occurrence matrix"/>
          <p:cNvPicPr>
            <a:picLocks noChangeAspect="1"/>
          </p:cNvPicPr>
          <p:nvPr/>
        </p:nvPicPr>
        <p:blipFill>
          <a:blip r:embed="rId3"/>
          <a:stretch>
            <a:fillRect/>
          </a:stretch>
        </p:blipFill>
        <p:spPr>
          <a:xfrm>
            <a:off x="1010983" y="1463040"/>
            <a:ext cx="4836034" cy="4206240"/>
          </a:xfrm>
          <a:prstGeom prst="rect">
            <a:avLst/>
          </a:prstGeom>
        </p:spPr>
      </p:pic>
      <p:sp>
        <p:nvSpPr>
          <p:cNvPr id="7" name="Text 4"/>
          <p:cNvSpPr txBox="1"/>
          <p:nvPr/>
        </p:nvSpPr>
        <p:spPr>
          <a:xfrm>
            <a:off x="777240" y="5760720"/>
            <a:ext cx="5303520" cy="365760"/>
          </a:xfrm>
          <a:prstGeom prst="rect">
            <a:avLst/>
          </a:prstGeom>
          <a:noFill/>
          <a:ln/>
        </p:spPr>
        <p:txBody>
          <a:bodyPr wrap="square" lIns="0" tIns="0" rIns="0" bIns="0" rtlCol="0" anchor="t"/>
          <a:lstStyle/>
          <a:p>
            <a:pPr marL="0" indent="0">
              <a:buNone/>
            </a:pPr>
            <a:r>
              <a:rPr lang="en-US" sz="1200" dirty="0">
                <a:solidFill>
                  <a:schemeClr val="accent5"/>
                </a:solidFill>
              </a:rPr>
              <a:t>Darker diagonal cells = more frequent aspects (Room, Location, Staff).</a:t>
            </a:r>
            <a:endParaRPr lang="en-US" sz="1200" dirty="0"/>
          </a:p>
        </p:txBody>
      </p:sp>
      <p:sp>
        <p:nvSpPr>
          <p:cNvPr id="8" name="Shape 5"/>
          <p:cNvSpPr/>
          <p:nvPr/>
        </p:nvSpPr>
        <p:spPr>
          <a:xfrm>
            <a:off x="6583680" y="1371600"/>
            <a:ext cx="5029200" cy="2331720"/>
          </a:xfrm>
          <a:prstGeom prst="roundRect">
            <a:avLst>
              <a:gd name="adj" fmla="val 3137"/>
            </a:avLst>
          </a:prstGeom>
          <a:solidFill>
            <a:schemeClr val="bg2"/>
          </a:solidFill>
          <a:ln w="12700">
            <a:solidFill>
              <a:schemeClr val="bg2"/>
            </a:solidFill>
            <a:prstDash val="solid"/>
          </a:ln>
        </p:spPr>
      </p:sp>
      <p:pic>
        <p:nvPicPr>
          <p:cNvPr id="9" name="Image 1" descr="Distribution of review length"/>
          <p:cNvPicPr>
            <a:picLocks noChangeAspect="1"/>
          </p:cNvPicPr>
          <p:nvPr/>
        </p:nvPicPr>
        <p:blipFill>
          <a:blip r:embed="rId4"/>
          <a:stretch>
            <a:fillRect/>
          </a:stretch>
        </p:blipFill>
        <p:spPr>
          <a:xfrm>
            <a:off x="7762867" y="1417320"/>
            <a:ext cx="2670826" cy="1783080"/>
          </a:xfrm>
          <a:prstGeom prst="rect">
            <a:avLst/>
          </a:prstGeom>
        </p:spPr>
      </p:pic>
      <p:sp>
        <p:nvSpPr>
          <p:cNvPr id="10" name="Text 6"/>
          <p:cNvSpPr txBox="1"/>
          <p:nvPr/>
        </p:nvSpPr>
        <p:spPr>
          <a:xfrm>
            <a:off x="6812280" y="3291840"/>
            <a:ext cx="4572000" cy="320040"/>
          </a:xfrm>
          <a:prstGeom prst="rect">
            <a:avLst/>
          </a:prstGeom>
          <a:noFill/>
          <a:ln/>
        </p:spPr>
        <p:txBody>
          <a:bodyPr wrap="square" lIns="0" tIns="0" rIns="0" bIns="0" rtlCol="0" anchor="t"/>
          <a:lstStyle/>
          <a:p>
            <a:pPr marL="0" indent="0">
              <a:buNone/>
            </a:pPr>
            <a:r>
              <a:rPr lang="en-US" sz="1200" dirty="0">
                <a:solidFill>
                  <a:schemeClr val="accent5"/>
                </a:solidFill>
              </a:rPr>
              <a:t>Reviews are short: about 10.3 words on average.</a:t>
            </a:r>
            <a:endParaRPr lang="en-US" sz="1200" dirty="0"/>
          </a:p>
        </p:txBody>
      </p:sp>
      <p:sp>
        <p:nvSpPr>
          <p:cNvPr id="11" name="Shape 7"/>
          <p:cNvSpPr/>
          <p:nvPr/>
        </p:nvSpPr>
        <p:spPr>
          <a:xfrm>
            <a:off x="6583680" y="3886200"/>
            <a:ext cx="5029200" cy="2331720"/>
          </a:xfrm>
          <a:prstGeom prst="roundRect">
            <a:avLst>
              <a:gd name="adj" fmla="val 3137"/>
            </a:avLst>
          </a:prstGeom>
          <a:solidFill>
            <a:schemeClr val="bg2"/>
          </a:solidFill>
          <a:ln w="12700">
            <a:solidFill>
              <a:schemeClr val="bg2"/>
            </a:solidFill>
            <a:prstDash val="solid"/>
          </a:ln>
        </p:spPr>
      </p:sp>
      <p:pic>
        <p:nvPicPr>
          <p:cNvPr id="12" name="Image 2" descr="Top 20 most frequent words"/>
          <p:cNvPicPr>
            <a:picLocks noChangeAspect="1"/>
          </p:cNvPicPr>
          <p:nvPr/>
        </p:nvPicPr>
        <p:blipFill>
          <a:blip r:embed="rId5"/>
          <a:stretch>
            <a:fillRect/>
          </a:stretch>
        </p:blipFill>
        <p:spPr>
          <a:xfrm>
            <a:off x="7603817" y="3931920"/>
            <a:ext cx="2988926" cy="1783080"/>
          </a:xfrm>
          <a:prstGeom prst="rect">
            <a:avLst/>
          </a:prstGeom>
        </p:spPr>
      </p:pic>
      <p:sp>
        <p:nvSpPr>
          <p:cNvPr id="13" name="Text 8"/>
          <p:cNvSpPr txBox="1"/>
          <p:nvPr/>
        </p:nvSpPr>
        <p:spPr>
          <a:xfrm>
            <a:off x="6812280" y="5806440"/>
            <a:ext cx="4572000" cy="320040"/>
          </a:xfrm>
          <a:prstGeom prst="rect">
            <a:avLst/>
          </a:prstGeom>
          <a:noFill/>
          <a:ln/>
        </p:spPr>
        <p:txBody>
          <a:bodyPr wrap="square" lIns="0" tIns="0" rIns="0" bIns="0" rtlCol="0" anchor="t"/>
          <a:lstStyle/>
          <a:p>
            <a:pPr marL="0" indent="0">
              <a:buNone/>
            </a:pPr>
            <a:r>
              <a:rPr lang="en-US" sz="1200" dirty="0">
                <a:solidFill>
                  <a:schemeClr val="accent5"/>
                </a:solidFill>
              </a:rPr>
              <a:t>Most frequent words: room, location, staff, breakfast.</a:t>
            </a:r>
            <a:endParaRPr lang="en-US" sz="12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7480"/>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Backup: Sentiment Confusion Matrices</a:t>
            </a:r>
            <a:endParaRPr lang="en-US" sz="3400" dirty="0"/>
          </a:p>
        </p:txBody>
      </p:sp>
      <p:sp>
        <p:nvSpPr>
          <p:cNvPr id="3" name="Shape 1"/>
          <p:cNvSpPr/>
          <p:nvPr/>
        </p:nvSpPr>
        <p:spPr>
          <a:xfrm>
            <a:off x="10241280" y="502920"/>
            <a:ext cx="1371600" cy="347472"/>
          </a:xfrm>
          <a:prstGeom prst="roundRect">
            <a:avLst>
              <a:gd name="adj" fmla="val 131579"/>
            </a:avLst>
          </a:prstGeom>
          <a:solidFill>
            <a:srgbClr val="F2A33A"/>
          </a:solidFill>
          <a:ln w="12700">
            <a:solidFill>
              <a:srgbClr val="F2A33A"/>
            </a:solidFill>
            <a:prstDash val="solid"/>
          </a:ln>
        </p:spPr>
      </p:sp>
      <p:sp>
        <p:nvSpPr>
          <p:cNvPr id="4" name="Text 2"/>
          <p:cNvSpPr txBox="1"/>
          <p:nvPr/>
        </p:nvSpPr>
        <p:spPr>
          <a:xfrm>
            <a:off x="10241280" y="502920"/>
            <a:ext cx="1371600" cy="347472"/>
          </a:xfrm>
          <a:prstGeom prst="rect">
            <a:avLst/>
          </a:prstGeom>
          <a:noFill/>
          <a:ln/>
        </p:spPr>
        <p:txBody>
          <a:bodyPr wrap="square" lIns="0" tIns="0" rIns="0" bIns="0" rtlCol="0" anchor="ctr"/>
          <a:lstStyle/>
          <a:p>
            <a:pPr marL="0" indent="0" algn="ctr">
              <a:buNone/>
            </a:pPr>
            <a:r>
              <a:rPr lang="en-US" sz="1200" b="1" dirty="0">
                <a:solidFill>
                  <a:schemeClr val="tx2"/>
                </a:solidFill>
              </a:rPr>
              <a:t>BACKUP</a:t>
            </a:r>
            <a:endParaRPr lang="en-US" sz="1200" dirty="0"/>
          </a:p>
        </p:txBody>
      </p:sp>
      <p:sp>
        <p:nvSpPr>
          <p:cNvPr id="5" name="Shape 3"/>
          <p:cNvSpPr/>
          <p:nvPr/>
        </p:nvSpPr>
        <p:spPr>
          <a:xfrm>
            <a:off x="548640" y="1371600"/>
            <a:ext cx="5394960" cy="3840480"/>
          </a:xfrm>
          <a:prstGeom prst="roundRect">
            <a:avLst>
              <a:gd name="adj" fmla="val 1905"/>
            </a:avLst>
          </a:prstGeom>
          <a:solidFill>
            <a:schemeClr val="bg2"/>
          </a:solidFill>
          <a:ln w="12700">
            <a:solidFill>
              <a:schemeClr val="bg2"/>
            </a:solidFill>
            <a:prstDash val="solid"/>
          </a:ln>
        </p:spPr>
      </p:sp>
      <p:sp>
        <p:nvSpPr>
          <p:cNvPr id="6" name="Text 4"/>
          <p:cNvSpPr txBox="1"/>
          <p:nvPr/>
        </p:nvSpPr>
        <p:spPr>
          <a:xfrm>
            <a:off x="777240" y="1463040"/>
            <a:ext cx="4937760" cy="320040"/>
          </a:xfrm>
          <a:prstGeom prst="rect">
            <a:avLst/>
          </a:prstGeom>
          <a:noFill/>
          <a:ln/>
        </p:spPr>
        <p:txBody>
          <a:bodyPr wrap="square" lIns="0" tIns="0" rIns="0" bIns="0" rtlCol="0" anchor="t"/>
          <a:lstStyle/>
          <a:p>
            <a:pPr marL="0" indent="0">
              <a:buNone/>
            </a:pPr>
            <a:r>
              <a:rPr lang="en-US" sz="1600" b="1" dirty="0">
                <a:solidFill>
                  <a:schemeClr val="tx2"/>
                </a:solidFill>
              </a:rPr>
              <a:t>Test set</a:t>
            </a:r>
            <a:endParaRPr lang="en-US" sz="1600" dirty="0"/>
          </a:p>
        </p:txBody>
      </p:sp>
      <p:pic>
        <p:nvPicPr>
          <p:cNvPr id="7" name="Image 0" descr="Test set confusion matrix"/>
          <p:cNvPicPr>
            <a:picLocks noChangeAspect="1"/>
          </p:cNvPicPr>
          <p:nvPr/>
        </p:nvPicPr>
        <p:blipFill>
          <a:blip r:embed="rId3"/>
          <a:stretch>
            <a:fillRect/>
          </a:stretch>
        </p:blipFill>
        <p:spPr>
          <a:xfrm>
            <a:off x="1215568" y="1828800"/>
            <a:ext cx="4061103" cy="3246120"/>
          </a:xfrm>
          <a:prstGeom prst="rect">
            <a:avLst/>
          </a:prstGeom>
        </p:spPr>
      </p:pic>
      <p:sp>
        <p:nvSpPr>
          <p:cNvPr id="8" name="Shape 5"/>
          <p:cNvSpPr/>
          <p:nvPr/>
        </p:nvSpPr>
        <p:spPr>
          <a:xfrm>
            <a:off x="6217920" y="1371600"/>
            <a:ext cx="5394960" cy="3840480"/>
          </a:xfrm>
          <a:prstGeom prst="roundRect">
            <a:avLst>
              <a:gd name="adj" fmla="val 1905"/>
            </a:avLst>
          </a:prstGeom>
          <a:solidFill>
            <a:schemeClr val="bg2"/>
          </a:solidFill>
          <a:ln w="12700">
            <a:solidFill>
              <a:schemeClr val="bg2"/>
            </a:solidFill>
            <a:prstDash val="solid"/>
          </a:ln>
        </p:spPr>
      </p:sp>
      <p:sp>
        <p:nvSpPr>
          <p:cNvPr id="9" name="Text 6"/>
          <p:cNvSpPr txBox="1"/>
          <p:nvPr/>
        </p:nvSpPr>
        <p:spPr>
          <a:xfrm>
            <a:off x="6446520" y="1463040"/>
            <a:ext cx="4937760" cy="320040"/>
          </a:xfrm>
          <a:prstGeom prst="rect">
            <a:avLst/>
          </a:prstGeom>
          <a:noFill/>
          <a:ln/>
        </p:spPr>
        <p:txBody>
          <a:bodyPr wrap="square" lIns="0" tIns="0" rIns="0" bIns="0" rtlCol="0" anchor="t"/>
          <a:lstStyle/>
          <a:p>
            <a:pPr marL="0" indent="0">
              <a:buNone/>
            </a:pPr>
            <a:r>
              <a:rPr lang="en-US" sz="1600" b="1" dirty="0">
                <a:solidFill>
                  <a:schemeClr val="tx2"/>
                </a:solidFill>
              </a:rPr>
              <a:t>Validation set</a:t>
            </a:r>
            <a:endParaRPr lang="en-US" sz="1600" dirty="0"/>
          </a:p>
        </p:txBody>
      </p:sp>
      <p:pic>
        <p:nvPicPr>
          <p:cNvPr id="10" name="Image 1" descr="Validation set confusion matrix"/>
          <p:cNvPicPr>
            <a:picLocks noChangeAspect="1"/>
          </p:cNvPicPr>
          <p:nvPr/>
        </p:nvPicPr>
        <p:blipFill>
          <a:blip r:embed="rId4"/>
          <a:stretch>
            <a:fillRect/>
          </a:stretch>
        </p:blipFill>
        <p:spPr>
          <a:xfrm>
            <a:off x="6725925" y="1828800"/>
            <a:ext cx="4378950" cy="3246120"/>
          </a:xfrm>
          <a:prstGeom prst="rect">
            <a:avLst/>
          </a:prstGeom>
        </p:spPr>
      </p:pic>
      <p:sp>
        <p:nvSpPr>
          <p:cNvPr id="11" name="Shape 7"/>
          <p:cNvSpPr/>
          <p:nvPr/>
        </p:nvSpPr>
        <p:spPr>
          <a:xfrm>
            <a:off x="548640" y="5440680"/>
            <a:ext cx="11064240" cy="777240"/>
          </a:xfrm>
          <a:prstGeom prst="roundRect">
            <a:avLst>
              <a:gd name="adj" fmla="val 9412"/>
            </a:avLst>
          </a:prstGeom>
          <a:solidFill>
            <a:srgbClr val="FDF0DA"/>
          </a:solidFill>
          <a:ln w="12700">
            <a:solidFill>
              <a:srgbClr val="FDF0DA"/>
            </a:solidFill>
            <a:prstDash val="solid"/>
          </a:ln>
        </p:spPr>
      </p:sp>
      <p:sp>
        <p:nvSpPr>
          <p:cNvPr id="12" name="Text 8"/>
          <p:cNvSpPr txBox="1"/>
          <p:nvPr/>
        </p:nvSpPr>
        <p:spPr>
          <a:xfrm>
            <a:off x="822960" y="5440680"/>
            <a:ext cx="10515600" cy="777240"/>
          </a:xfrm>
          <a:prstGeom prst="rect">
            <a:avLst/>
          </a:prstGeom>
          <a:noFill/>
          <a:ln/>
        </p:spPr>
        <p:txBody>
          <a:bodyPr wrap="square" lIns="0" tIns="0" rIns="0" bIns="0" rtlCol="0" anchor="ctr"/>
          <a:lstStyle/>
          <a:p>
            <a:pPr marL="0" indent="0">
              <a:buNone/>
            </a:pPr>
            <a:r>
              <a:rPr lang="en-US" sz="1600" b="1" dirty="0">
                <a:solidFill>
                  <a:schemeClr val="tx2"/>
                </a:solidFill>
              </a:rPr>
              <a:t>Neutral is confused with Negative and Positive: </a:t>
            </a:r>
            <a:r>
              <a:rPr lang="en-US" sz="1600" dirty="0">
                <a:solidFill>
                  <a:schemeClr val="tx2"/>
                </a:solidFill>
              </a:rPr>
              <a:t>in the test set only 38 of 119 Neutral reviews are predicted correctly.</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7480"/>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Backup: Overall Final Model Performance</a:t>
            </a:r>
            <a:endParaRPr lang="en-US" sz="3400" dirty="0"/>
          </a:p>
        </p:txBody>
      </p:sp>
      <p:sp>
        <p:nvSpPr>
          <p:cNvPr id="3" name="Shape 1"/>
          <p:cNvSpPr/>
          <p:nvPr/>
        </p:nvSpPr>
        <p:spPr>
          <a:xfrm>
            <a:off x="10241280" y="502920"/>
            <a:ext cx="1371600" cy="347472"/>
          </a:xfrm>
          <a:prstGeom prst="roundRect">
            <a:avLst>
              <a:gd name="adj" fmla="val 131579"/>
            </a:avLst>
          </a:prstGeom>
          <a:solidFill>
            <a:srgbClr val="F2A33A"/>
          </a:solidFill>
          <a:ln w="12700">
            <a:solidFill>
              <a:srgbClr val="F2A33A"/>
            </a:solidFill>
            <a:prstDash val="solid"/>
          </a:ln>
        </p:spPr>
      </p:sp>
      <p:sp>
        <p:nvSpPr>
          <p:cNvPr id="4" name="Text 2"/>
          <p:cNvSpPr txBox="1"/>
          <p:nvPr/>
        </p:nvSpPr>
        <p:spPr>
          <a:xfrm>
            <a:off x="10241280" y="502920"/>
            <a:ext cx="1371600" cy="347472"/>
          </a:xfrm>
          <a:prstGeom prst="rect">
            <a:avLst/>
          </a:prstGeom>
          <a:noFill/>
          <a:ln/>
        </p:spPr>
        <p:txBody>
          <a:bodyPr wrap="square" lIns="0" tIns="0" rIns="0" bIns="0" rtlCol="0" anchor="ctr"/>
          <a:lstStyle/>
          <a:p>
            <a:pPr marL="0" indent="0" algn="ctr">
              <a:buNone/>
            </a:pPr>
            <a:r>
              <a:rPr lang="en-US" sz="1200" b="1" dirty="0">
                <a:solidFill>
                  <a:schemeClr val="tx2"/>
                </a:solidFill>
              </a:rPr>
              <a:t>BACKUP</a:t>
            </a:r>
            <a:endParaRPr lang="en-US" sz="1200" dirty="0"/>
          </a:p>
        </p:txBody>
      </p:sp>
      <p:sp>
        <p:nvSpPr>
          <p:cNvPr id="5" name="Shape 3"/>
          <p:cNvSpPr/>
          <p:nvPr/>
        </p:nvSpPr>
        <p:spPr>
          <a:xfrm>
            <a:off x="548640" y="1371600"/>
            <a:ext cx="7223760" cy="4846320"/>
          </a:xfrm>
          <a:prstGeom prst="roundRect">
            <a:avLst>
              <a:gd name="adj" fmla="val 1509"/>
            </a:avLst>
          </a:prstGeom>
          <a:solidFill>
            <a:schemeClr val="bg2"/>
          </a:solidFill>
          <a:ln w="12700">
            <a:solidFill>
              <a:schemeClr val="bg2"/>
            </a:solidFill>
            <a:prstDash val="solid"/>
          </a:ln>
        </p:spPr>
      </p:sp>
      <p:pic>
        <p:nvPicPr>
          <p:cNvPr id="6" name="Image 0" descr="Overall final model performance"/>
          <p:cNvPicPr>
            <a:picLocks noChangeAspect="1"/>
          </p:cNvPicPr>
          <p:nvPr/>
        </p:nvPicPr>
        <p:blipFill>
          <a:blip r:embed="rId3"/>
          <a:stretch>
            <a:fillRect/>
          </a:stretch>
        </p:blipFill>
        <p:spPr>
          <a:xfrm>
            <a:off x="685800" y="2073210"/>
            <a:ext cx="6949440" cy="3443100"/>
          </a:xfrm>
          <a:prstGeom prst="rect">
            <a:avLst/>
          </a:prstGeom>
        </p:spPr>
      </p:pic>
      <p:sp>
        <p:nvSpPr>
          <p:cNvPr id="7" name="Shape 4"/>
          <p:cNvSpPr/>
          <p:nvPr/>
        </p:nvSpPr>
        <p:spPr>
          <a:xfrm>
            <a:off x="8046720" y="1371600"/>
            <a:ext cx="3566160" cy="4846320"/>
          </a:xfrm>
          <a:prstGeom prst="roundRect">
            <a:avLst>
              <a:gd name="adj" fmla="val 2051"/>
            </a:avLst>
          </a:prstGeom>
          <a:solidFill>
            <a:schemeClr val="bg2"/>
          </a:solidFill>
          <a:ln w="12700">
            <a:solidFill>
              <a:schemeClr val="bg2"/>
            </a:solidFill>
            <a:prstDash val="solid"/>
          </a:ln>
        </p:spPr>
      </p:sp>
      <p:sp>
        <p:nvSpPr>
          <p:cNvPr id="8" name="Text 5"/>
          <p:cNvSpPr txBox="1"/>
          <p:nvPr/>
        </p:nvSpPr>
        <p:spPr>
          <a:xfrm>
            <a:off x="8275320" y="1508760"/>
            <a:ext cx="3108960" cy="365760"/>
          </a:xfrm>
          <a:prstGeom prst="rect">
            <a:avLst/>
          </a:prstGeom>
          <a:noFill/>
          <a:ln/>
        </p:spPr>
        <p:txBody>
          <a:bodyPr wrap="square" lIns="0" tIns="0" rIns="0" bIns="0" rtlCol="0" anchor="t"/>
          <a:lstStyle/>
          <a:p>
            <a:pPr marL="0" indent="0">
              <a:buNone/>
            </a:pPr>
            <a:r>
              <a:rPr lang="en-US" sz="1600" b="1" dirty="0">
                <a:solidFill>
                  <a:schemeClr val="accent1"/>
                </a:solidFill>
              </a:rPr>
              <a:t>Aspect detection</a:t>
            </a:r>
            <a:endParaRPr lang="en-US" sz="1600" dirty="0"/>
          </a:p>
        </p:txBody>
      </p:sp>
      <p:sp>
        <p:nvSpPr>
          <p:cNvPr id="9" name="Text 6"/>
          <p:cNvSpPr txBox="1"/>
          <p:nvPr/>
        </p:nvSpPr>
        <p:spPr>
          <a:xfrm>
            <a:off x="8275320" y="1965960"/>
            <a:ext cx="1828800" cy="365760"/>
          </a:xfrm>
          <a:prstGeom prst="rect">
            <a:avLst/>
          </a:prstGeom>
          <a:noFill/>
          <a:ln/>
        </p:spPr>
        <p:txBody>
          <a:bodyPr wrap="square" lIns="0" tIns="0" rIns="0" bIns="0" rtlCol="0" anchor="t"/>
          <a:lstStyle/>
          <a:p>
            <a:pPr marL="0" indent="0">
              <a:buNone/>
            </a:pPr>
            <a:r>
              <a:rPr lang="en-US" sz="1400" dirty="0">
                <a:solidFill>
                  <a:schemeClr val="tx1"/>
                </a:solidFill>
              </a:rPr>
              <a:t>Micro F1</a:t>
            </a:r>
            <a:endParaRPr lang="en-US" sz="1400" dirty="0"/>
          </a:p>
        </p:txBody>
      </p:sp>
      <p:sp>
        <p:nvSpPr>
          <p:cNvPr id="10" name="Text 7"/>
          <p:cNvSpPr txBox="1"/>
          <p:nvPr/>
        </p:nvSpPr>
        <p:spPr>
          <a:xfrm>
            <a:off x="10058400" y="1965960"/>
            <a:ext cx="1325880" cy="365760"/>
          </a:xfrm>
          <a:prstGeom prst="rect">
            <a:avLst/>
          </a:prstGeom>
          <a:noFill/>
          <a:ln/>
        </p:spPr>
        <p:txBody>
          <a:bodyPr wrap="square" lIns="0" tIns="0" rIns="0" bIns="0" rtlCol="0" anchor="t"/>
          <a:lstStyle/>
          <a:p>
            <a:pPr marL="0" indent="0" algn="r">
              <a:buNone/>
            </a:pPr>
            <a:r>
              <a:rPr lang="en-US" sz="1400" b="1" dirty="0">
                <a:solidFill>
                  <a:schemeClr val="tx2"/>
                </a:solidFill>
              </a:rPr>
              <a:t>85.25%</a:t>
            </a:r>
            <a:endParaRPr lang="en-US" sz="1400" dirty="0"/>
          </a:p>
        </p:txBody>
      </p:sp>
      <p:sp>
        <p:nvSpPr>
          <p:cNvPr id="11" name="Text 8"/>
          <p:cNvSpPr txBox="1"/>
          <p:nvPr/>
        </p:nvSpPr>
        <p:spPr>
          <a:xfrm>
            <a:off x="8275320" y="2377440"/>
            <a:ext cx="1828800" cy="365760"/>
          </a:xfrm>
          <a:prstGeom prst="rect">
            <a:avLst/>
          </a:prstGeom>
          <a:noFill/>
          <a:ln/>
        </p:spPr>
        <p:txBody>
          <a:bodyPr wrap="square" lIns="0" tIns="0" rIns="0" bIns="0" rtlCol="0" anchor="t"/>
          <a:lstStyle/>
          <a:p>
            <a:pPr marL="0" indent="0">
              <a:buNone/>
            </a:pPr>
            <a:r>
              <a:rPr lang="en-US" sz="1400" dirty="0">
                <a:solidFill>
                  <a:schemeClr val="tx1"/>
                </a:solidFill>
              </a:rPr>
              <a:t>Macro F1</a:t>
            </a:r>
            <a:endParaRPr lang="en-US" sz="1400" dirty="0"/>
          </a:p>
        </p:txBody>
      </p:sp>
      <p:sp>
        <p:nvSpPr>
          <p:cNvPr id="12" name="Text 9"/>
          <p:cNvSpPr txBox="1"/>
          <p:nvPr/>
        </p:nvSpPr>
        <p:spPr>
          <a:xfrm>
            <a:off x="10058400" y="2377440"/>
            <a:ext cx="1325880" cy="365760"/>
          </a:xfrm>
          <a:prstGeom prst="rect">
            <a:avLst/>
          </a:prstGeom>
          <a:noFill/>
          <a:ln/>
        </p:spPr>
        <p:txBody>
          <a:bodyPr wrap="square" lIns="0" tIns="0" rIns="0" bIns="0" rtlCol="0" anchor="t"/>
          <a:lstStyle/>
          <a:p>
            <a:pPr marL="0" indent="0" algn="r">
              <a:buNone/>
            </a:pPr>
            <a:r>
              <a:rPr lang="en-US" sz="1400" b="1" dirty="0">
                <a:solidFill>
                  <a:schemeClr val="tx2"/>
                </a:solidFill>
              </a:rPr>
              <a:t>84.51%</a:t>
            </a:r>
            <a:endParaRPr lang="en-US" sz="1400" dirty="0"/>
          </a:p>
        </p:txBody>
      </p:sp>
      <p:sp>
        <p:nvSpPr>
          <p:cNvPr id="13" name="Text 10"/>
          <p:cNvSpPr txBox="1"/>
          <p:nvPr/>
        </p:nvSpPr>
        <p:spPr>
          <a:xfrm>
            <a:off x="8275320" y="2788920"/>
            <a:ext cx="1828800" cy="365760"/>
          </a:xfrm>
          <a:prstGeom prst="rect">
            <a:avLst/>
          </a:prstGeom>
          <a:noFill/>
          <a:ln/>
        </p:spPr>
        <p:txBody>
          <a:bodyPr wrap="square" lIns="0" tIns="0" rIns="0" bIns="0" rtlCol="0" anchor="t"/>
          <a:lstStyle/>
          <a:p>
            <a:pPr marL="0" indent="0">
              <a:buNone/>
            </a:pPr>
            <a:r>
              <a:rPr lang="en-US" sz="1400" dirty="0">
                <a:solidFill>
                  <a:schemeClr val="tx1"/>
                </a:solidFill>
              </a:rPr>
              <a:t>Precision</a:t>
            </a:r>
            <a:endParaRPr lang="en-US" sz="1400" dirty="0"/>
          </a:p>
        </p:txBody>
      </p:sp>
      <p:sp>
        <p:nvSpPr>
          <p:cNvPr id="14" name="Text 11"/>
          <p:cNvSpPr txBox="1"/>
          <p:nvPr/>
        </p:nvSpPr>
        <p:spPr>
          <a:xfrm>
            <a:off x="10058400" y="2788920"/>
            <a:ext cx="1325880" cy="365760"/>
          </a:xfrm>
          <a:prstGeom prst="rect">
            <a:avLst/>
          </a:prstGeom>
          <a:noFill/>
          <a:ln/>
        </p:spPr>
        <p:txBody>
          <a:bodyPr wrap="square" lIns="0" tIns="0" rIns="0" bIns="0" rtlCol="0" anchor="t"/>
          <a:lstStyle/>
          <a:p>
            <a:pPr marL="0" indent="0" algn="r">
              <a:buNone/>
            </a:pPr>
            <a:r>
              <a:rPr lang="en-US" sz="1400" b="1" dirty="0">
                <a:solidFill>
                  <a:schemeClr val="tx2"/>
                </a:solidFill>
              </a:rPr>
              <a:t>83.54%</a:t>
            </a:r>
            <a:endParaRPr lang="en-US" sz="1400" dirty="0"/>
          </a:p>
        </p:txBody>
      </p:sp>
      <p:sp>
        <p:nvSpPr>
          <p:cNvPr id="15" name="Text 12"/>
          <p:cNvSpPr txBox="1"/>
          <p:nvPr/>
        </p:nvSpPr>
        <p:spPr>
          <a:xfrm>
            <a:off x="8275320" y="3200400"/>
            <a:ext cx="1828800" cy="365760"/>
          </a:xfrm>
          <a:prstGeom prst="rect">
            <a:avLst/>
          </a:prstGeom>
          <a:noFill/>
          <a:ln/>
        </p:spPr>
        <p:txBody>
          <a:bodyPr wrap="square" lIns="0" tIns="0" rIns="0" bIns="0" rtlCol="0" anchor="t"/>
          <a:lstStyle/>
          <a:p>
            <a:pPr marL="0" indent="0">
              <a:buNone/>
            </a:pPr>
            <a:r>
              <a:rPr lang="en-US" sz="1400" dirty="0">
                <a:solidFill>
                  <a:schemeClr val="tx1"/>
                </a:solidFill>
              </a:rPr>
              <a:t>Recall</a:t>
            </a:r>
            <a:endParaRPr lang="en-US" sz="1400" dirty="0"/>
          </a:p>
        </p:txBody>
      </p:sp>
      <p:sp>
        <p:nvSpPr>
          <p:cNvPr id="16" name="Text 13"/>
          <p:cNvSpPr txBox="1"/>
          <p:nvPr/>
        </p:nvSpPr>
        <p:spPr>
          <a:xfrm>
            <a:off x="10058400" y="3200400"/>
            <a:ext cx="1325880" cy="365760"/>
          </a:xfrm>
          <a:prstGeom prst="rect">
            <a:avLst/>
          </a:prstGeom>
          <a:noFill/>
          <a:ln/>
        </p:spPr>
        <p:txBody>
          <a:bodyPr wrap="square" lIns="0" tIns="0" rIns="0" bIns="0" rtlCol="0" anchor="t"/>
          <a:lstStyle/>
          <a:p>
            <a:pPr marL="0" indent="0" algn="r">
              <a:buNone/>
            </a:pPr>
            <a:r>
              <a:rPr lang="en-US" sz="1400" b="1" dirty="0">
                <a:solidFill>
                  <a:schemeClr val="tx2"/>
                </a:solidFill>
              </a:rPr>
              <a:t>87.03%</a:t>
            </a:r>
            <a:endParaRPr lang="en-US" sz="1400" dirty="0"/>
          </a:p>
        </p:txBody>
      </p:sp>
      <p:sp>
        <p:nvSpPr>
          <p:cNvPr id="17" name="Text 14"/>
          <p:cNvSpPr txBox="1"/>
          <p:nvPr/>
        </p:nvSpPr>
        <p:spPr>
          <a:xfrm>
            <a:off x="8275320" y="3840480"/>
            <a:ext cx="3108960" cy="365760"/>
          </a:xfrm>
          <a:prstGeom prst="rect">
            <a:avLst/>
          </a:prstGeom>
          <a:noFill/>
          <a:ln/>
        </p:spPr>
        <p:txBody>
          <a:bodyPr wrap="square" lIns="0" tIns="0" rIns="0" bIns="0" rtlCol="0" anchor="t"/>
          <a:lstStyle/>
          <a:p>
            <a:pPr marL="0" indent="0">
              <a:buNone/>
            </a:pPr>
            <a:r>
              <a:rPr lang="en-US" sz="1600" b="1" dirty="0">
                <a:solidFill>
                  <a:schemeClr val="accent1"/>
                </a:solidFill>
              </a:rPr>
              <a:t>Sentiment classification</a:t>
            </a:r>
            <a:endParaRPr lang="en-US" sz="1600" dirty="0"/>
          </a:p>
        </p:txBody>
      </p:sp>
      <p:sp>
        <p:nvSpPr>
          <p:cNvPr id="18" name="Text 15"/>
          <p:cNvSpPr txBox="1"/>
          <p:nvPr/>
        </p:nvSpPr>
        <p:spPr>
          <a:xfrm>
            <a:off x="8275320" y="4297680"/>
            <a:ext cx="1828800" cy="365760"/>
          </a:xfrm>
          <a:prstGeom prst="rect">
            <a:avLst/>
          </a:prstGeom>
          <a:noFill/>
          <a:ln/>
        </p:spPr>
        <p:txBody>
          <a:bodyPr wrap="square" lIns="0" tIns="0" rIns="0" bIns="0" rtlCol="0" anchor="t"/>
          <a:lstStyle/>
          <a:p>
            <a:pPr marL="0" indent="0">
              <a:buNone/>
            </a:pPr>
            <a:r>
              <a:rPr lang="en-US" sz="1400" dirty="0">
                <a:solidFill>
                  <a:schemeClr val="tx1"/>
                </a:solidFill>
              </a:rPr>
              <a:t>Accuracy</a:t>
            </a:r>
            <a:endParaRPr lang="en-US" sz="1400" dirty="0"/>
          </a:p>
        </p:txBody>
      </p:sp>
      <p:sp>
        <p:nvSpPr>
          <p:cNvPr id="19" name="Text 16"/>
          <p:cNvSpPr txBox="1"/>
          <p:nvPr/>
        </p:nvSpPr>
        <p:spPr>
          <a:xfrm>
            <a:off x="10058400" y="4297680"/>
            <a:ext cx="1325880" cy="365760"/>
          </a:xfrm>
          <a:prstGeom prst="rect">
            <a:avLst/>
          </a:prstGeom>
          <a:noFill/>
          <a:ln/>
        </p:spPr>
        <p:txBody>
          <a:bodyPr wrap="square" lIns="0" tIns="0" rIns="0" bIns="0" rtlCol="0" anchor="t"/>
          <a:lstStyle/>
          <a:p>
            <a:pPr marL="0" indent="0" algn="r">
              <a:buNone/>
            </a:pPr>
            <a:r>
              <a:rPr lang="en-US" sz="1400" b="1" dirty="0">
                <a:solidFill>
                  <a:schemeClr val="tx2"/>
                </a:solidFill>
              </a:rPr>
              <a:t>89.04%</a:t>
            </a:r>
            <a:endParaRPr lang="en-US" sz="1400" dirty="0"/>
          </a:p>
        </p:txBody>
      </p:sp>
      <p:sp>
        <p:nvSpPr>
          <p:cNvPr id="20" name="Text 17"/>
          <p:cNvSpPr txBox="1"/>
          <p:nvPr/>
        </p:nvSpPr>
        <p:spPr>
          <a:xfrm>
            <a:off x="8275320" y="4709160"/>
            <a:ext cx="1828800" cy="365760"/>
          </a:xfrm>
          <a:prstGeom prst="rect">
            <a:avLst/>
          </a:prstGeom>
          <a:noFill/>
          <a:ln/>
        </p:spPr>
        <p:txBody>
          <a:bodyPr wrap="square" lIns="0" tIns="0" rIns="0" bIns="0" rtlCol="0" anchor="t"/>
          <a:lstStyle/>
          <a:p>
            <a:pPr marL="0" indent="0">
              <a:buNone/>
            </a:pPr>
            <a:r>
              <a:rPr lang="en-US" sz="1400" dirty="0">
                <a:solidFill>
                  <a:schemeClr val="tx1"/>
                </a:solidFill>
              </a:rPr>
              <a:t>Macro F1</a:t>
            </a:r>
            <a:endParaRPr lang="en-US" sz="1400" dirty="0"/>
          </a:p>
        </p:txBody>
      </p:sp>
      <p:sp>
        <p:nvSpPr>
          <p:cNvPr id="21" name="Text 18"/>
          <p:cNvSpPr txBox="1"/>
          <p:nvPr/>
        </p:nvSpPr>
        <p:spPr>
          <a:xfrm>
            <a:off x="10058400" y="4709160"/>
            <a:ext cx="1325880" cy="365760"/>
          </a:xfrm>
          <a:prstGeom prst="rect">
            <a:avLst/>
          </a:prstGeom>
          <a:noFill/>
          <a:ln/>
        </p:spPr>
        <p:txBody>
          <a:bodyPr wrap="square" lIns="0" tIns="0" rIns="0" bIns="0" rtlCol="0" anchor="t"/>
          <a:lstStyle/>
          <a:p>
            <a:pPr marL="0" indent="0" algn="r">
              <a:buNone/>
            </a:pPr>
            <a:r>
              <a:rPr lang="en-US" sz="1400" b="1" dirty="0">
                <a:solidFill>
                  <a:schemeClr val="tx2"/>
                </a:solidFill>
              </a:rPr>
              <a:t>69.43%</a:t>
            </a:r>
            <a:endParaRPr lang="en-US" sz="1400" dirty="0"/>
          </a:p>
        </p:txBody>
      </p:sp>
      <p:sp>
        <p:nvSpPr>
          <p:cNvPr id="22" name="Text 19"/>
          <p:cNvSpPr txBox="1"/>
          <p:nvPr/>
        </p:nvSpPr>
        <p:spPr>
          <a:xfrm>
            <a:off x="8275320" y="5120640"/>
            <a:ext cx="1828800" cy="365760"/>
          </a:xfrm>
          <a:prstGeom prst="rect">
            <a:avLst/>
          </a:prstGeom>
          <a:noFill/>
          <a:ln/>
        </p:spPr>
        <p:txBody>
          <a:bodyPr wrap="square" lIns="0" tIns="0" rIns="0" bIns="0" rtlCol="0" anchor="t"/>
          <a:lstStyle/>
          <a:p>
            <a:pPr marL="0" indent="0">
              <a:buNone/>
            </a:pPr>
            <a:r>
              <a:rPr lang="en-US" sz="1400" dirty="0">
                <a:solidFill>
                  <a:schemeClr val="tx1"/>
                </a:solidFill>
              </a:rPr>
              <a:t>Weighted F1</a:t>
            </a:r>
            <a:endParaRPr lang="en-US" sz="1400" dirty="0"/>
          </a:p>
        </p:txBody>
      </p:sp>
      <p:sp>
        <p:nvSpPr>
          <p:cNvPr id="23" name="Text 20"/>
          <p:cNvSpPr txBox="1"/>
          <p:nvPr/>
        </p:nvSpPr>
        <p:spPr>
          <a:xfrm>
            <a:off x="10058400" y="5120640"/>
            <a:ext cx="1325880" cy="365760"/>
          </a:xfrm>
          <a:prstGeom prst="rect">
            <a:avLst/>
          </a:prstGeom>
          <a:noFill/>
          <a:ln/>
        </p:spPr>
        <p:txBody>
          <a:bodyPr wrap="square" lIns="0" tIns="0" rIns="0" bIns="0" rtlCol="0" anchor="t"/>
          <a:lstStyle/>
          <a:p>
            <a:pPr marL="0" indent="0" algn="r">
              <a:buNone/>
            </a:pPr>
            <a:r>
              <a:rPr lang="en-US" sz="1400" b="1" dirty="0">
                <a:solidFill>
                  <a:schemeClr val="tx2"/>
                </a:solidFill>
              </a:rPr>
              <a:t>89.81%</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7480"/>
                </a:solidFill>
              </a:defRPr>
            </a:lvl1pPr>
          </a:lstStyle>
          <a:p>
            <a:pPr algn="r"/>
            <a:fld id="{F7021451-1387-4CA6-816F-3879F97B5CBC}" type="slidenum">
              <a:rPr lang="en-US" b="0"/>
              <a:t>17</a:t>
            </a:fld>
            <a:endParaRPr lang="en-US"/>
          </a:p>
        </p:txBody>
      </p:sp>
    </p:spTree>
  </p:cSld>
  <p:clrMapOvr>
    <a:masterClrMapping/>
  </p:clrMapOvr>
</p:sld>
</file>

<file path=ppt/theme/theme1.xml><?xml version="1.0" encoding="utf-8"?>
<a:theme xmlns:a="http://schemas.openxmlformats.org/drawingml/2006/main" name="ABSA Hotel">
  <a:themeElements>
    <a:clrScheme name="ABSA Hotel">
      <a:dk1>
        <a:srgbClr val="1B2A33"/>
      </a:dk1>
      <a:lt1>
        <a:srgbClr val="FFFFFF"/>
      </a:lt1>
      <a:dk2>
        <a:srgbClr val="0B3C49"/>
      </a:dk2>
      <a:lt2>
        <a:srgbClr val="EEF4F5"/>
      </a:lt2>
      <a:accent1>
        <a:srgbClr val="0B7A75"/>
      </a:accent1>
      <a:accent2>
        <a:srgbClr val="F2A33A"/>
      </a:accent2>
      <a:accent3>
        <a:srgbClr val="238A5E"/>
      </a:accent3>
      <a:accent4>
        <a:srgbClr val="C23B3B"/>
      </a:accent4>
      <a:accent5>
        <a:srgbClr val="5F7480"/>
      </a:accent5>
      <a:accent6>
        <a:srgbClr val="8FC1C0"/>
      </a:accent6>
      <a:hlink>
        <a:srgbClr val="0B7A75"/>
      </a:hlink>
      <a:folHlink>
        <a:srgbClr val="5F7480"/>
      </a:folHlink>
    </a:clrScheme>
    <a:fontScheme name="ABSA Hote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1774</Words>
  <Application>Microsoft Office PowerPoint</Application>
  <PresentationFormat>Widescreen</PresentationFormat>
  <Paragraphs>322</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ABSA Hotel</vt:lpstr>
      <vt:lpstr>Aspect Based Sentiment Analysis on Hotel Reviews</vt:lpstr>
      <vt:lpstr>Introduction</vt:lpstr>
      <vt:lpstr>Problem Statement</vt:lpstr>
      <vt:lpstr>Objectives</vt:lpstr>
      <vt:lpstr>Dataset &amp; Exploratory Analysis</vt:lpstr>
      <vt:lpstr>Methodology / System Architecture</vt:lpstr>
      <vt:lpstr>Text Preprocessing &amp; TF-IDF</vt:lpstr>
      <vt:lpstr>Aspect Detection</vt:lpstr>
      <vt:lpstr>Sentiment Classification</vt:lpstr>
      <vt:lpstr>Neutral Threshold &amp; Aspect Sentiment</vt:lpstr>
      <vt:lpstr>Final ABSA Demonstration</vt:lpstr>
      <vt:lpstr>Results &amp; Discussion</vt:lpstr>
      <vt:lpstr>Limitations &amp; Future Scope</vt:lpstr>
      <vt:lpstr>Conclusion</vt:lpstr>
      <vt:lpstr>Backup: Additional EDA</vt:lpstr>
      <vt:lpstr>Backup: Sentiment Confusion Matrices</vt:lpstr>
      <vt:lpstr>Backup: Overall Final Model Performance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Aspect Based Sentiment Analysis on Hotel Reviews</dc:title>
  <dc:subject>PptxGenJS Presentation</dc:subject>
  <dc:creator>Kushita K, Anagha</dc:creator>
  <cp:lastModifiedBy>kushitha k</cp:lastModifiedBy>
  <cp:revision>2</cp:revision>
  <dcterms:created xsi:type="dcterms:W3CDTF">2026-10-08T06:00:30Z</dcterms:created>
  <dcterms:modified xsi:type="dcterms:W3CDTF">2026-10-08T06:16:55Z</dcterms:modified>
</cp:coreProperties>
</file>